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63449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Open by connecting streaming to familiar examples: food-delivery tracking, banking fraud alerts, and live location maps. Explain that streaming is continuous event processing, not just faster batch processing. Introduce the session goal: understand the concepts, architecture, demo flow, and operational monitoring of streaming systems.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Use this comparison to anchor the idea. Batch processing is scheduled and works on bounded data. Streaming processing works on an unbounded event sequence and produces results continuously. Stress that streaming does not replace batch; modern data engineering solutions often use both patterns.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Tell the food-delivery story from the customer perspective. The app must confirm orders immediately, display live status, and alert operations when the order is delayed. An end-of-day batch cannot support a live tracking experience. Streaming processes each event while the order is still in progress.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Explain architecture in order. Producers create events. The broker retains and transports them. The stream processor applies validation, filtering, aggregation, joins, windows, and alert logic. Sinks store or publish the results. Consumers are dashboards, customers, operations teams, or downstream applications.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Explain event time versus processing time with a driver GPS example. Explain windows as time buckets for calculations. Explain watermarks as a boundary for how late data can be. Explain checkpoints as saved progress and state. Finish with delivery guarantees and remind learners that exactly-once requires support across the complete pipeline.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Walk through the socket word count and file-streaming demos. readStream defines the source. Standard DataFrame operations express the transformation logic. writeStream defines how output is continuously written. For file streaming, explain that the schema must be defined and that the system should receive new files rather than repeatedly modifying the same file.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Discuss the operational side of streaming. The job must keep up with the input. Explain input rate, processing rate, consumer lag, latency, and failed records. If lag grows, the system is slower than the incoming data. Fixes can include scaling, simplifying logic, filtering earlier, partitioning correctly, and handling malformed records separately.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Use this slide to generalize beyond food delivery. Ask trainees to identify events for each domain: card transaction, stock update, machine temperature, GPS location, patient device reading, and security log. Emphasize that the architecture is similar even when the business domain changes.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Summarize the production mindset. Every event should have a schema and unique ID. Sinks should be idempotent where possible. Checkpoints and watermarks are not optional in stateful streaming. Review troubleshooting: no output often means no new input; duplicates can happen with retries; growing lag means processing cannot keep up.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Use this as the teaching flow. Do not begin with code. First build intuition, then compare batch and streaming, then use the food-delivery example, then introduce the architecture. After learners understand the story, teach windows, watermarks and checkpoints. Finish with PySpark demos, monitoring metrics, troubleshooting, exercises and quiz.</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714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426"/>
          </a:solidFill>
          <a:ln w="12700">
            <a:solidFill>
              <a:srgbClr val="071426">
                <a:alpha val="0"/>
              </a:srgbClr>
            </a:solidFill>
            <a:prstDash val="solid"/>
          </a:ln>
        </p:spPr>
      </p:sp>
      <p:sp>
        <p:nvSpPr>
          <p:cNvPr id="3" name="Shape 1"/>
          <p:cNvSpPr/>
          <p:nvPr/>
        </p:nvSpPr>
        <p:spPr>
          <a:xfrm>
            <a:off x="457200" y="6510528"/>
            <a:ext cx="11274552" cy="0"/>
          </a:xfrm>
          <a:prstGeom prst="line">
            <a:avLst/>
          </a:prstGeom>
          <a:noFill/>
          <a:ln w="9525">
            <a:solidFill>
              <a:srgbClr val="22D3EE">
                <a:alpha val="40000"/>
              </a:srgbClr>
            </a:solidFill>
            <a:prstDash val="solid"/>
          </a:ln>
        </p:spPr>
      </p:sp>
      <p:sp>
        <p:nvSpPr>
          <p:cNvPr id="4" name="Text 2"/>
          <p:cNvSpPr/>
          <p:nvPr/>
        </p:nvSpPr>
        <p:spPr>
          <a:xfrm>
            <a:off x="493776" y="6565392"/>
            <a:ext cx="3108960" cy="137160"/>
          </a:xfrm>
          <a:prstGeom prst="rect">
            <a:avLst/>
          </a:prstGeom>
          <a:noFill/>
          <a:ln/>
        </p:spPr>
        <p:txBody>
          <a:bodyPr wrap="square" lIns="0" tIns="0" rIns="0" bIns="0" rtlCol="0" anchor="ctr"/>
          <a:lstStyle/>
          <a:p>
            <a:pPr marL="0" indent="0">
              <a:buNone/>
            </a:pPr>
            <a:r>
              <a:rPr lang="en-US" sz="650" dirty="0">
                <a:solidFill>
                  <a:srgbClr val="7DD3FC"/>
                </a:solidFill>
                <a:latin typeface="Aptos" pitchFamily="34" charset="0"/>
                <a:ea typeface="Aptos" pitchFamily="34" charset="-122"/>
                <a:cs typeface="Aptos" pitchFamily="34" charset="-120"/>
              </a:rPr>
              <a:t>Introduction to Streaming</a:t>
            </a:r>
            <a:endParaRPr lang="en-US" sz="650" dirty="0"/>
          </a:p>
        </p:txBody>
      </p:sp>
      <p:sp>
        <p:nvSpPr>
          <p:cNvPr id="25" name="Slide Number Placeholder 0"/>
          <p:cNvSpPr>
            <a:spLocks noGrp="1"/>
          </p:cNvSpPr>
          <p:nvPr>
            <p:ph type="sldNum" sz="quarter" idx="4294967295"/>
          </p:nvPr>
        </p:nvSpPr>
        <p:spPr>
          <a:xfrm>
            <a:off x="11539728"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94A3B8"/>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39728"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94A3B8"/>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38928" cy="6858000"/>
          </a:xfrm>
          <a:prstGeom prst="rect">
            <a:avLst/>
          </a:prstGeom>
          <a:solidFill>
            <a:srgbClr val="071426"/>
          </a:solidFill>
          <a:ln w="12700">
            <a:solidFill>
              <a:srgbClr val="333333">
                <a:alpha val="0"/>
              </a:srgbClr>
            </a:solidFill>
            <a:prstDash val="solid"/>
          </a:ln>
        </p:spPr>
      </p:sp>
      <p:pic>
        <p:nvPicPr>
          <p:cNvPr id="3" name="Image 0" descr="/mnt/data/a_detailed_cinematic_futuristic_cityscape_technol.png"/>
          <p:cNvPicPr>
            <a:picLocks noChangeAspect="1"/>
          </p:cNvPicPr>
          <p:nvPr/>
        </p:nvPicPr>
        <p:blipFill>
          <a:blip r:embed="rId3"/>
          <a:srcRect l="21061" r="21061"/>
          <a:stretch/>
        </p:blipFill>
        <p:spPr>
          <a:xfrm>
            <a:off x="5138928" y="0"/>
            <a:ext cx="7052767" cy="6858000"/>
          </a:xfrm>
          <a:prstGeom prst="rect">
            <a:avLst/>
          </a:prstGeom>
        </p:spPr>
      </p:pic>
      <p:sp>
        <p:nvSpPr>
          <p:cNvPr id="4" name="Shape 1"/>
          <p:cNvSpPr/>
          <p:nvPr/>
        </p:nvSpPr>
        <p:spPr>
          <a:xfrm>
            <a:off x="713232" y="713232"/>
            <a:ext cx="2514600" cy="292608"/>
          </a:xfrm>
          <a:prstGeom prst="roundRect">
            <a:avLst>
              <a:gd name="adj" fmla="val 25000"/>
            </a:avLst>
          </a:prstGeom>
          <a:solidFill>
            <a:srgbClr val="22D3EE">
              <a:alpha val="12000"/>
            </a:srgbClr>
          </a:solidFill>
          <a:ln w="10160">
            <a:solidFill>
              <a:srgbClr val="22D3EE">
                <a:alpha val="65000"/>
              </a:srgbClr>
            </a:solidFill>
            <a:prstDash val="solid"/>
          </a:ln>
        </p:spPr>
      </p:sp>
      <p:sp>
        <p:nvSpPr>
          <p:cNvPr id="5" name="Text 2"/>
          <p:cNvSpPr/>
          <p:nvPr/>
        </p:nvSpPr>
        <p:spPr>
          <a:xfrm>
            <a:off x="786384" y="786384"/>
            <a:ext cx="2368296" cy="109728"/>
          </a:xfrm>
          <a:prstGeom prst="rect">
            <a:avLst/>
          </a:prstGeom>
          <a:noFill/>
          <a:ln/>
        </p:spPr>
        <p:txBody>
          <a:bodyPr wrap="square" lIns="0" tIns="0" rIns="0" bIns="0" rtlCol="0" anchor="ctr"/>
          <a:lstStyle/>
          <a:p>
            <a:pPr marL="0" indent="0" algn="ctr">
              <a:buNone/>
            </a:pPr>
            <a:r>
              <a:rPr lang="en-US" sz="750" b="1" dirty="0">
                <a:solidFill>
                  <a:srgbClr val="22D3EE"/>
                </a:solidFill>
              </a:rPr>
              <a:t>DATA ENGINEERING • STREAMING</a:t>
            </a:r>
            <a:endParaRPr lang="en-US" sz="750" dirty="0"/>
          </a:p>
        </p:txBody>
      </p:sp>
      <p:sp>
        <p:nvSpPr>
          <p:cNvPr id="6" name="Text 3"/>
          <p:cNvSpPr/>
          <p:nvPr/>
        </p:nvSpPr>
        <p:spPr>
          <a:xfrm>
            <a:off x="713232" y="1170432"/>
            <a:ext cx="4251960" cy="1737360"/>
          </a:xfrm>
          <a:prstGeom prst="rect">
            <a:avLst/>
          </a:prstGeom>
          <a:noFill/>
          <a:ln/>
        </p:spPr>
        <p:txBody>
          <a:bodyPr wrap="square" lIns="0" tIns="0" rIns="0" bIns="0" rtlCol="0" anchor="ctr">
            <a:normAutofit/>
          </a:bodyPr>
          <a:lstStyle/>
          <a:p>
            <a:pPr marL="0" indent="0">
              <a:buNone/>
            </a:pPr>
            <a:r>
              <a:rPr lang="en-US" sz="4100" b="1" dirty="0">
                <a:solidFill>
                  <a:srgbClr val="FFFFFF"/>
                </a:solidFill>
                <a:latin typeface="Aptos Display" pitchFamily="34" charset="0"/>
                <a:ea typeface="Aptos Display" pitchFamily="34" charset="-122"/>
                <a:cs typeface="Aptos Display" pitchFamily="34" charset="-120"/>
              </a:rPr>
              <a:t>Introduction</a:t>
            </a:r>
            <a:endParaRPr lang="en-US" sz="4100" dirty="0"/>
          </a:p>
          <a:p>
            <a:pPr marL="0" indent="0">
              <a:buNone/>
            </a:pPr>
            <a:r>
              <a:rPr lang="en-US" sz="4100" b="1" dirty="0">
                <a:solidFill>
                  <a:srgbClr val="FFFFFF"/>
                </a:solidFill>
                <a:latin typeface="Aptos Display" pitchFamily="34" charset="0"/>
                <a:ea typeface="Aptos Display" pitchFamily="34" charset="-122"/>
                <a:cs typeface="Aptos Display" pitchFamily="34" charset="-120"/>
              </a:rPr>
              <a:t>to Streaming</a:t>
            </a:r>
            <a:endParaRPr lang="en-US" sz="4100" dirty="0"/>
          </a:p>
        </p:txBody>
      </p:sp>
      <p:sp>
        <p:nvSpPr>
          <p:cNvPr id="7" name="Text 4"/>
          <p:cNvSpPr/>
          <p:nvPr/>
        </p:nvSpPr>
        <p:spPr>
          <a:xfrm>
            <a:off x="758952" y="3246120"/>
            <a:ext cx="3977640" cy="621792"/>
          </a:xfrm>
          <a:prstGeom prst="rect">
            <a:avLst/>
          </a:prstGeom>
          <a:noFill/>
          <a:ln/>
        </p:spPr>
        <p:txBody>
          <a:bodyPr wrap="square" lIns="254" tIns="254" rIns="254" bIns="254" rtlCol="0" anchor="ctr">
            <a:normAutofit/>
          </a:bodyPr>
          <a:lstStyle/>
          <a:p>
            <a:pPr marL="0" indent="0">
              <a:buNone/>
            </a:pPr>
            <a:r>
              <a:rPr lang="en-US" sz="1400" dirty="0">
                <a:solidFill>
                  <a:srgbClr val="DDEBFF"/>
                </a:solidFill>
              </a:rPr>
              <a:t>Real-time events, live dashboards, low-latency decisions, and PySpark Structured Streaming basics.</a:t>
            </a:r>
            <a:endParaRPr lang="en-US" sz="1400" dirty="0"/>
          </a:p>
        </p:txBody>
      </p:sp>
      <p:sp>
        <p:nvSpPr>
          <p:cNvPr id="8" name="Shape 5"/>
          <p:cNvSpPr/>
          <p:nvPr/>
        </p:nvSpPr>
        <p:spPr>
          <a:xfrm>
            <a:off x="749808" y="4370832"/>
            <a:ext cx="1234440" cy="749808"/>
          </a:xfrm>
          <a:prstGeom prst="roundRect">
            <a:avLst>
              <a:gd name="adj" fmla="val 8537"/>
            </a:avLst>
          </a:prstGeom>
          <a:solidFill>
            <a:srgbClr val="132B49"/>
          </a:solidFill>
          <a:ln w="12700">
            <a:solidFill>
              <a:srgbClr val="24476E"/>
            </a:solidFill>
            <a:prstDash val="solid"/>
          </a:ln>
        </p:spPr>
      </p:sp>
      <p:sp>
        <p:nvSpPr>
          <p:cNvPr id="9" name="Text 6"/>
          <p:cNvSpPr/>
          <p:nvPr/>
        </p:nvSpPr>
        <p:spPr>
          <a:xfrm>
            <a:off x="841248" y="4480560"/>
            <a:ext cx="1051560" cy="237744"/>
          </a:xfrm>
          <a:prstGeom prst="rect">
            <a:avLst/>
          </a:prstGeom>
          <a:noFill/>
          <a:ln/>
        </p:spPr>
        <p:txBody>
          <a:bodyPr wrap="square" lIns="0" tIns="0" rIns="0" bIns="0" rtlCol="0" anchor="ctr"/>
          <a:lstStyle/>
          <a:p>
            <a:pPr marL="0" indent="0" algn="ctr">
              <a:buNone/>
            </a:pPr>
            <a:r>
              <a:rPr lang="en-US" sz="1850" b="1" dirty="0">
                <a:solidFill>
                  <a:srgbClr val="34D399"/>
                </a:solidFill>
              </a:rPr>
              <a:t>LIVE</a:t>
            </a:r>
            <a:endParaRPr lang="en-US" sz="1850" dirty="0"/>
          </a:p>
        </p:txBody>
      </p:sp>
      <p:sp>
        <p:nvSpPr>
          <p:cNvPr id="10" name="Text 7"/>
          <p:cNvSpPr/>
          <p:nvPr/>
        </p:nvSpPr>
        <p:spPr>
          <a:xfrm>
            <a:off x="822960" y="4800600"/>
            <a:ext cx="1088136" cy="109728"/>
          </a:xfrm>
          <a:prstGeom prst="rect">
            <a:avLst/>
          </a:prstGeom>
          <a:noFill/>
          <a:ln/>
        </p:spPr>
        <p:txBody>
          <a:bodyPr wrap="square" lIns="0" tIns="0" rIns="0" bIns="0" rtlCol="0" anchor="ctr"/>
          <a:lstStyle/>
          <a:p>
            <a:pPr marL="0" indent="0" algn="ctr">
              <a:buNone/>
            </a:pPr>
            <a:r>
              <a:rPr lang="en-US" sz="700" dirty="0">
                <a:solidFill>
                  <a:srgbClr val="94A3B8"/>
                </a:solidFill>
              </a:rPr>
              <a:t>answers now</a:t>
            </a:r>
            <a:endParaRPr lang="en-US" sz="700" dirty="0"/>
          </a:p>
        </p:txBody>
      </p:sp>
      <p:sp>
        <p:nvSpPr>
          <p:cNvPr id="11" name="Shape 8"/>
          <p:cNvSpPr/>
          <p:nvPr/>
        </p:nvSpPr>
        <p:spPr>
          <a:xfrm>
            <a:off x="2121408" y="4370832"/>
            <a:ext cx="1234440" cy="749808"/>
          </a:xfrm>
          <a:prstGeom prst="roundRect">
            <a:avLst>
              <a:gd name="adj" fmla="val 8537"/>
            </a:avLst>
          </a:prstGeom>
          <a:solidFill>
            <a:srgbClr val="132B49"/>
          </a:solidFill>
          <a:ln w="12700">
            <a:solidFill>
              <a:srgbClr val="24476E"/>
            </a:solidFill>
            <a:prstDash val="solid"/>
          </a:ln>
        </p:spPr>
      </p:sp>
      <p:sp>
        <p:nvSpPr>
          <p:cNvPr id="12" name="Text 9"/>
          <p:cNvSpPr/>
          <p:nvPr/>
        </p:nvSpPr>
        <p:spPr>
          <a:xfrm>
            <a:off x="2212848" y="4480560"/>
            <a:ext cx="1051560" cy="237744"/>
          </a:xfrm>
          <a:prstGeom prst="rect">
            <a:avLst/>
          </a:prstGeom>
          <a:noFill/>
          <a:ln/>
        </p:spPr>
        <p:txBody>
          <a:bodyPr wrap="square" lIns="0" tIns="0" rIns="0" bIns="0" rtlCol="0" anchor="ctr"/>
          <a:lstStyle/>
          <a:p>
            <a:pPr marL="0" indent="0" algn="ctr">
              <a:buNone/>
            </a:pPr>
            <a:r>
              <a:rPr lang="en-US" sz="1850" b="1" dirty="0">
                <a:solidFill>
                  <a:srgbClr val="22D3EE"/>
                </a:solidFill>
              </a:rPr>
              <a:t>∞</a:t>
            </a:r>
            <a:endParaRPr lang="en-US" sz="1850" dirty="0"/>
          </a:p>
        </p:txBody>
      </p:sp>
      <p:sp>
        <p:nvSpPr>
          <p:cNvPr id="13" name="Text 10"/>
          <p:cNvSpPr/>
          <p:nvPr/>
        </p:nvSpPr>
        <p:spPr>
          <a:xfrm>
            <a:off x="2194560" y="4800600"/>
            <a:ext cx="1088136" cy="109728"/>
          </a:xfrm>
          <a:prstGeom prst="rect">
            <a:avLst/>
          </a:prstGeom>
          <a:noFill/>
          <a:ln/>
        </p:spPr>
        <p:txBody>
          <a:bodyPr wrap="square" lIns="0" tIns="0" rIns="0" bIns="0" rtlCol="0" anchor="ctr"/>
          <a:lstStyle/>
          <a:p>
            <a:pPr marL="0" indent="0" algn="ctr">
              <a:buNone/>
            </a:pPr>
            <a:r>
              <a:rPr lang="en-US" sz="700" dirty="0">
                <a:solidFill>
                  <a:srgbClr val="94A3B8"/>
                </a:solidFill>
              </a:rPr>
              <a:t>events</a:t>
            </a:r>
            <a:endParaRPr lang="en-US" sz="700" dirty="0"/>
          </a:p>
        </p:txBody>
      </p:sp>
      <p:sp>
        <p:nvSpPr>
          <p:cNvPr id="14" name="Shape 11"/>
          <p:cNvSpPr/>
          <p:nvPr/>
        </p:nvSpPr>
        <p:spPr>
          <a:xfrm>
            <a:off x="3493008" y="4370832"/>
            <a:ext cx="1234440" cy="749808"/>
          </a:xfrm>
          <a:prstGeom prst="roundRect">
            <a:avLst>
              <a:gd name="adj" fmla="val 8537"/>
            </a:avLst>
          </a:prstGeom>
          <a:solidFill>
            <a:srgbClr val="132B49"/>
          </a:solidFill>
          <a:ln w="12700">
            <a:solidFill>
              <a:srgbClr val="24476E"/>
            </a:solidFill>
            <a:prstDash val="solid"/>
          </a:ln>
        </p:spPr>
      </p:sp>
      <p:sp>
        <p:nvSpPr>
          <p:cNvPr id="15" name="Text 12"/>
          <p:cNvSpPr/>
          <p:nvPr/>
        </p:nvSpPr>
        <p:spPr>
          <a:xfrm>
            <a:off x="3584448" y="4480560"/>
            <a:ext cx="1051560" cy="237744"/>
          </a:xfrm>
          <a:prstGeom prst="rect">
            <a:avLst/>
          </a:prstGeom>
          <a:noFill/>
          <a:ln/>
        </p:spPr>
        <p:txBody>
          <a:bodyPr wrap="square" lIns="0" tIns="0" rIns="0" bIns="0" rtlCol="0" anchor="ctr"/>
          <a:lstStyle/>
          <a:p>
            <a:pPr marL="0" indent="0" algn="ctr">
              <a:buNone/>
            </a:pPr>
            <a:r>
              <a:rPr lang="en-US" sz="1850" b="1" dirty="0">
                <a:solidFill>
                  <a:srgbClr val="A78BFA"/>
                </a:solidFill>
              </a:rPr>
              <a:t>sec</a:t>
            </a:r>
            <a:endParaRPr lang="en-US" sz="1850" dirty="0"/>
          </a:p>
        </p:txBody>
      </p:sp>
      <p:sp>
        <p:nvSpPr>
          <p:cNvPr id="16" name="Text 13"/>
          <p:cNvSpPr/>
          <p:nvPr/>
        </p:nvSpPr>
        <p:spPr>
          <a:xfrm>
            <a:off x="3566160" y="4800600"/>
            <a:ext cx="1088136" cy="109728"/>
          </a:xfrm>
          <a:prstGeom prst="rect">
            <a:avLst/>
          </a:prstGeom>
          <a:noFill/>
          <a:ln/>
        </p:spPr>
        <p:txBody>
          <a:bodyPr wrap="square" lIns="0" tIns="0" rIns="0" bIns="0" rtlCol="0" anchor="ctr"/>
          <a:lstStyle/>
          <a:p>
            <a:pPr marL="0" indent="0" algn="ctr">
              <a:buNone/>
            </a:pPr>
            <a:r>
              <a:rPr lang="en-US" sz="700" dirty="0">
                <a:solidFill>
                  <a:srgbClr val="94A3B8"/>
                </a:solidFill>
              </a:rPr>
              <a:t>latency</a:t>
            </a:r>
            <a:endParaRPr lang="en-US" sz="700" dirty="0"/>
          </a:p>
        </p:txBody>
      </p:sp>
      <p:sp>
        <p:nvSpPr>
          <p:cNvPr id="25" name="Slide Number Placeholder 0"/>
          <p:cNvSpPr>
            <a:spLocks noGrp="1"/>
          </p:cNvSpPr>
          <p:nvPr>
            <p:ph type="sldNum" sz="quarter" idx="4294967295"/>
          </p:nvPr>
        </p:nvSpPr>
        <p:spPr>
          <a:xfrm>
            <a:off x="11539728"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94A3B8"/>
                </a:solidFill>
                <a:latin typeface="Aptos"/>
                <a:ea typeface="Aptos"/>
                <a:cs typeface="Aptos"/>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4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426"/>
          </a:solidFill>
          <a:ln w="12700">
            <a:solidFill>
              <a:srgbClr val="071426">
                <a:alpha val="0"/>
              </a:srgbClr>
            </a:solidFill>
            <a:prstDash val="solid"/>
          </a:ln>
        </p:spPr>
      </p:sp>
      <p:sp>
        <p:nvSpPr>
          <p:cNvPr id="3" name="Text 1"/>
          <p:cNvSpPr/>
          <p:nvPr/>
        </p:nvSpPr>
        <p:spPr>
          <a:xfrm>
            <a:off x="594360" y="292608"/>
            <a:ext cx="10789920" cy="384048"/>
          </a:xfrm>
          <a:prstGeom prst="rect">
            <a:avLst/>
          </a:prstGeom>
          <a:noFill/>
          <a:ln/>
        </p:spPr>
        <p:txBody>
          <a:bodyPr wrap="square" lIns="0" tIns="0" rIns="0" bIns="0" rtlCol="0" anchor="ctr"/>
          <a:lstStyle/>
          <a:p>
            <a:pPr marL="0" indent="0">
              <a:buNone/>
            </a:pPr>
            <a:r>
              <a:rPr lang="en-US" sz="2750" b="1" dirty="0">
                <a:solidFill>
                  <a:srgbClr val="FFFFFF"/>
                </a:solidFill>
                <a:latin typeface="Aptos Display" pitchFamily="34" charset="0"/>
                <a:ea typeface="Aptos Display" pitchFamily="34" charset="-122"/>
                <a:cs typeface="Aptos Display" pitchFamily="34" charset="-120"/>
              </a:rPr>
              <a:t>Batch vs Streaming</a:t>
            </a:r>
            <a:endParaRPr lang="en-US" sz="2750" dirty="0"/>
          </a:p>
        </p:txBody>
      </p:sp>
      <p:sp>
        <p:nvSpPr>
          <p:cNvPr id="4" name="Text 2"/>
          <p:cNvSpPr/>
          <p:nvPr/>
        </p:nvSpPr>
        <p:spPr>
          <a:xfrm>
            <a:off x="612648" y="768096"/>
            <a:ext cx="10424160" cy="219456"/>
          </a:xfrm>
          <a:prstGeom prst="rect">
            <a:avLst/>
          </a:prstGeom>
          <a:noFill/>
          <a:ln/>
        </p:spPr>
        <p:txBody>
          <a:bodyPr wrap="square" lIns="0" tIns="0" rIns="0" bIns="0" rtlCol="0" anchor="ctr"/>
          <a:lstStyle/>
          <a:p>
            <a:pPr marL="0" indent="0">
              <a:buNone/>
            </a:pPr>
            <a:r>
              <a:rPr lang="en-US" sz="1100" dirty="0">
                <a:solidFill>
                  <a:srgbClr val="94A3B8"/>
                </a:solidFill>
                <a:latin typeface="Aptos" pitchFamily="34" charset="0"/>
                <a:ea typeface="Aptos" pitchFamily="34" charset="-122"/>
                <a:cs typeface="Aptos" pitchFamily="34" charset="-120"/>
              </a:rPr>
              <a:t>Batch answers “what happened earlier?” Streaming answers “what is happening now?”</a:t>
            </a:r>
            <a:endParaRPr lang="en-US" sz="1100" dirty="0"/>
          </a:p>
        </p:txBody>
      </p:sp>
      <p:sp>
        <p:nvSpPr>
          <p:cNvPr id="5" name="Shape 3"/>
          <p:cNvSpPr/>
          <p:nvPr/>
        </p:nvSpPr>
        <p:spPr>
          <a:xfrm>
            <a:off x="777240" y="1325880"/>
            <a:ext cx="5074920" cy="1828800"/>
          </a:xfrm>
          <a:prstGeom prst="roundRect">
            <a:avLst>
              <a:gd name="adj" fmla="val 4000"/>
            </a:avLst>
          </a:prstGeom>
          <a:solidFill>
            <a:srgbClr val="0F2138"/>
          </a:solidFill>
          <a:ln w="12700">
            <a:solidFill>
              <a:srgbClr val="224668"/>
            </a:solidFill>
            <a:prstDash val="solid"/>
          </a:ln>
        </p:spPr>
      </p:sp>
      <p:sp>
        <p:nvSpPr>
          <p:cNvPr id="6" name="Shape 4"/>
          <p:cNvSpPr/>
          <p:nvPr/>
        </p:nvSpPr>
        <p:spPr>
          <a:xfrm>
            <a:off x="777240" y="1325880"/>
            <a:ext cx="54864" cy="1828800"/>
          </a:xfrm>
          <a:prstGeom prst="rect">
            <a:avLst/>
          </a:prstGeom>
          <a:solidFill>
            <a:srgbClr val="FB923C"/>
          </a:solidFill>
          <a:ln w="12700">
            <a:solidFill>
              <a:srgbClr val="FB923C">
                <a:alpha val="0"/>
              </a:srgbClr>
            </a:solidFill>
            <a:prstDash val="solid"/>
          </a:ln>
        </p:spPr>
      </p:sp>
      <p:sp>
        <p:nvSpPr>
          <p:cNvPr id="7" name="Text 5"/>
          <p:cNvSpPr/>
          <p:nvPr/>
        </p:nvSpPr>
        <p:spPr>
          <a:xfrm>
            <a:off x="941832" y="1453896"/>
            <a:ext cx="4745736" cy="201168"/>
          </a:xfrm>
          <a:prstGeom prst="rect">
            <a:avLst/>
          </a:prstGeom>
          <a:noFill/>
          <a:ln/>
        </p:spPr>
        <p:txBody>
          <a:bodyPr wrap="square" lIns="0" tIns="0" rIns="0" bIns="0" rtlCol="0" anchor="ctr"/>
          <a:lstStyle/>
          <a:p>
            <a:pPr marL="0" indent="0">
              <a:buNone/>
            </a:pPr>
            <a:r>
              <a:rPr lang="en-US" sz="1280" b="1" dirty="0">
                <a:solidFill>
                  <a:srgbClr val="FFFFFF"/>
                </a:solidFill>
              </a:rPr>
              <a:t>Batch processing</a:t>
            </a:r>
            <a:endParaRPr lang="en-US" sz="1280" dirty="0"/>
          </a:p>
        </p:txBody>
      </p:sp>
      <p:sp>
        <p:nvSpPr>
          <p:cNvPr id="8" name="Text 6"/>
          <p:cNvSpPr/>
          <p:nvPr/>
        </p:nvSpPr>
        <p:spPr>
          <a:xfrm>
            <a:off x="941832" y="1783080"/>
            <a:ext cx="4745736" cy="1261872"/>
          </a:xfrm>
          <a:prstGeom prst="rect">
            <a:avLst/>
          </a:prstGeom>
          <a:noFill/>
          <a:ln/>
        </p:spPr>
        <p:txBody>
          <a:bodyPr wrap="square" lIns="254" tIns="254" rIns="254" bIns="254" rtlCol="0" anchor="ctr">
            <a:normAutofit/>
          </a:bodyPr>
          <a:lstStyle/>
          <a:p>
            <a:pPr marL="0" indent="0">
              <a:buNone/>
            </a:pPr>
            <a:r>
              <a:rPr lang="en-US" sz="980" dirty="0">
                <a:solidFill>
                  <a:srgbClr val="CBD5E1"/>
                </a:solidFill>
              </a:rPr>
              <a:t>Data is collected first and processed later on a schedule. Common for daily reports, reconciliation, historical analytics and compliance.</a:t>
            </a:r>
            <a:endParaRPr lang="en-US" sz="980" dirty="0"/>
          </a:p>
        </p:txBody>
      </p:sp>
      <p:sp>
        <p:nvSpPr>
          <p:cNvPr id="9" name="Shape 7"/>
          <p:cNvSpPr/>
          <p:nvPr/>
        </p:nvSpPr>
        <p:spPr>
          <a:xfrm>
            <a:off x="6327648" y="1325880"/>
            <a:ext cx="5074920" cy="1828800"/>
          </a:xfrm>
          <a:prstGeom prst="roundRect">
            <a:avLst>
              <a:gd name="adj" fmla="val 4000"/>
            </a:avLst>
          </a:prstGeom>
          <a:solidFill>
            <a:srgbClr val="0F2138"/>
          </a:solidFill>
          <a:ln w="12700">
            <a:solidFill>
              <a:srgbClr val="224668"/>
            </a:solidFill>
            <a:prstDash val="solid"/>
          </a:ln>
        </p:spPr>
      </p:sp>
      <p:sp>
        <p:nvSpPr>
          <p:cNvPr id="10" name="Shape 8"/>
          <p:cNvSpPr/>
          <p:nvPr/>
        </p:nvSpPr>
        <p:spPr>
          <a:xfrm>
            <a:off x="6327648" y="1325880"/>
            <a:ext cx="54864" cy="1828800"/>
          </a:xfrm>
          <a:prstGeom prst="rect">
            <a:avLst/>
          </a:prstGeom>
          <a:solidFill>
            <a:srgbClr val="22D3EE"/>
          </a:solidFill>
          <a:ln w="12700">
            <a:solidFill>
              <a:srgbClr val="22D3EE">
                <a:alpha val="0"/>
              </a:srgbClr>
            </a:solidFill>
            <a:prstDash val="solid"/>
          </a:ln>
        </p:spPr>
      </p:sp>
      <p:sp>
        <p:nvSpPr>
          <p:cNvPr id="11" name="Text 9"/>
          <p:cNvSpPr/>
          <p:nvPr/>
        </p:nvSpPr>
        <p:spPr>
          <a:xfrm>
            <a:off x="6492240" y="1453896"/>
            <a:ext cx="4745736" cy="201168"/>
          </a:xfrm>
          <a:prstGeom prst="rect">
            <a:avLst/>
          </a:prstGeom>
          <a:noFill/>
          <a:ln/>
        </p:spPr>
        <p:txBody>
          <a:bodyPr wrap="square" lIns="0" tIns="0" rIns="0" bIns="0" rtlCol="0" anchor="ctr"/>
          <a:lstStyle/>
          <a:p>
            <a:pPr marL="0" indent="0">
              <a:buNone/>
            </a:pPr>
            <a:r>
              <a:rPr lang="en-US" sz="1280" b="1" dirty="0">
                <a:solidFill>
                  <a:srgbClr val="FFFFFF"/>
                </a:solidFill>
              </a:rPr>
              <a:t>Streaming processing</a:t>
            </a:r>
            <a:endParaRPr lang="en-US" sz="1280" dirty="0"/>
          </a:p>
        </p:txBody>
      </p:sp>
      <p:sp>
        <p:nvSpPr>
          <p:cNvPr id="12" name="Text 10"/>
          <p:cNvSpPr/>
          <p:nvPr/>
        </p:nvSpPr>
        <p:spPr>
          <a:xfrm>
            <a:off x="6492240" y="1783080"/>
            <a:ext cx="4745736" cy="1261872"/>
          </a:xfrm>
          <a:prstGeom prst="rect">
            <a:avLst/>
          </a:prstGeom>
          <a:noFill/>
          <a:ln/>
        </p:spPr>
        <p:txBody>
          <a:bodyPr wrap="square" lIns="254" tIns="254" rIns="254" bIns="254" rtlCol="0" anchor="ctr">
            <a:normAutofit/>
          </a:bodyPr>
          <a:lstStyle/>
          <a:p>
            <a:pPr marL="0" indent="0">
              <a:buNone/>
            </a:pPr>
            <a:r>
              <a:rPr lang="en-US" sz="980" dirty="0">
                <a:solidFill>
                  <a:srgbClr val="CBD5E1"/>
                </a:solidFill>
              </a:rPr>
              <a:t>Events are handled continuously while they arrive. Common for live dashboards, fraud alerts, location tracking and operational decisions.</a:t>
            </a:r>
            <a:endParaRPr lang="en-US" sz="980" dirty="0"/>
          </a:p>
        </p:txBody>
      </p:sp>
      <p:sp>
        <p:nvSpPr>
          <p:cNvPr id="13" name="Shape 11"/>
          <p:cNvSpPr/>
          <p:nvPr/>
        </p:nvSpPr>
        <p:spPr>
          <a:xfrm>
            <a:off x="914400" y="3886200"/>
            <a:ext cx="4800600" cy="1005840"/>
          </a:xfrm>
          <a:prstGeom prst="roundRect">
            <a:avLst>
              <a:gd name="adj" fmla="val 5455"/>
            </a:avLst>
          </a:prstGeom>
          <a:solidFill>
            <a:srgbClr val="101A2B"/>
          </a:solidFill>
          <a:ln w="12700">
            <a:solidFill>
              <a:srgbClr val="334155"/>
            </a:solidFill>
            <a:prstDash val="solid"/>
          </a:ln>
        </p:spPr>
      </p:sp>
      <p:sp>
        <p:nvSpPr>
          <p:cNvPr id="14" name="Text 12"/>
          <p:cNvSpPr/>
          <p:nvPr/>
        </p:nvSpPr>
        <p:spPr>
          <a:xfrm>
            <a:off x="1143000" y="4261104"/>
            <a:ext cx="4343400" cy="155448"/>
          </a:xfrm>
          <a:prstGeom prst="rect">
            <a:avLst/>
          </a:prstGeom>
          <a:noFill/>
          <a:ln/>
        </p:spPr>
        <p:txBody>
          <a:bodyPr wrap="square" lIns="0" tIns="0" rIns="0" bIns="0" rtlCol="0" anchor="ctr"/>
          <a:lstStyle/>
          <a:p>
            <a:pPr marL="0" indent="0" algn="ctr">
              <a:buNone/>
            </a:pPr>
            <a:r>
              <a:rPr lang="en-US" sz="1300" b="1" dirty="0">
                <a:solidFill>
                  <a:srgbClr val="FB923C"/>
                </a:solidFill>
              </a:rPr>
              <a:t>Collect → wait → nightly job → report</a:t>
            </a:r>
            <a:endParaRPr lang="en-US" sz="1300" dirty="0"/>
          </a:p>
        </p:txBody>
      </p:sp>
      <p:sp>
        <p:nvSpPr>
          <p:cNvPr id="15" name="Shape 13"/>
          <p:cNvSpPr/>
          <p:nvPr/>
        </p:nvSpPr>
        <p:spPr>
          <a:xfrm>
            <a:off x="6473952" y="3886200"/>
            <a:ext cx="4800600" cy="1005840"/>
          </a:xfrm>
          <a:prstGeom prst="roundRect">
            <a:avLst>
              <a:gd name="adj" fmla="val 5455"/>
            </a:avLst>
          </a:prstGeom>
          <a:solidFill>
            <a:srgbClr val="081E2D"/>
          </a:solidFill>
          <a:ln w="12700">
            <a:solidFill>
              <a:srgbClr val="155E75"/>
            </a:solidFill>
            <a:prstDash val="solid"/>
          </a:ln>
        </p:spPr>
      </p:sp>
      <p:sp>
        <p:nvSpPr>
          <p:cNvPr id="16" name="Text 14"/>
          <p:cNvSpPr/>
          <p:nvPr/>
        </p:nvSpPr>
        <p:spPr>
          <a:xfrm>
            <a:off x="6693408" y="4261104"/>
            <a:ext cx="4343400" cy="155448"/>
          </a:xfrm>
          <a:prstGeom prst="rect">
            <a:avLst/>
          </a:prstGeom>
          <a:noFill/>
          <a:ln/>
        </p:spPr>
        <p:txBody>
          <a:bodyPr wrap="square" lIns="0" tIns="0" rIns="0" bIns="0" rtlCol="0" anchor="ctr"/>
          <a:lstStyle/>
          <a:p>
            <a:pPr marL="0" indent="0" algn="ctr">
              <a:buNone/>
            </a:pPr>
            <a:r>
              <a:rPr lang="en-US" sz="1300" b="1" dirty="0">
                <a:solidFill>
                  <a:srgbClr val="34D399"/>
                </a:solidFill>
              </a:rPr>
              <a:t>Event → validate → transform → action</a:t>
            </a:r>
            <a:endParaRPr lang="en-US" sz="1300" dirty="0"/>
          </a:p>
        </p:txBody>
      </p:sp>
      <p:sp>
        <p:nvSpPr>
          <p:cNvPr id="17" name="Text 15"/>
          <p:cNvSpPr/>
          <p:nvPr/>
        </p:nvSpPr>
        <p:spPr>
          <a:xfrm>
            <a:off x="914400" y="5806440"/>
            <a:ext cx="10332720" cy="219456"/>
          </a:xfrm>
          <a:prstGeom prst="rect">
            <a:avLst/>
          </a:prstGeom>
          <a:noFill/>
          <a:ln/>
        </p:spPr>
        <p:txBody>
          <a:bodyPr wrap="square" lIns="0" tIns="0" rIns="0" bIns="0" rtlCol="0" anchor="ctr"/>
          <a:lstStyle/>
          <a:p>
            <a:pPr marL="0" indent="0" algn="ctr">
              <a:buNone/>
            </a:pPr>
            <a:r>
              <a:rPr lang="en-US" sz="1300" b="1" dirty="0">
                <a:solidFill>
                  <a:srgbClr val="DDEBFF"/>
                </a:solidFill>
              </a:rPr>
              <a:t>Most platforms use both: streaming for immediate action and batch for history.</a:t>
            </a:r>
            <a:endParaRPr lang="en-US" sz="1300" dirty="0"/>
          </a:p>
        </p:txBody>
      </p:sp>
      <p:sp>
        <p:nvSpPr>
          <p:cNvPr id="25" name="Slide Number Placeholder 0"/>
          <p:cNvSpPr>
            <a:spLocks noGrp="1"/>
          </p:cNvSpPr>
          <p:nvPr>
            <p:ph type="sldNum" sz="quarter" idx="4294967295"/>
          </p:nvPr>
        </p:nvSpPr>
        <p:spPr>
          <a:xfrm>
            <a:off x="11539728"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94A3B8"/>
                </a:solidFill>
                <a:latin typeface="Aptos"/>
                <a:ea typeface="Aptos"/>
                <a:cs typeface="Aptos"/>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4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426"/>
          </a:solidFill>
          <a:ln w="12700">
            <a:solidFill>
              <a:srgbClr val="071426">
                <a:alpha val="0"/>
              </a:srgbClr>
            </a:solidFill>
            <a:prstDash val="solid"/>
          </a:ln>
        </p:spPr>
      </p:sp>
      <p:sp>
        <p:nvSpPr>
          <p:cNvPr id="3" name="Text 1"/>
          <p:cNvSpPr/>
          <p:nvPr/>
        </p:nvSpPr>
        <p:spPr>
          <a:xfrm>
            <a:off x="594360" y="292608"/>
            <a:ext cx="10789920" cy="384048"/>
          </a:xfrm>
          <a:prstGeom prst="rect">
            <a:avLst/>
          </a:prstGeom>
          <a:noFill/>
          <a:ln/>
        </p:spPr>
        <p:txBody>
          <a:bodyPr wrap="square" lIns="0" tIns="0" rIns="0" bIns="0" rtlCol="0" anchor="ctr"/>
          <a:lstStyle/>
          <a:p>
            <a:pPr marL="0" indent="0">
              <a:buNone/>
            </a:pPr>
            <a:r>
              <a:rPr lang="en-US" sz="2750" b="1" dirty="0">
                <a:solidFill>
                  <a:srgbClr val="FFFFFF"/>
                </a:solidFill>
                <a:latin typeface="Aptos Display" pitchFamily="34" charset="0"/>
                <a:ea typeface="Aptos Display" pitchFamily="34" charset="-122"/>
                <a:cs typeface="Aptos Display" pitchFamily="34" charset="-120"/>
              </a:rPr>
              <a:t>Food-delivery monitoring use case</a:t>
            </a:r>
            <a:endParaRPr lang="en-US" sz="2750" dirty="0"/>
          </a:p>
        </p:txBody>
      </p:sp>
      <p:sp>
        <p:nvSpPr>
          <p:cNvPr id="4" name="Text 2"/>
          <p:cNvSpPr/>
          <p:nvPr/>
        </p:nvSpPr>
        <p:spPr>
          <a:xfrm>
            <a:off x="612648" y="768096"/>
            <a:ext cx="10424160" cy="219456"/>
          </a:xfrm>
          <a:prstGeom prst="rect">
            <a:avLst/>
          </a:prstGeom>
          <a:noFill/>
          <a:ln/>
        </p:spPr>
        <p:txBody>
          <a:bodyPr wrap="square" lIns="0" tIns="0" rIns="0" bIns="0" rtlCol="0" anchor="ctr"/>
          <a:lstStyle/>
          <a:p>
            <a:pPr marL="0" indent="0">
              <a:buNone/>
            </a:pPr>
            <a:r>
              <a:rPr lang="en-US" sz="1100" dirty="0">
                <a:solidFill>
                  <a:srgbClr val="94A3B8"/>
                </a:solidFill>
                <a:latin typeface="Aptos" pitchFamily="34" charset="0"/>
                <a:ea typeface="Aptos" pitchFamily="34" charset="-122"/>
                <a:cs typeface="Aptos" pitchFamily="34" charset="-120"/>
              </a:rPr>
              <a:t>A live customer experience needs order, payment, restaurant and driver events.</a:t>
            </a:r>
            <a:endParaRPr lang="en-US" sz="1100" dirty="0"/>
          </a:p>
        </p:txBody>
      </p:sp>
      <p:pic>
        <p:nvPicPr>
          <p:cNvPr id="5" name="Image 0" descr="/mnt/data/a_detailed_cinematic_futuristic_cityscape_technol.png"/>
          <p:cNvPicPr>
            <a:picLocks noChangeAspect="1"/>
          </p:cNvPicPr>
          <p:nvPr/>
        </p:nvPicPr>
        <p:blipFill>
          <a:blip r:embed="rId3"/>
          <a:srcRect l="17312" r="17312"/>
          <a:stretch/>
        </p:blipFill>
        <p:spPr>
          <a:xfrm>
            <a:off x="640080" y="1143000"/>
            <a:ext cx="5257800" cy="4526280"/>
          </a:xfrm>
          <a:prstGeom prst="rect">
            <a:avLst/>
          </a:prstGeom>
        </p:spPr>
      </p:pic>
      <p:sp>
        <p:nvSpPr>
          <p:cNvPr id="6" name="Shape 3"/>
          <p:cNvSpPr/>
          <p:nvPr/>
        </p:nvSpPr>
        <p:spPr>
          <a:xfrm>
            <a:off x="6446520" y="1207008"/>
            <a:ext cx="347472" cy="347472"/>
          </a:xfrm>
          <a:prstGeom prst="ellipse">
            <a:avLst/>
          </a:prstGeom>
          <a:solidFill>
            <a:srgbClr val="22D3EE"/>
          </a:solidFill>
          <a:ln w="12700">
            <a:solidFill>
              <a:srgbClr val="333333">
                <a:alpha val="0"/>
              </a:srgbClr>
            </a:solidFill>
            <a:prstDash val="solid"/>
          </a:ln>
        </p:spPr>
      </p:sp>
      <p:sp>
        <p:nvSpPr>
          <p:cNvPr id="7" name="Text 4"/>
          <p:cNvSpPr/>
          <p:nvPr/>
        </p:nvSpPr>
        <p:spPr>
          <a:xfrm>
            <a:off x="6446520" y="1280160"/>
            <a:ext cx="347472" cy="109728"/>
          </a:xfrm>
          <a:prstGeom prst="rect">
            <a:avLst/>
          </a:prstGeom>
          <a:noFill/>
          <a:ln/>
        </p:spPr>
        <p:txBody>
          <a:bodyPr wrap="square" lIns="0" tIns="0" rIns="0" bIns="0" rtlCol="0" anchor="ctr"/>
          <a:lstStyle/>
          <a:p>
            <a:pPr marL="0" indent="0" algn="ctr">
              <a:buNone/>
            </a:pPr>
            <a:r>
              <a:rPr lang="en-US" sz="800" b="1" dirty="0">
                <a:solidFill>
                  <a:srgbClr val="071426"/>
                </a:solidFill>
              </a:rPr>
              <a:t>1</a:t>
            </a:r>
            <a:endParaRPr lang="en-US" sz="800" dirty="0"/>
          </a:p>
        </p:txBody>
      </p:sp>
      <p:sp>
        <p:nvSpPr>
          <p:cNvPr id="8" name="Text 5"/>
          <p:cNvSpPr/>
          <p:nvPr/>
        </p:nvSpPr>
        <p:spPr>
          <a:xfrm>
            <a:off x="6995160" y="1225296"/>
            <a:ext cx="3566160" cy="164592"/>
          </a:xfrm>
          <a:prstGeom prst="rect">
            <a:avLst/>
          </a:prstGeom>
          <a:noFill/>
          <a:ln/>
        </p:spPr>
        <p:txBody>
          <a:bodyPr wrap="square" lIns="0" tIns="0" rIns="0" bIns="0" rtlCol="0" anchor="ctr"/>
          <a:lstStyle/>
          <a:p>
            <a:pPr marL="0" indent="0">
              <a:buNone/>
            </a:pPr>
            <a:r>
              <a:rPr lang="en-US" sz="1320" b="1" dirty="0">
                <a:solidFill>
                  <a:srgbClr val="FFFFFF"/>
                </a:solidFill>
              </a:rPr>
              <a:t>Order created</a:t>
            </a:r>
            <a:endParaRPr lang="en-US" sz="1320" dirty="0"/>
          </a:p>
        </p:txBody>
      </p:sp>
      <p:sp>
        <p:nvSpPr>
          <p:cNvPr id="9" name="Text 6"/>
          <p:cNvSpPr/>
          <p:nvPr/>
        </p:nvSpPr>
        <p:spPr>
          <a:xfrm>
            <a:off x="6995160" y="1463040"/>
            <a:ext cx="4069080" cy="128016"/>
          </a:xfrm>
          <a:prstGeom prst="rect">
            <a:avLst/>
          </a:prstGeom>
          <a:noFill/>
          <a:ln/>
        </p:spPr>
        <p:txBody>
          <a:bodyPr wrap="square" lIns="0" tIns="0" rIns="0" bIns="0" rtlCol="0" anchor="ctr"/>
          <a:lstStyle/>
          <a:p>
            <a:pPr marL="0" indent="0">
              <a:buNone/>
            </a:pPr>
            <a:r>
              <a:rPr lang="en-US" sz="840" dirty="0">
                <a:solidFill>
                  <a:srgbClr val="94A3B8"/>
                </a:solidFill>
              </a:rPr>
              <a:t>Update customer screen or ops dashboard</a:t>
            </a:r>
            <a:endParaRPr lang="en-US" sz="840" dirty="0"/>
          </a:p>
        </p:txBody>
      </p:sp>
      <p:sp>
        <p:nvSpPr>
          <p:cNvPr id="10" name="Shape 7"/>
          <p:cNvSpPr/>
          <p:nvPr/>
        </p:nvSpPr>
        <p:spPr>
          <a:xfrm>
            <a:off x="6446520" y="1874520"/>
            <a:ext cx="347472" cy="347472"/>
          </a:xfrm>
          <a:prstGeom prst="ellipse">
            <a:avLst/>
          </a:prstGeom>
          <a:solidFill>
            <a:srgbClr val="34D399"/>
          </a:solidFill>
          <a:ln w="12700">
            <a:solidFill>
              <a:srgbClr val="333333">
                <a:alpha val="0"/>
              </a:srgbClr>
            </a:solidFill>
            <a:prstDash val="solid"/>
          </a:ln>
        </p:spPr>
      </p:sp>
      <p:sp>
        <p:nvSpPr>
          <p:cNvPr id="11" name="Text 8"/>
          <p:cNvSpPr/>
          <p:nvPr/>
        </p:nvSpPr>
        <p:spPr>
          <a:xfrm>
            <a:off x="6446520" y="1947672"/>
            <a:ext cx="347472" cy="109728"/>
          </a:xfrm>
          <a:prstGeom prst="rect">
            <a:avLst/>
          </a:prstGeom>
          <a:noFill/>
          <a:ln/>
        </p:spPr>
        <p:txBody>
          <a:bodyPr wrap="square" lIns="0" tIns="0" rIns="0" bIns="0" rtlCol="0" anchor="ctr"/>
          <a:lstStyle/>
          <a:p>
            <a:pPr marL="0" indent="0" algn="ctr">
              <a:buNone/>
            </a:pPr>
            <a:r>
              <a:rPr lang="en-US" sz="800" b="1" dirty="0">
                <a:solidFill>
                  <a:srgbClr val="071426"/>
                </a:solidFill>
              </a:rPr>
              <a:t>2</a:t>
            </a:r>
            <a:endParaRPr lang="en-US" sz="800" dirty="0"/>
          </a:p>
        </p:txBody>
      </p:sp>
      <p:sp>
        <p:nvSpPr>
          <p:cNvPr id="12" name="Text 9"/>
          <p:cNvSpPr/>
          <p:nvPr/>
        </p:nvSpPr>
        <p:spPr>
          <a:xfrm>
            <a:off x="6995160" y="1892808"/>
            <a:ext cx="3566160" cy="164592"/>
          </a:xfrm>
          <a:prstGeom prst="rect">
            <a:avLst/>
          </a:prstGeom>
          <a:noFill/>
          <a:ln/>
        </p:spPr>
        <p:txBody>
          <a:bodyPr wrap="square" lIns="0" tIns="0" rIns="0" bIns="0" rtlCol="0" anchor="ctr"/>
          <a:lstStyle/>
          <a:p>
            <a:pPr marL="0" indent="0">
              <a:buNone/>
            </a:pPr>
            <a:r>
              <a:rPr lang="en-US" sz="1320" b="1" dirty="0">
                <a:solidFill>
                  <a:srgbClr val="FFFFFF"/>
                </a:solidFill>
              </a:rPr>
              <a:t>Payment completed</a:t>
            </a:r>
            <a:endParaRPr lang="en-US" sz="1320" dirty="0"/>
          </a:p>
        </p:txBody>
      </p:sp>
      <p:sp>
        <p:nvSpPr>
          <p:cNvPr id="13" name="Text 10"/>
          <p:cNvSpPr/>
          <p:nvPr/>
        </p:nvSpPr>
        <p:spPr>
          <a:xfrm>
            <a:off x="6995160" y="2130552"/>
            <a:ext cx="4069080" cy="128016"/>
          </a:xfrm>
          <a:prstGeom prst="rect">
            <a:avLst/>
          </a:prstGeom>
          <a:noFill/>
          <a:ln/>
        </p:spPr>
        <p:txBody>
          <a:bodyPr wrap="square" lIns="0" tIns="0" rIns="0" bIns="0" rtlCol="0" anchor="ctr"/>
          <a:lstStyle/>
          <a:p>
            <a:pPr marL="0" indent="0">
              <a:buNone/>
            </a:pPr>
            <a:r>
              <a:rPr lang="en-US" sz="840" dirty="0">
                <a:solidFill>
                  <a:srgbClr val="94A3B8"/>
                </a:solidFill>
              </a:rPr>
              <a:t>Update customer screen or ops dashboard</a:t>
            </a:r>
            <a:endParaRPr lang="en-US" sz="840" dirty="0"/>
          </a:p>
        </p:txBody>
      </p:sp>
      <p:sp>
        <p:nvSpPr>
          <p:cNvPr id="14" name="Shape 11"/>
          <p:cNvSpPr/>
          <p:nvPr/>
        </p:nvSpPr>
        <p:spPr>
          <a:xfrm>
            <a:off x="6446520" y="2542032"/>
            <a:ext cx="347472" cy="347472"/>
          </a:xfrm>
          <a:prstGeom prst="ellipse">
            <a:avLst/>
          </a:prstGeom>
          <a:solidFill>
            <a:srgbClr val="FB923C"/>
          </a:solidFill>
          <a:ln w="12700">
            <a:solidFill>
              <a:srgbClr val="333333">
                <a:alpha val="0"/>
              </a:srgbClr>
            </a:solidFill>
            <a:prstDash val="solid"/>
          </a:ln>
        </p:spPr>
      </p:sp>
      <p:sp>
        <p:nvSpPr>
          <p:cNvPr id="15" name="Text 12"/>
          <p:cNvSpPr/>
          <p:nvPr/>
        </p:nvSpPr>
        <p:spPr>
          <a:xfrm>
            <a:off x="6446520" y="2615184"/>
            <a:ext cx="347472" cy="109728"/>
          </a:xfrm>
          <a:prstGeom prst="rect">
            <a:avLst/>
          </a:prstGeom>
          <a:noFill/>
          <a:ln/>
        </p:spPr>
        <p:txBody>
          <a:bodyPr wrap="square" lIns="0" tIns="0" rIns="0" bIns="0" rtlCol="0" anchor="ctr"/>
          <a:lstStyle/>
          <a:p>
            <a:pPr marL="0" indent="0" algn="ctr">
              <a:buNone/>
            </a:pPr>
            <a:r>
              <a:rPr lang="en-US" sz="800" b="1" dirty="0">
                <a:solidFill>
                  <a:srgbClr val="071426"/>
                </a:solidFill>
              </a:rPr>
              <a:t>3</a:t>
            </a:r>
            <a:endParaRPr lang="en-US" sz="800" dirty="0"/>
          </a:p>
        </p:txBody>
      </p:sp>
      <p:sp>
        <p:nvSpPr>
          <p:cNvPr id="16" name="Text 13"/>
          <p:cNvSpPr/>
          <p:nvPr/>
        </p:nvSpPr>
        <p:spPr>
          <a:xfrm>
            <a:off x="6995160" y="2560320"/>
            <a:ext cx="3566160" cy="164592"/>
          </a:xfrm>
          <a:prstGeom prst="rect">
            <a:avLst/>
          </a:prstGeom>
          <a:noFill/>
          <a:ln/>
        </p:spPr>
        <p:txBody>
          <a:bodyPr wrap="square" lIns="0" tIns="0" rIns="0" bIns="0" rtlCol="0" anchor="ctr"/>
          <a:lstStyle/>
          <a:p>
            <a:pPr marL="0" indent="0">
              <a:buNone/>
            </a:pPr>
            <a:r>
              <a:rPr lang="en-US" sz="1320" b="1" dirty="0">
                <a:solidFill>
                  <a:srgbClr val="FFFFFF"/>
                </a:solidFill>
              </a:rPr>
              <a:t>Restaurant accepted</a:t>
            </a:r>
            <a:endParaRPr lang="en-US" sz="1320" dirty="0"/>
          </a:p>
        </p:txBody>
      </p:sp>
      <p:sp>
        <p:nvSpPr>
          <p:cNvPr id="17" name="Text 14"/>
          <p:cNvSpPr/>
          <p:nvPr/>
        </p:nvSpPr>
        <p:spPr>
          <a:xfrm>
            <a:off x="6995160" y="2798064"/>
            <a:ext cx="4069080" cy="128016"/>
          </a:xfrm>
          <a:prstGeom prst="rect">
            <a:avLst/>
          </a:prstGeom>
          <a:noFill/>
          <a:ln/>
        </p:spPr>
        <p:txBody>
          <a:bodyPr wrap="square" lIns="0" tIns="0" rIns="0" bIns="0" rtlCol="0" anchor="ctr"/>
          <a:lstStyle/>
          <a:p>
            <a:pPr marL="0" indent="0">
              <a:buNone/>
            </a:pPr>
            <a:r>
              <a:rPr lang="en-US" sz="840" dirty="0">
                <a:solidFill>
                  <a:srgbClr val="94A3B8"/>
                </a:solidFill>
              </a:rPr>
              <a:t>Update customer screen or ops dashboard</a:t>
            </a:r>
            <a:endParaRPr lang="en-US" sz="840" dirty="0"/>
          </a:p>
        </p:txBody>
      </p:sp>
      <p:sp>
        <p:nvSpPr>
          <p:cNvPr id="18" name="Shape 15"/>
          <p:cNvSpPr/>
          <p:nvPr/>
        </p:nvSpPr>
        <p:spPr>
          <a:xfrm>
            <a:off x="6446520" y="3209544"/>
            <a:ext cx="347472" cy="347472"/>
          </a:xfrm>
          <a:prstGeom prst="ellipse">
            <a:avLst/>
          </a:prstGeom>
          <a:solidFill>
            <a:srgbClr val="A78BFA"/>
          </a:solidFill>
          <a:ln w="12700">
            <a:solidFill>
              <a:srgbClr val="333333">
                <a:alpha val="0"/>
              </a:srgbClr>
            </a:solidFill>
            <a:prstDash val="solid"/>
          </a:ln>
        </p:spPr>
      </p:sp>
      <p:sp>
        <p:nvSpPr>
          <p:cNvPr id="19" name="Text 16"/>
          <p:cNvSpPr/>
          <p:nvPr/>
        </p:nvSpPr>
        <p:spPr>
          <a:xfrm>
            <a:off x="6446520" y="3282696"/>
            <a:ext cx="347472" cy="109728"/>
          </a:xfrm>
          <a:prstGeom prst="rect">
            <a:avLst/>
          </a:prstGeom>
          <a:noFill/>
          <a:ln/>
        </p:spPr>
        <p:txBody>
          <a:bodyPr wrap="square" lIns="0" tIns="0" rIns="0" bIns="0" rtlCol="0" anchor="ctr"/>
          <a:lstStyle/>
          <a:p>
            <a:pPr marL="0" indent="0" algn="ctr">
              <a:buNone/>
            </a:pPr>
            <a:r>
              <a:rPr lang="en-US" sz="800" b="1" dirty="0">
                <a:solidFill>
                  <a:srgbClr val="071426"/>
                </a:solidFill>
              </a:rPr>
              <a:t>4</a:t>
            </a:r>
            <a:endParaRPr lang="en-US" sz="800" dirty="0"/>
          </a:p>
        </p:txBody>
      </p:sp>
      <p:sp>
        <p:nvSpPr>
          <p:cNvPr id="20" name="Text 17"/>
          <p:cNvSpPr/>
          <p:nvPr/>
        </p:nvSpPr>
        <p:spPr>
          <a:xfrm>
            <a:off x="6995160" y="3227832"/>
            <a:ext cx="3566160" cy="164592"/>
          </a:xfrm>
          <a:prstGeom prst="rect">
            <a:avLst/>
          </a:prstGeom>
          <a:noFill/>
          <a:ln/>
        </p:spPr>
        <p:txBody>
          <a:bodyPr wrap="square" lIns="0" tIns="0" rIns="0" bIns="0" rtlCol="0" anchor="ctr"/>
          <a:lstStyle/>
          <a:p>
            <a:pPr marL="0" indent="0">
              <a:buNone/>
            </a:pPr>
            <a:r>
              <a:rPr lang="en-US" sz="1320" b="1" dirty="0">
                <a:solidFill>
                  <a:srgbClr val="FFFFFF"/>
                </a:solidFill>
              </a:rPr>
              <a:t>Driver assigned</a:t>
            </a:r>
            <a:endParaRPr lang="en-US" sz="1320" dirty="0"/>
          </a:p>
        </p:txBody>
      </p:sp>
      <p:sp>
        <p:nvSpPr>
          <p:cNvPr id="21" name="Text 18"/>
          <p:cNvSpPr/>
          <p:nvPr/>
        </p:nvSpPr>
        <p:spPr>
          <a:xfrm>
            <a:off x="6995160" y="3465576"/>
            <a:ext cx="4069080" cy="128016"/>
          </a:xfrm>
          <a:prstGeom prst="rect">
            <a:avLst/>
          </a:prstGeom>
          <a:noFill/>
          <a:ln/>
        </p:spPr>
        <p:txBody>
          <a:bodyPr wrap="square" lIns="0" tIns="0" rIns="0" bIns="0" rtlCol="0" anchor="ctr"/>
          <a:lstStyle/>
          <a:p>
            <a:pPr marL="0" indent="0">
              <a:buNone/>
            </a:pPr>
            <a:r>
              <a:rPr lang="en-US" sz="840" dirty="0">
                <a:solidFill>
                  <a:srgbClr val="94A3B8"/>
                </a:solidFill>
              </a:rPr>
              <a:t>Update customer screen or ops dashboard</a:t>
            </a:r>
            <a:endParaRPr lang="en-US" sz="840" dirty="0"/>
          </a:p>
        </p:txBody>
      </p:sp>
      <p:sp>
        <p:nvSpPr>
          <p:cNvPr id="22" name="Shape 19"/>
          <p:cNvSpPr/>
          <p:nvPr/>
        </p:nvSpPr>
        <p:spPr>
          <a:xfrm>
            <a:off x="6446520" y="3877056"/>
            <a:ext cx="347472" cy="347472"/>
          </a:xfrm>
          <a:prstGeom prst="ellipse">
            <a:avLst/>
          </a:prstGeom>
          <a:solidFill>
            <a:srgbClr val="60A5FA"/>
          </a:solidFill>
          <a:ln w="12700">
            <a:solidFill>
              <a:srgbClr val="333333">
                <a:alpha val="0"/>
              </a:srgbClr>
            </a:solidFill>
            <a:prstDash val="solid"/>
          </a:ln>
        </p:spPr>
      </p:sp>
      <p:sp>
        <p:nvSpPr>
          <p:cNvPr id="23" name="Text 20"/>
          <p:cNvSpPr/>
          <p:nvPr/>
        </p:nvSpPr>
        <p:spPr>
          <a:xfrm>
            <a:off x="6446520" y="3950208"/>
            <a:ext cx="347472" cy="109728"/>
          </a:xfrm>
          <a:prstGeom prst="rect">
            <a:avLst/>
          </a:prstGeom>
          <a:noFill/>
          <a:ln/>
        </p:spPr>
        <p:txBody>
          <a:bodyPr wrap="square" lIns="0" tIns="0" rIns="0" bIns="0" rtlCol="0" anchor="ctr"/>
          <a:lstStyle/>
          <a:p>
            <a:pPr marL="0" indent="0" algn="ctr">
              <a:buNone/>
            </a:pPr>
            <a:r>
              <a:rPr lang="en-US" sz="800" b="1" dirty="0">
                <a:solidFill>
                  <a:srgbClr val="071426"/>
                </a:solidFill>
              </a:rPr>
              <a:t>5</a:t>
            </a:r>
            <a:endParaRPr lang="en-US" sz="800" dirty="0"/>
          </a:p>
        </p:txBody>
      </p:sp>
      <p:sp>
        <p:nvSpPr>
          <p:cNvPr id="24" name="Text 21"/>
          <p:cNvSpPr/>
          <p:nvPr/>
        </p:nvSpPr>
        <p:spPr>
          <a:xfrm>
            <a:off x="6995160" y="3895344"/>
            <a:ext cx="3566160" cy="164592"/>
          </a:xfrm>
          <a:prstGeom prst="rect">
            <a:avLst/>
          </a:prstGeom>
          <a:noFill/>
          <a:ln/>
        </p:spPr>
        <p:txBody>
          <a:bodyPr wrap="square" lIns="0" tIns="0" rIns="0" bIns="0" rtlCol="0" anchor="ctr"/>
          <a:lstStyle/>
          <a:p>
            <a:pPr marL="0" indent="0">
              <a:buNone/>
            </a:pPr>
            <a:r>
              <a:rPr lang="en-US" sz="1320" b="1" dirty="0">
                <a:solidFill>
                  <a:srgbClr val="FFFFFF"/>
                </a:solidFill>
              </a:rPr>
              <a:t>Out for delivery</a:t>
            </a:r>
            <a:endParaRPr lang="en-US" sz="1320" dirty="0"/>
          </a:p>
        </p:txBody>
      </p:sp>
      <p:sp>
        <p:nvSpPr>
          <p:cNvPr id="25" name="Text 22"/>
          <p:cNvSpPr/>
          <p:nvPr/>
        </p:nvSpPr>
        <p:spPr>
          <a:xfrm>
            <a:off x="6995160" y="4133088"/>
            <a:ext cx="4069080" cy="128016"/>
          </a:xfrm>
          <a:prstGeom prst="rect">
            <a:avLst/>
          </a:prstGeom>
          <a:noFill/>
          <a:ln/>
        </p:spPr>
        <p:txBody>
          <a:bodyPr wrap="square" lIns="0" tIns="0" rIns="0" bIns="0" rtlCol="0" anchor="ctr"/>
          <a:lstStyle/>
          <a:p>
            <a:pPr marL="0" indent="0">
              <a:buNone/>
            </a:pPr>
            <a:r>
              <a:rPr lang="en-US" sz="840" dirty="0">
                <a:solidFill>
                  <a:srgbClr val="94A3B8"/>
                </a:solidFill>
              </a:rPr>
              <a:t>Update customer screen or ops dashboard</a:t>
            </a:r>
            <a:endParaRPr lang="en-US" sz="840" dirty="0"/>
          </a:p>
        </p:txBody>
      </p:sp>
      <p:sp>
        <p:nvSpPr>
          <p:cNvPr id="26" name="Shape 23"/>
          <p:cNvSpPr/>
          <p:nvPr/>
        </p:nvSpPr>
        <p:spPr>
          <a:xfrm>
            <a:off x="6446520" y="4544568"/>
            <a:ext cx="347472" cy="347472"/>
          </a:xfrm>
          <a:prstGeom prst="ellipse">
            <a:avLst/>
          </a:prstGeom>
          <a:solidFill>
            <a:srgbClr val="F87171"/>
          </a:solidFill>
          <a:ln w="12700">
            <a:solidFill>
              <a:srgbClr val="333333">
                <a:alpha val="0"/>
              </a:srgbClr>
            </a:solidFill>
            <a:prstDash val="solid"/>
          </a:ln>
        </p:spPr>
      </p:sp>
      <p:sp>
        <p:nvSpPr>
          <p:cNvPr id="27" name="Text 24"/>
          <p:cNvSpPr/>
          <p:nvPr/>
        </p:nvSpPr>
        <p:spPr>
          <a:xfrm>
            <a:off x="6446520" y="4617720"/>
            <a:ext cx="347472" cy="109728"/>
          </a:xfrm>
          <a:prstGeom prst="rect">
            <a:avLst/>
          </a:prstGeom>
          <a:noFill/>
          <a:ln/>
        </p:spPr>
        <p:txBody>
          <a:bodyPr wrap="square" lIns="0" tIns="0" rIns="0" bIns="0" rtlCol="0" anchor="ctr"/>
          <a:lstStyle/>
          <a:p>
            <a:pPr marL="0" indent="0" algn="ctr">
              <a:buNone/>
            </a:pPr>
            <a:r>
              <a:rPr lang="en-US" sz="800" b="1" dirty="0">
                <a:solidFill>
                  <a:srgbClr val="071426"/>
                </a:solidFill>
              </a:rPr>
              <a:t>6</a:t>
            </a:r>
            <a:endParaRPr lang="en-US" sz="800" dirty="0"/>
          </a:p>
        </p:txBody>
      </p:sp>
      <p:sp>
        <p:nvSpPr>
          <p:cNvPr id="28" name="Text 25"/>
          <p:cNvSpPr/>
          <p:nvPr/>
        </p:nvSpPr>
        <p:spPr>
          <a:xfrm>
            <a:off x="6995160" y="4562856"/>
            <a:ext cx="3566160" cy="164592"/>
          </a:xfrm>
          <a:prstGeom prst="rect">
            <a:avLst/>
          </a:prstGeom>
          <a:noFill/>
          <a:ln/>
        </p:spPr>
        <p:txBody>
          <a:bodyPr wrap="square" lIns="0" tIns="0" rIns="0" bIns="0" rtlCol="0" anchor="ctr"/>
          <a:lstStyle/>
          <a:p>
            <a:pPr marL="0" indent="0">
              <a:buNone/>
            </a:pPr>
            <a:r>
              <a:rPr lang="en-US" sz="1320" b="1" dirty="0">
                <a:solidFill>
                  <a:srgbClr val="FFFFFF"/>
                </a:solidFill>
              </a:rPr>
              <a:t>Delivered / delayed</a:t>
            </a:r>
            <a:endParaRPr lang="en-US" sz="1320" dirty="0"/>
          </a:p>
        </p:txBody>
      </p:sp>
      <p:sp>
        <p:nvSpPr>
          <p:cNvPr id="29" name="Text 26"/>
          <p:cNvSpPr/>
          <p:nvPr/>
        </p:nvSpPr>
        <p:spPr>
          <a:xfrm>
            <a:off x="6995160" y="4800600"/>
            <a:ext cx="4069080" cy="128016"/>
          </a:xfrm>
          <a:prstGeom prst="rect">
            <a:avLst/>
          </a:prstGeom>
          <a:noFill/>
          <a:ln/>
        </p:spPr>
        <p:txBody>
          <a:bodyPr wrap="square" lIns="0" tIns="0" rIns="0" bIns="0" rtlCol="0" anchor="ctr"/>
          <a:lstStyle/>
          <a:p>
            <a:pPr marL="0" indent="0">
              <a:buNone/>
            </a:pPr>
            <a:r>
              <a:rPr lang="en-US" sz="840" dirty="0">
                <a:solidFill>
                  <a:srgbClr val="94A3B8"/>
                </a:solidFill>
              </a:rPr>
              <a:t>Generate SLA alert if needed</a:t>
            </a:r>
            <a:endParaRPr lang="en-US" sz="840" dirty="0"/>
          </a:p>
        </p:txBody>
      </p:sp>
      <p:sp>
        <p:nvSpPr>
          <p:cNvPr id="30" name="Shape 27"/>
          <p:cNvSpPr/>
          <p:nvPr/>
        </p:nvSpPr>
        <p:spPr>
          <a:xfrm>
            <a:off x="6537960" y="5504688"/>
            <a:ext cx="4663440" cy="685800"/>
          </a:xfrm>
          <a:prstGeom prst="roundRect">
            <a:avLst>
              <a:gd name="adj" fmla="val 10667"/>
            </a:avLst>
          </a:prstGeom>
          <a:solidFill>
            <a:srgbClr val="0F2138"/>
          </a:solidFill>
          <a:ln w="12700">
            <a:solidFill>
              <a:srgbClr val="224668"/>
            </a:solidFill>
            <a:prstDash val="solid"/>
          </a:ln>
        </p:spPr>
      </p:sp>
      <p:sp>
        <p:nvSpPr>
          <p:cNvPr id="31" name="Shape 28"/>
          <p:cNvSpPr/>
          <p:nvPr/>
        </p:nvSpPr>
        <p:spPr>
          <a:xfrm>
            <a:off x="6537960" y="5504688"/>
            <a:ext cx="54864" cy="685800"/>
          </a:xfrm>
          <a:prstGeom prst="rect">
            <a:avLst/>
          </a:prstGeom>
          <a:solidFill>
            <a:srgbClr val="34D399"/>
          </a:solidFill>
          <a:ln w="12700">
            <a:solidFill>
              <a:srgbClr val="34D399">
                <a:alpha val="0"/>
              </a:srgbClr>
            </a:solidFill>
            <a:prstDash val="solid"/>
          </a:ln>
        </p:spPr>
      </p:sp>
      <p:sp>
        <p:nvSpPr>
          <p:cNvPr id="32" name="Text 29"/>
          <p:cNvSpPr/>
          <p:nvPr/>
        </p:nvSpPr>
        <p:spPr>
          <a:xfrm>
            <a:off x="6702552" y="5632704"/>
            <a:ext cx="4334256" cy="201168"/>
          </a:xfrm>
          <a:prstGeom prst="rect">
            <a:avLst/>
          </a:prstGeom>
          <a:noFill/>
          <a:ln/>
        </p:spPr>
        <p:txBody>
          <a:bodyPr wrap="square" lIns="0" tIns="0" rIns="0" bIns="0" rtlCol="0" anchor="ctr"/>
          <a:lstStyle/>
          <a:p>
            <a:pPr marL="0" indent="0">
              <a:buNone/>
            </a:pPr>
            <a:r>
              <a:rPr lang="en-US" sz="1280" b="1" dirty="0">
                <a:solidFill>
                  <a:srgbClr val="FFFFFF"/>
                </a:solidFill>
              </a:rPr>
              <a:t>Immediate outcomes</a:t>
            </a:r>
            <a:endParaRPr lang="en-US" sz="1280" dirty="0"/>
          </a:p>
        </p:txBody>
      </p:sp>
      <p:sp>
        <p:nvSpPr>
          <p:cNvPr id="33" name="Text 30"/>
          <p:cNvSpPr/>
          <p:nvPr/>
        </p:nvSpPr>
        <p:spPr>
          <a:xfrm>
            <a:off x="6702552" y="5961888"/>
            <a:ext cx="4334256" cy="118872"/>
          </a:xfrm>
          <a:prstGeom prst="rect">
            <a:avLst/>
          </a:prstGeom>
          <a:noFill/>
          <a:ln/>
        </p:spPr>
        <p:txBody>
          <a:bodyPr wrap="square" lIns="254" tIns="254" rIns="254" bIns="254" rtlCol="0" anchor="ctr">
            <a:normAutofit/>
          </a:bodyPr>
          <a:lstStyle/>
          <a:p>
            <a:pPr marL="0" indent="0">
              <a:buNone/>
            </a:pPr>
            <a:r>
              <a:rPr lang="en-US" sz="980" dirty="0">
                <a:solidFill>
                  <a:srgbClr val="CBD5E1"/>
                </a:solidFill>
              </a:rPr>
              <a:t>Live confirmation, tracking screens, delay alerts, and city-level operational KPIs.</a:t>
            </a:r>
            <a:endParaRPr lang="en-US" sz="980" dirty="0"/>
          </a:p>
        </p:txBody>
      </p:sp>
      <p:sp>
        <p:nvSpPr>
          <p:cNvPr id="34" name="Slide Number Placeholder 0"/>
          <p:cNvSpPr>
            <a:spLocks noGrp="1"/>
          </p:cNvSpPr>
          <p:nvPr>
            <p:ph type="sldNum" sz="quarter" idx="4294967295"/>
          </p:nvPr>
        </p:nvSpPr>
        <p:spPr>
          <a:xfrm>
            <a:off x="11539728"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94A3B8"/>
                </a:solidFill>
                <a:latin typeface="Aptos"/>
                <a:ea typeface="Aptos"/>
                <a:cs typeface="Aptos"/>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4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426"/>
          </a:solidFill>
          <a:ln w="12700">
            <a:solidFill>
              <a:srgbClr val="071426">
                <a:alpha val="0"/>
              </a:srgbClr>
            </a:solidFill>
            <a:prstDash val="solid"/>
          </a:ln>
        </p:spPr>
      </p:sp>
      <p:sp>
        <p:nvSpPr>
          <p:cNvPr id="3" name="Text 1"/>
          <p:cNvSpPr/>
          <p:nvPr/>
        </p:nvSpPr>
        <p:spPr>
          <a:xfrm>
            <a:off x="594360" y="292608"/>
            <a:ext cx="10789920" cy="384048"/>
          </a:xfrm>
          <a:prstGeom prst="rect">
            <a:avLst/>
          </a:prstGeom>
          <a:noFill/>
          <a:ln/>
        </p:spPr>
        <p:txBody>
          <a:bodyPr wrap="square" lIns="0" tIns="0" rIns="0" bIns="0" rtlCol="0" anchor="ctr"/>
          <a:lstStyle/>
          <a:p>
            <a:pPr marL="0" indent="0">
              <a:buNone/>
            </a:pPr>
            <a:r>
              <a:rPr lang="en-US" sz="2750" b="1" dirty="0">
                <a:solidFill>
                  <a:srgbClr val="FFFFFF"/>
                </a:solidFill>
                <a:latin typeface="Aptos Display" pitchFamily="34" charset="0"/>
                <a:ea typeface="Aptos Display" pitchFamily="34" charset="-122"/>
                <a:cs typeface="Aptos Display" pitchFamily="34" charset="-120"/>
              </a:rPr>
              <a:t>Streaming reference architecture</a:t>
            </a:r>
            <a:endParaRPr lang="en-US" sz="2750" dirty="0"/>
          </a:p>
        </p:txBody>
      </p:sp>
      <p:sp>
        <p:nvSpPr>
          <p:cNvPr id="4" name="Text 2"/>
          <p:cNvSpPr/>
          <p:nvPr/>
        </p:nvSpPr>
        <p:spPr>
          <a:xfrm>
            <a:off x="612648" y="768096"/>
            <a:ext cx="10424160" cy="219456"/>
          </a:xfrm>
          <a:prstGeom prst="rect">
            <a:avLst/>
          </a:prstGeom>
          <a:noFill/>
          <a:ln/>
        </p:spPr>
        <p:txBody>
          <a:bodyPr wrap="square" lIns="0" tIns="0" rIns="0" bIns="0" rtlCol="0" anchor="ctr"/>
          <a:lstStyle/>
          <a:p>
            <a:pPr marL="0" indent="0">
              <a:buNone/>
            </a:pPr>
            <a:r>
              <a:rPr lang="en-US" sz="1100" dirty="0">
                <a:solidFill>
                  <a:srgbClr val="94A3B8"/>
                </a:solidFill>
                <a:latin typeface="Aptos" pitchFamily="34" charset="0"/>
                <a:ea typeface="Aptos" pitchFamily="34" charset="-122"/>
                <a:cs typeface="Aptos" pitchFamily="34" charset="-120"/>
              </a:rPr>
              <a:t>Producer → broker → stream processor → sinks → consumers</a:t>
            </a:r>
            <a:endParaRPr lang="en-US" sz="1100" dirty="0"/>
          </a:p>
        </p:txBody>
      </p:sp>
      <p:pic>
        <p:nvPicPr>
          <p:cNvPr id="5" name="Image 0" descr="/mnt/data/a_high_tech_isometric_vector_illustration_of_a_dat.png"/>
          <p:cNvPicPr>
            <a:picLocks noChangeAspect="1"/>
          </p:cNvPicPr>
          <p:nvPr/>
        </p:nvPicPr>
        <p:blipFill>
          <a:blip r:embed="rId3"/>
          <a:srcRect t="27508" b="27508"/>
          <a:stretch/>
        </p:blipFill>
        <p:spPr>
          <a:xfrm>
            <a:off x="685800" y="1060704"/>
            <a:ext cx="10835640" cy="2743200"/>
          </a:xfrm>
          <a:prstGeom prst="rect">
            <a:avLst/>
          </a:prstGeom>
        </p:spPr>
      </p:pic>
      <p:sp>
        <p:nvSpPr>
          <p:cNvPr id="6" name="Shape 3"/>
          <p:cNvSpPr/>
          <p:nvPr/>
        </p:nvSpPr>
        <p:spPr>
          <a:xfrm>
            <a:off x="749808" y="4251960"/>
            <a:ext cx="1572768" cy="1115568"/>
          </a:xfrm>
          <a:prstGeom prst="roundRect">
            <a:avLst>
              <a:gd name="adj" fmla="val 6557"/>
            </a:avLst>
          </a:prstGeom>
          <a:solidFill>
            <a:srgbClr val="0F2138"/>
          </a:solidFill>
          <a:ln w="17780">
            <a:solidFill>
              <a:srgbClr val="22D3EE"/>
            </a:solidFill>
            <a:prstDash val="solid"/>
          </a:ln>
        </p:spPr>
      </p:sp>
      <p:sp>
        <p:nvSpPr>
          <p:cNvPr id="7" name="Text 4"/>
          <p:cNvSpPr/>
          <p:nvPr/>
        </p:nvSpPr>
        <p:spPr>
          <a:xfrm>
            <a:off x="822960" y="4398264"/>
            <a:ext cx="1426464" cy="182880"/>
          </a:xfrm>
          <a:prstGeom prst="rect">
            <a:avLst/>
          </a:prstGeom>
          <a:noFill/>
          <a:ln/>
        </p:spPr>
        <p:txBody>
          <a:bodyPr wrap="square" lIns="0" tIns="0" rIns="0" bIns="0" rtlCol="0" anchor="ctr"/>
          <a:lstStyle/>
          <a:p>
            <a:pPr marL="0" indent="0" algn="ctr">
              <a:buNone/>
            </a:pPr>
            <a:r>
              <a:rPr lang="en-US" sz="1180" b="1" dirty="0">
                <a:solidFill>
                  <a:srgbClr val="FFFFFF"/>
                </a:solidFill>
              </a:rPr>
              <a:t>Producers</a:t>
            </a:r>
            <a:endParaRPr lang="en-US" sz="1180" dirty="0"/>
          </a:p>
        </p:txBody>
      </p:sp>
      <p:sp>
        <p:nvSpPr>
          <p:cNvPr id="8" name="Text 5"/>
          <p:cNvSpPr/>
          <p:nvPr/>
        </p:nvSpPr>
        <p:spPr>
          <a:xfrm>
            <a:off x="841248" y="4672584"/>
            <a:ext cx="1389888" cy="612648"/>
          </a:xfrm>
          <a:prstGeom prst="rect">
            <a:avLst/>
          </a:prstGeom>
          <a:noFill/>
          <a:ln/>
        </p:spPr>
        <p:txBody>
          <a:bodyPr wrap="square" lIns="127" tIns="127" rIns="127" bIns="127" rtlCol="0" anchor="ctr">
            <a:normAutofit/>
          </a:bodyPr>
          <a:lstStyle/>
          <a:p>
            <a:pPr marL="0" indent="0" algn="ctr">
              <a:buNone/>
            </a:pPr>
            <a:r>
              <a:rPr lang="en-US" sz="850" dirty="0">
                <a:solidFill>
                  <a:srgbClr val="B9D9FF"/>
                </a:solidFill>
              </a:rPr>
              <a:t>mobile apps</a:t>
            </a:r>
            <a:endParaRPr lang="en-US" sz="850" dirty="0"/>
          </a:p>
          <a:p>
            <a:pPr marL="0" indent="0" algn="ctr">
              <a:buNone/>
            </a:pPr>
            <a:r>
              <a:rPr lang="en-US" sz="850" dirty="0">
                <a:solidFill>
                  <a:srgbClr val="B9D9FF"/>
                </a:solidFill>
              </a:rPr>
              <a:t>IoT devices</a:t>
            </a:r>
            <a:endParaRPr lang="en-US" sz="850" dirty="0"/>
          </a:p>
        </p:txBody>
      </p:sp>
      <p:sp>
        <p:nvSpPr>
          <p:cNvPr id="9" name="Shape 6"/>
          <p:cNvSpPr/>
          <p:nvPr/>
        </p:nvSpPr>
        <p:spPr>
          <a:xfrm>
            <a:off x="2414016" y="4700016"/>
            <a:ext cx="365760" cy="182880"/>
          </a:xfrm>
          <a:prstGeom prst="rightArrow">
            <a:avLst/>
          </a:prstGeom>
          <a:solidFill>
            <a:srgbClr val="22D3EE"/>
          </a:solidFill>
          <a:ln w="12700">
            <a:solidFill>
              <a:srgbClr val="22D3EE">
                <a:alpha val="0"/>
              </a:srgbClr>
            </a:solidFill>
            <a:prstDash val="solid"/>
          </a:ln>
        </p:spPr>
      </p:sp>
      <p:sp>
        <p:nvSpPr>
          <p:cNvPr id="10" name="Shape 7"/>
          <p:cNvSpPr/>
          <p:nvPr/>
        </p:nvSpPr>
        <p:spPr>
          <a:xfrm>
            <a:off x="2926080" y="4251960"/>
            <a:ext cx="1572768" cy="1115568"/>
          </a:xfrm>
          <a:prstGeom prst="roundRect">
            <a:avLst>
              <a:gd name="adj" fmla="val 6557"/>
            </a:avLst>
          </a:prstGeom>
          <a:solidFill>
            <a:srgbClr val="0F2138"/>
          </a:solidFill>
          <a:ln w="17780">
            <a:solidFill>
              <a:srgbClr val="A78BFA"/>
            </a:solidFill>
            <a:prstDash val="solid"/>
          </a:ln>
        </p:spPr>
      </p:sp>
      <p:sp>
        <p:nvSpPr>
          <p:cNvPr id="11" name="Text 8"/>
          <p:cNvSpPr/>
          <p:nvPr/>
        </p:nvSpPr>
        <p:spPr>
          <a:xfrm>
            <a:off x="2999232" y="4398264"/>
            <a:ext cx="1426464" cy="182880"/>
          </a:xfrm>
          <a:prstGeom prst="rect">
            <a:avLst/>
          </a:prstGeom>
          <a:noFill/>
          <a:ln/>
        </p:spPr>
        <p:txBody>
          <a:bodyPr wrap="square" lIns="0" tIns="0" rIns="0" bIns="0" rtlCol="0" anchor="ctr"/>
          <a:lstStyle/>
          <a:p>
            <a:pPr marL="0" indent="0" algn="ctr">
              <a:buNone/>
            </a:pPr>
            <a:r>
              <a:rPr lang="en-US" sz="1180" b="1" dirty="0">
                <a:solidFill>
                  <a:srgbClr val="FFFFFF"/>
                </a:solidFill>
              </a:rPr>
              <a:t>Broker</a:t>
            </a:r>
            <a:endParaRPr lang="en-US" sz="1180" dirty="0"/>
          </a:p>
        </p:txBody>
      </p:sp>
      <p:sp>
        <p:nvSpPr>
          <p:cNvPr id="12" name="Text 9"/>
          <p:cNvSpPr/>
          <p:nvPr/>
        </p:nvSpPr>
        <p:spPr>
          <a:xfrm>
            <a:off x="3017520" y="4672584"/>
            <a:ext cx="1389888" cy="612648"/>
          </a:xfrm>
          <a:prstGeom prst="rect">
            <a:avLst/>
          </a:prstGeom>
          <a:noFill/>
          <a:ln/>
        </p:spPr>
        <p:txBody>
          <a:bodyPr wrap="square" lIns="127" tIns="127" rIns="127" bIns="127" rtlCol="0" anchor="ctr">
            <a:normAutofit/>
          </a:bodyPr>
          <a:lstStyle/>
          <a:p>
            <a:pPr marL="0" indent="0" algn="ctr">
              <a:buNone/>
            </a:pPr>
            <a:r>
              <a:rPr lang="en-US" sz="850" dirty="0">
                <a:solidFill>
                  <a:srgbClr val="B9D9FF"/>
                </a:solidFill>
              </a:rPr>
              <a:t>Kafka / Event Hubs</a:t>
            </a:r>
            <a:endParaRPr lang="en-US" sz="850" dirty="0"/>
          </a:p>
          <a:p>
            <a:pPr marL="0" indent="0" algn="ctr">
              <a:buNone/>
            </a:pPr>
            <a:r>
              <a:rPr lang="en-US" sz="850" dirty="0">
                <a:solidFill>
                  <a:srgbClr val="B9D9FF"/>
                </a:solidFill>
              </a:rPr>
              <a:t>buffer + order</a:t>
            </a:r>
            <a:endParaRPr lang="en-US" sz="850" dirty="0"/>
          </a:p>
        </p:txBody>
      </p:sp>
      <p:sp>
        <p:nvSpPr>
          <p:cNvPr id="13" name="Shape 10"/>
          <p:cNvSpPr/>
          <p:nvPr/>
        </p:nvSpPr>
        <p:spPr>
          <a:xfrm>
            <a:off x="4590288" y="4700016"/>
            <a:ext cx="365760" cy="182880"/>
          </a:xfrm>
          <a:prstGeom prst="rightArrow">
            <a:avLst/>
          </a:prstGeom>
          <a:solidFill>
            <a:srgbClr val="22D3EE"/>
          </a:solidFill>
          <a:ln w="12700">
            <a:solidFill>
              <a:srgbClr val="22D3EE">
                <a:alpha val="0"/>
              </a:srgbClr>
            </a:solidFill>
            <a:prstDash val="solid"/>
          </a:ln>
        </p:spPr>
      </p:sp>
      <p:sp>
        <p:nvSpPr>
          <p:cNvPr id="14" name="Shape 11"/>
          <p:cNvSpPr/>
          <p:nvPr/>
        </p:nvSpPr>
        <p:spPr>
          <a:xfrm>
            <a:off x="5102352" y="4251960"/>
            <a:ext cx="1572768" cy="1115568"/>
          </a:xfrm>
          <a:prstGeom prst="roundRect">
            <a:avLst>
              <a:gd name="adj" fmla="val 6557"/>
            </a:avLst>
          </a:prstGeom>
          <a:solidFill>
            <a:srgbClr val="0F2138"/>
          </a:solidFill>
          <a:ln w="17780">
            <a:solidFill>
              <a:srgbClr val="60A5FA"/>
            </a:solidFill>
            <a:prstDash val="solid"/>
          </a:ln>
        </p:spPr>
      </p:sp>
      <p:sp>
        <p:nvSpPr>
          <p:cNvPr id="15" name="Text 12"/>
          <p:cNvSpPr/>
          <p:nvPr/>
        </p:nvSpPr>
        <p:spPr>
          <a:xfrm>
            <a:off x="5175504" y="4398264"/>
            <a:ext cx="1426464" cy="182880"/>
          </a:xfrm>
          <a:prstGeom prst="rect">
            <a:avLst/>
          </a:prstGeom>
          <a:noFill/>
          <a:ln/>
        </p:spPr>
        <p:txBody>
          <a:bodyPr wrap="square" lIns="0" tIns="0" rIns="0" bIns="0" rtlCol="0" anchor="ctr"/>
          <a:lstStyle/>
          <a:p>
            <a:pPr marL="0" indent="0" algn="ctr">
              <a:buNone/>
            </a:pPr>
            <a:r>
              <a:rPr lang="en-US" sz="1180" b="1" dirty="0">
                <a:solidFill>
                  <a:srgbClr val="FFFFFF"/>
                </a:solidFill>
              </a:rPr>
              <a:t>Processor</a:t>
            </a:r>
            <a:endParaRPr lang="en-US" sz="1180" dirty="0"/>
          </a:p>
        </p:txBody>
      </p:sp>
      <p:sp>
        <p:nvSpPr>
          <p:cNvPr id="16" name="Text 13"/>
          <p:cNvSpPr/>
          <p:nvPr/>
        </p:nvSpPr>
        <p:spPr>
          <a:xfrm>
            <a:off x="5193792" y="4672584"/>
            <a:ext cx="1389888" cy="612648"/>
          </a:xfrm>
          <a:prstGeom prst="rect">
            <a:avLst/>
          </a:prstGeom>
          <a:noFill/>
          <a:ln/>
        </p:spPr>
        <p:txBody>
          <a:bodyPr wrap="square" lIns="127" tIns="127" rIns="127" bIns="127" rtlCol="0" anchor="ctr">
            <a:normAutofit/>
          </a:bodyPr>
          <a:lstStyle/>
          <a:p>
            <a:pPr marL="0" indent="0" algn="ctr">
              <a:buNone/>
            </a:pPr>
            <a:r>
              <a:rPr lang="en-US" sz="850" dirty="0">
                <a:solidFill>
                  <a:srgbClr val="B9D9FF"/>
                </a:solidFill>
              </a:rPr>
              <a:t>Spark Structured</a:t>
            </a:r>
            <a:endParaRPr lang="en-US" sz="850" dirty="0"/>
          </a:p>
          <a:p>
            <a:pPr marL="0" indent="0" algn="ctr">
              <a:buNone/>
            </a:pPr>
            <a:r>
              <a:rPr lang="en-US" sz="850" dirty="0">
                <a:solidFill>
                  <a:srgbClr val="B9D9FF"/>
                </a:solidFill>
              </a:rPr>
              <a:t>Streaming</a:t>
            </a:r>
            <a:endParaRPr lang="en-US" sz="850" dirty="0"/>
          </a:p>
        </p:txBody>
      </p:sp>
      <p:sp>
        <p:nvSpPr>
          <p:cNvPr id="17" name="Shape 14"/>
          <p:cNvSpPr/>
          <p:nvPr/>
        </p:nvSpPr>
        <p:spPr>
          <a:xfrm>
            <a:off x="6766560" y="4700016"/>
            <a:ext cx="365760" cy="182880"/>
          </a:xfrm>
          <a:prstGeom prst="rightArrow">
            <a:avLst/>
          </a:prstGeom>
          <a:solidFill>
            <a:srgbClr val="22D3EE"/>
          </a:solidFill>
          <a:ln w="12700">
            <a:solidFill>
              <a:srgbClr val="22D3EE">
                <a:alpha val="0"/>
              </a:srgbClr>
            </a:solidFill>
            <a:prstDash val="solid"/>
          </a:ln>
        </p:spPr>
      </p:sp>
      <p:sp>
        <p:nvSpPr>
          <p:cNvPr id="18" name="Shape 15"/>
          <p:cNvSpPr/>
          <p:nvPr/>
        </p:nvSpPr>
        <p:spPr>
          <a:xfrm>
            <a:off x="7278624" y="4251960"/>
            <a:ext cx="1572768" cy="1115568"/>
          </a:xfrm>
          <a:prstGeom prst="roundRect">
            <a:avLst>
              <a:gd name="adj" fmla="val 6557"/>
            </a:avLst>
          </a:prstGeom>
          <a:solidFill>
            <a:srgbClr val="0F2138"/>
          </a:solidFill>
          <a:ln w="17780">
            <a:solidFill>
              <a:srgbClr val="34D399"/>
            </a:solidFill>
            <a:prstDash val="solid"/>
          </a:ln>
        </p:spPr>
      </p:sp>
      <p:sp>
        <p:nvSpPr>
          <p:cNvPr id="19" name="Text 16"/>
          <p:cNvSpPr/>
          <p:nvPr/>
        </p:nvSpPr>
        <p:spPr>
          <a:xfrm>
            <a:off x="7351776" y="4398264"/>
            <a:ext cx="1426464" cy="182880"/>
          </a:xfrm>
          <a:prstGeom prst="rect">
            <a:avLst/>
          </a:prstGeom>
          <a:noFill/>
          <a:ln/>
        </p:spPr>
        <p:txBody>
          <a:bodyPr wrap="square" lIns="0" tIns="0" rIns="0" bIns="0" rtlCol="0" anchor="ctr"/>
          <a:lstStyle/>
          <a:p>
            <a:pPr marL="0" indent="0" algn="ctr">
              <a:buNone/>
            </a:pPr>
            <a:r>
              <a:rPr lang="en-US" sz="1180" b="1" dirty="0">
                <a:solidFill>
                  <a:srgbClr val="FFFFFF"/>
                </a:solidFill>
              </a:rPr>
              <a:t>Sinks</a:t>
            </a:r>
            <a:endParaRPr lang="en-US" sz="1180" dirty="0"/>
          </a:p>
        </p:txBody>
      </p:sp>
      <p:sp>
        <p:nvSpPr>
          <p:cNvPr id="20" name="Text 17"/>
          <p:cNvSpPr/>
          <p:nvPr/>
        </p:nvSpPr>
        <p:spPr>
          <a:xfrm>
            <a:off x="7370064" y="4672584"/>
            <a:ext cx="1389888" cy="612648"/>
          </a:xfrm>
          <a:prstGeom prst="rect">
            <a:avLst/>
          </a:prstGeom>
          <a:noFill/>
          <a:ln/>
        </p:spPr>
        <p:txBody>
          <a:bodyPr wrap="square" lIns="127" tIns="127" rIns="127" bIns="127" rtlCol="0" anchor="ctr">
            <a:normAutofit/>
          </a:bodyPr>
          <a:lstStyle/>
          <a:p>
            <a:pPr marL="0" indent="0" algn="ctr">
              <a:buNone/>
            </a:pPr>
            <a:r>
              <a:rPr lang="en-US" sz="850" dirty="0">
                <a:solidFill>
                  <a:srgbClr val="B9D9FF"/>
                </a:solidFill>
              </a:rPr>
              <a:t>Delta / DB</a:t>
            </a:r>
            <a:endParaRPr lang="en-US" sz="850" dirty="0"/>
          </a:p>
          <a:p>
            <a:pPr marL="0" indent="0" algn="ctr">
              <a:buNone/>
            </a:pPr>
            <a:r>
              <a:rPr lang="en-US" sz="850" dirty="0">
                <a:solidFill>
                  <a:srgbClr val="B9D9FF"/>
                </a:solidFill>
              </a:rPr>
              <a:t>dashboard / alert</a:t>
            </a:r>
            <a:endParaRPr lang="en-US" sz="850" dirty="0"/>
          </a:p>
        </p:txBody>
      </p:sp>
      <p:sp>
        <p:nvSpPr>
          <p:cNvPr id="21" name="Shape 18"/>
          <p:cNvSpPr/>
          <p:nvPr/>
        </p:nvSpPr>
        <p:spPr>
          <a:xfrm>
            <a:off x="8942832" y="4700016"/>
            <a:ext cx="365760" cy="182880"/>
          </a:xfrm>
          <a:prstGeom prst="rightArrow">
            <a:avLst/>
          </a:prstGeom>
          <a:solidFill>
            <a:srgbClr val="22D3EE"/>
          </a:solidFill>
          <a:ln w="12700">
            <a:solidFill>
              <a:srgbClr val="22D3EE">
                <a:alpha val="0"/>
              </a:srgbClr>
            </a:solidFill>
            <a:prstDash val="solid"/>
          </a:ln>
        </p:spPr>
      </p:sp>
      <p:sp>
        <p:nvSpPr>
          <p:cNvPr id="22" name="Shape 19"/>
          <p:cNvSpPr/>
          <p:nvPr/>
        </p:nvSpPr>
        <p:spPr>
          <a:xfrm>
            <a:off x="9454896" y="4251960"/>
            <a:ext cx="1572768" cy="1115568"/>
          </a:xfrm>
          <a:prstGeom prst="roundRect">
            <a:avLst>
              <a:gd name="adj" fmla="val 6557"/>
            </a:avLst>
          </a:prstGeom>
          <a:solidFill>
            <a:srgbClr val="0F2138"/>
          </a:solidFill>
          <a:ln w="17780">
            <a:solidFill>
              <a:srgbClr val="FB923C"/>
            </a:solidFill>
            <a:prstDash val="solid"/>
          </a:ln>
        </p:spPr>
      </p:sp>
      <p:sp>
        <p:nvSpPr>
          <p:cNvPr id="23" name="Text 20"/>
          <p:cNvSpPr/>
          <p:nvPr/>
        </p:nvSpPr>
        <p:spPr>
          <a:xfrm>
            <a:off x="9528048" y="4398264"/>
            <a:ext cx="1426464" cy="182880"/>
          </a:xfrm>
          <a:prstGeom prst="rect">
            <a:avLst/>
          </a:prstGeom>
          <a:noFill/>
          <a:ln/>
        </p:spPr>
        <p:txBody>
          <a:bodyPr wrap="square" lIns="0" tIns="0" rIns="0" bIns="0" rtlCol="0" anchor="ctr"/>
          <a:lstStyle/>
          <a:p>
            <a:pPr marL="0" indent="0" algn="ctr">
              <a:buNone/>
            </a:pPr>
            <a:r>
              <a:rPr lang="en-US" sz="1180" b="1" dirty="0">
                <a:solidFill>
                  <a:srgbClr val="FFFFFF"/>
                </a:solidFill>
              </a:rPr>
              <a:t>Consumers</a:t>
            </a:r>
            <a:endParaRPr lang="en-US" sz="1180" dirty="0"/>
          </a:p>
        </p:txBody>
      </p:sp>
      <p:sp>
        <p:nvSpPr>
          <p:cNvPr id="24" name="Text 21"/>
          <p:cNvSpPr/>
          <p:nvPr/>
        </p:nvSpPr>
        <p:spPr>
          <a:xfrm>
            <a:off x="9546336" y="4672584"/>
            <a:ext cx="1389888" cy="612648"/>
          </a:xfrm>
          <a:prstGeom prst="rect">
            <a:avLst/>
          </a:prstGeom>
          <a:noFill/>
          <a:ln/>
        </p:spPr>
        <p:txBody>
          <a:bodyPr wrap="square" lIns="127" tIns="127" rIns="127" bIns="127" rtlCol="0" anchor="ctr">
            <a:normAutofit/>
          </a:bodyPr>
          <a:lstStyle/>
          <a:p>
            <a:pPr marL="0" indent="0" algn="ctr">
              <a:buNone/>
            </a:pPr>
            <a:r>
              <a:rPr lang="en-US" sz="850" dirty="0">
                <a:solidFill>
                  <a:srgbClr val="B9D9FF"/>
                </a:solidFill>
              </a:rPr>
              <a:t>users</a:t>
            </a:r>
            <a:endParaRPr lang="en-US" sz="850" dirty="0"/>
          </a:p>
          <a:p>
            <a:pPr marL="0" indent="0" algn="ctr">
              <a:buNone/>
            </a:pPr>
            <a:r>
              <a:rPr lang="en-US" sz="850" dirty="0">
                <a:solidFill>
                  <a:srgbClr val="B9D9FF"/>
                </a:solidFill>
              </a:rPr>
              <a:t>ops services</a:t>
            </a:r>
            <a:endParaRPr lang="en-US" sz="850" dirty="0"/>
          </a:p>
        </p:txBody>
      </p:sp>
      <p:sp>
        <p:nvSpPr>
          <p:cNvPr id="25" name="Shape 22"/>
          <p:cNvSpPr/>
          <p:nvPr/>
        </p:nvSpPr>
        <p:spPr>
          <a:xfrm>
            <a:off x="2377440" y="5806440"/>
            <a:ext cx="2560320" cy="292608"/>
          </a:xfrm>
          <a:prstGeom prst="roundRect">
            <a:avLst>
              <a:gd name="adj" fmla="val 25000"/>
            </a:avLst>
          </a:prstGeom>
          <a:solidFill>
            <a:srgbClr val="A78BFA">
              <a:alpha val="12000"/>
            </a:srgbClr>
          </a:solidFill>
          <a:ln w="10160">
            <a:solidFill>
              <a:srgbClr val="A78BFA">
                <a:alpha val="65000"/>
              </a:srgbClr>
            </a:solidFill>
            <a:prstDash val="solid"/>
          </a:ln>
        </p:spPr>
      </p:sp>
      <p:sp>
        <p:nvSpPr>
          <p:cNvPr id="26" name="Text 23"/>
          <p:cNvSpPr/>
          <p:nvPr/>
        </p:nvSpPr>
        <p:spPr>
          <a:xfrm>
            <a:off x="2450592" y="5879592"/>
            <a:ext cx="2414016" cy="109728"/>
          </a:xfrm>
          <a:prstGeom prst="rect">
            <a:avLst/>
          </a:prstGeom>
          <a:noFill/>
          <a:ln/>
        </p:spPr>
        <p:txBody>
          <a:bodyPr wrap="square" lIns="0" tIns="0" rIns="0" bIns="0" rtlCol="0" anchor="ctr"/>
          <a:lstStyle/>
          <a:p>
            <a:pPr marL="0" indent="0" algn="ctr">
              <a:buNone/>
            </a:pPr>
            <a:r>
              <a:rPr lang="en-US" sz="750" b="1" dirty="0">
                <a:solidFill>
                  <a:srgbClr val="A78BFA"/>
                </a:solidFill>
              </a:rPr>
              <a:t>broker decouples producers and consumers</a:t>
            </a:r>
            <a:endParaRPr lang="en-US" sz="750" dirty="0"/>
          </a:p>
        </p:txBody>
      </p:sp>
      <p:sp>
        <p:nvSpPr>
          <p:cNvPr id="27" name="Shape 24"/>
          <p:cNvSpPr/>
          <p:nvPr/>
        </p:nvSpPr>
        <p:spPr>
          <a:xfrm>
            <a:off x="5257800" y="5806440"/>
            <a:ext cx="1965960" cy="292608"/>
          </a:xfrm>
          <a:prstGeom prst="roundRect">
            <a:avLst>
              <a:gd name="adj" fmla="val 25000"/>
            </a:avLst>
          </a:prstGeom>
          <a:solidFill>
            <a:srgbClr val="22D3EE">
              <a:alpha val="12000"/>
            </a:srgbClr>
          </a:solidFill>
          <a:ln w="10160">
            <a:solidFill>
              <a:srgbClr val="22D3EE">
                <a:alpha val="65000"/>
              </a:srgbClr>
            </a:solidFill>
            <a:prstDash val="solid"/>
          </a:ln>
        </p:spPr>
      </p:sp>
      <p:sp>
        <p:nvSpPr>
          <p:cNvPr id="28" name="Text 25"/>
          <p:cNvSpPr/>
          <p:nvPr/>
        </p:nvSpPr>
        <p:spPr>
          <a:xfrm>
            <a:off x="5330952" y="5879592"/>
            <a:ext cx="1819656" cy="109728"/>
          </a:xfrm>
          <a:prstGeom prst="rect">
            <a:avLst/>
          </a:prstGeom>
          <a:noFill/>
          <a:ln/>
        </p:spPr>
        <p:txBody>
          <a:bodyPr wrap="square" lIns="0" tIns="0" rIns="0" bIns="0" rtlCol="0" anchor="ctr"/>
          <a:lstStyle/>
          <a:p>
            <a:pPr marL="0" indent="0" algn="ctr">
              <a:buNone/>
            </a:pPr>
            <a:r>
              <a:rPr lang="en-US" sz="750" b="1" dirty="0">
                <a:solidFill>
                  <a:srgbClr val="22D3EE"/>
                </a:solidFill>
              </a:rPr>
              <a:t>checkpoint stores progress</a:t>
            </a:r>
            <a:endParaRPr lang="en-US" sz="750" dirty="0"/>
          </a:p>
        </p:txBody>
      </p:sp>
      <p:sp>
        <p:nvSpPr>
          <p:cNvPr id="29" name="Shape 26"/>
          <p:cNvSpPr/>
          <p:nvPr/>
        </p:nvSpPr>
        <p:spPr>
          <a:xfrm>
            <a:off x="7498080" y="5806440"/>
            <a:ext cx="2148840" cy="292608"/>
          </a:xfrm>
          <a:prstGeom prst="roundRect">
            <a:avLst>
              <a:gd name="adj" fmla="val 25000"/>
            </a:avLst>
          </a:prstGeom>
          <a:solidFill>
            <a:srgbClr val="34D399">
              <a:alpha val="12000"/>
            </a:srgbClr>
          </a:solidFill>
          <a:ln w="10160">
            <a:solidFill>
              <a:srgbClr val="34D399">
                <a:alpha val="65000"/>
              </a:srgbClr>
            </a:solidFill>
            <a:prstDash val="solid"/>
          </a:ln>
        </p:spPr>
      </p:sp>
      <p:sp>
        <p:nvSpPr>
          <p:cNvPr id="30" name="Text 27"/>
          <p:cNvSpPr/>
          <p:nvPr/>
        </p:nvSpPr>
        <p:spPr>
          <a:xfrm>
            <a:off x="7571232" y="5879592"/>
            <a:ext cx="2002536" cy="109728"/>
          </a:xfrm>
          <a:prstGeom prst="rect">
            <a:avLst/>
          </a:prstGeom>
          <a:noFill/>
          <a:ln/>
        </p:spPr>
        <p:txBody>
          <a:bodyPr wrap="square" lIns="0" tIns="0" rIns="0" bIns="0" rtlCol="0" anchor="ctr"/>
          <a:lstStyle/>
          <a:p>
            <a:pPr marL="0" indent="0" algn="ctr">
              <a:buNone/>
            </a:pPr>
            <a:r>
              <a:rPr lang="en-US" sz="750" b="1" dirty="0">
                <a:solidFill>
                  <a:srgbClr val="34D399"/>
                </a:solidFill>
              </a:rPr>
              <a:t>sink makes results usable</a:t>
            </a:r>
            <a:endParaRPr lang="en-US" sz="750" dirty="0"/>
          </a:p>
        </p:txBody>
      </p:sp>
      <p:sp>
        <p:nvSpPr>
          <p:cNvPr id="31" name="Slide Number Placeholder 0"/>
          <p:cNvSpPr>
            <a:spLocks noGrp="1"/>
          </p:cNvSpPr>
          <p:nvPr>
            <p:ph type="sldNum" sz="quarter" idx="4294967295"/>
          </p:nvPr>
        </p:nvSpPr>
        <p:spPr>
          <a:xfrm>
            <a:off x="11539728"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94A3B8"/>
                </a:solidFill>
                <a:latin typeface="Aptos"/>
                <a:ea typeface="Aptos"/>
                <a:cs typeface="Aptos"/>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4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426"/>
          </a:solidFill>
          <a:ln w="12700">
            <a:solidFill>
              <a:srgbClr val="071426">
                <a:alpha val="0"/>
              </a:srgbClr>
            </a:solidFill>
            <a:prstDash val="solid"/>
          </a:ln>
        </p:spPr>
      </p:sp>
      <p:sp>
        <p:nvSpPr>
          <p:cNvPr id="3" name="Text 1"/>
          <p:cNvSpPr/>
          <p:nvPr/>
        </p:nvSpPr>
        <p:spPr>
          <a:xfrm>
            <a:off x="594360" y="292608"/>
            <a:ext cx="10789920" cy="384048"/>
          </a:xfrm>
          <a:prstGeom prst="rect">
            <a:avLst/>
          </a:prstGeom>
          <a:noFill/>
          <a:ln/>
        </p:spPr>
        <p:txBody>
          <a:bodyPr wrap="square" lIns="0" tIns="0" rIns="0" bIns="0" rtlCol="0" anchor="ctr"/>
          <a:lstStyle/>
          <a:p>
            <a:pPr marL="0" indent="0">
              <a:buNone/>
            </a:pPr>
            <a:r>
              <a:rPr lang="en-US" sz="2750" b="1" dirty="0">
                <a:solidFill>
                  <a:srgbClr val="FFFFFF"/>
                </a:solidFill>
                <a:latin typeface="Aptos Display" pitchFamily="34" charset="0"/>
                <a:ea typeface="Aptos Display" pitchFamily="34" charset="-122"/>
                <a:cs typeface="Aptos Display" pitchFamily="34" charset="-120"/>
              </a:rPr>
              <a:t>Core concepts</a:t>
            </a:r>
            <a:endParaRPr lang="en-US" sz="2750" dirty="0"/>
          </a:p>
        </p:txBody>
      </p:sp>
      <p:sp>
        <p:nvSpPr>
          <p:cNvPr id="4" name="Text 2"/>
          <p:cNvSpPr/>
          <p:nvPr/>
        </p:nvSpPr>
        <p:spPr>
          <a:xfrm>
            <a:off x="612648" y="768096"/>
            <a:ext cx="10424160" cy="219456"/>
          </a:xfrm>
          <a:prstGeom prst="rect">
            <a:avLst/>
          </a:prstGeom>
          <a:noFill/>
          <a:ln/>
        </p:spPr>
        <p:txBody>
          <a:bodyPr wrap="square" lIns="0" tIns="0" rIns="0" bIns="0" rtlCol="0" anchor="ctr"/>
          <a:lstStyle/>
          <a:p>
            <a:pPr marL="0" indent="0">
              <a:buNone/>
            </a:pPr>
            <a:r>
              <a:rPr lang="en-US" sz="1100" dirty="0">
                <a:solidFill>
                  <a:srgbClr val="94A3B8"/>
                </a:solidFill>
                <a:latin typeface="Aptos" pitchFamily="34" charset="0"/>
                <a:ea typeface="Aptos" pitchFamily="34" charset="-122"/>
                <a:cs typeface="Aptos" pitchFamily="34" charset="-120"/>
              </a:rPr>
              <a:t>These ideas explain how streaming systems stay correct and recoverable.</a:t>
            </a:r>
            <a:endParaRPr lang="en-US" sz="1100" dirty="0"/>
          </a:p>
        </p:txBody>
      </p:sp>
      <p:sp>
        <p:nvSpPr>
          <p:cNvPr id="5" name="Shape 3"/>
          <p:cNvSpPr/>
          <p:nvPr/>
        </p:nvSpPr>
        <p:spPr>
          <a:xfrm>
            <a:off x="777240" y="1335024"/>
            <a:ext cx="3182112" cy="1298448"/>
          </a:xfrm>
          <a:prstGeom prst="roundRect">
            <a:avLst>
              <a:gd name="adj" fmla="val 5634"/>
            </a:avLst>
          </a:prstGeom>
          <a:solidFill>
            <a:srgbClr val="0F2138"/>
          </a:solidFill>
          <a:ln w="12700">
            <a:solidFill>
              <a:srgbClr val="224668"/>
            </a:solidFill>
            <a:prstDash val="solid"/>
          </a:ln>
        </p:spPr>
      </p:sp>
      <p:sp>
        <p:nvSpPr>
          <p:cNvPr id="6" name="Shape 4"/>
          <p:cNvSpPr/>
          <p:nvPr/>
        </p:nvSpPr>
        <p:spPr>
          <a:xfrm>
            <a:off x="777240" y="1335024"/>
            <a:ext cx="54864" cy="1298448"/>
          </a:xfrm>
          <a:prstGeom prst="rect">
            <a:avLst/>
          </a:prstGeom>
          <a:solidFill>
            <a:srgbClr val="22D3EE"/>
          </a:solidFill>
          <a:ln w="12700">
            <a:solidFill>
              <a:srgbClr val="22D3EE">
                <a:alpha val="0"/>
              </a:srgbClr>
            </a:solidFill>
            <a:prstDash val="solid"/>
          </a:ln>
        </p:spPr>
      </p:sp>
      <p:sp>
        <p:nvSpPr>
          <p:cNvPr id="7" name="Text 5"/>
          <p:cNvSpPr/>
          <p:nvPr/>
        </p:nvSpPr>
        <p:spPr>
          <a:xfrm>
            <a:off x="941832" y="1463040"/>
            <a:ext cx="2852928" cy="201168"/>
          </a:xfrm>
          <a:prstGeom prst="rect">
            <a:avLst/>
          </a:prstGeom>
          <a:noFill/>
          <a:ln/>
        </p:spPr>
        <p:txBody>
          <a:bodyPr wrap="square" lIns="0" tIns="0" rIns="0" bIns="0" rtlCol="0" anchor="ctr"/>
          <a:lstStyle/>
          <a:p>
            <a:pPr marL="0" indent="0">
              <a:buNone/>
            </a:pPr>
            <a:r>
              <a:rPr lang="en-US" sz="1280" b="1" dirty="0">
                <a:solidFill>
                  <a:srgbClr val="FFFFFF"/>
                </a:solidFill>
              </a:rPr>
              <a:t>Event</a:t>
            </a:r>
            <a:endParaRPr lang="en-US" sz="1280" dirty="0"/>
          </a:p>
        </p:txBody>
      </p:sp>
      <p:sp>
        <p:nvSpPr>
          <p:cNvPr id="8" name="Text 6"/>
          <p:cNvSpPr/>
          <p:nvPr/>
        </p:nvSpPr>
        <p:spPr>
          <a:xfrm>
            <a:off x="941832" y="1792224"/>
            <a:ext cx="2852928" cy="731520"/>
          </a:xfrm>
          <a:prstGeom prst="rect">
            <a:avLst/>
          </a:prstGeom>
          <a:noFill/>
          <a:ln/>
        </p:spPr>
        <p:txBody>
          <a:bodyPr wrap="square" lIns="254" tIns="254" rIns="254" bIns="254" rtlCol="0" anchor="ctr">
            <a:normAutofit/>
          </a:bodyPr>
          <a:lstStyle/>
          <a:p>
            <a:pPr marL="0" indent="0">
              <a:buNone/>
            </a:pPr>
            <a:r>
              <a:rPr lang="en-US" sz="980" dirty="0">
                <a:solidFill>
                  <a:srgbClr val="CBD5E1"/>
                </a:solidFill>
              </a:rPr>
              <a:t>A small record that says something happened at a specific time.</a:t>
            </a:r>
            <a:endParaRPr lang="en-US" sz="980" dirty="0"/>
          </a:p>
        </p:txBody>
      </p:sp>
      <p:sp>
        <p:nvSpPr>
          <p:cNvPr id="9" name="Shape 7"/>
          <p:cNvSpPr/>
          <p:nvPr/>
        </p:nvSpPr>
        <p:spPr>
          <a:xfrm>
            <a:off x="4462272" y="1335024"/>
            <a:ext cx="3182112" cy="1298448"/>
          </a:xfrm>
          <a:prstGeom prst="roundRect">
            <a:avLst>
              <a:gd name="adj" fmla="val 5634"/>
            </a:avLst>
          </a:prstGeom>
          <a:solidFill>
            <a:srgbClr val="0F2138"/>
          </a:solidFill>
          <a:ln w="12700">
            <a:solidFill>
              <a:srgbClr val="224668"/>
            </a:solidFill>
            <a:prstDash val="solid"/>
          </a:ln>
        </p:spPr>
      </p:sp>
      <p:sp>
        <p:nvSpPr>
          <p:cNvPr id="10" name="Shape 8"/>
          <p:cNvSpPr/>
          <p:nvPr/>
        </p:nvSpPr>
        <p:spPr>
          <a:xfrm>
            <a:off x="4462272" y="1335024"/>
            <a:ext cx="54864" cy="1298448"/>
          </a:xfrm>
          <a:prstGeom prst="rect">
            <a:avLst/>
          </a:prstGeom>
          <a:solidFill>
            <a:srgbClr val="34D399"/>
          </a:solidFill>
          <a:ln w="12700">
            <a:solidFill>
              <a:srgbClr val="34D399">
                <a:alpha val="0"/>
              </a:srgbClr>
            </a:solidFill>
            <a:prstDash val="solid"/>
          </a:ln>
        </p:spPr>
      </p:sp>
      <p:sp>
        <p:nvSpPr>
          <p:cNvPr id="11" name="Text 9"/>
          <p:cNvSpPr/>
          <p:nvPr/>
        </p:nvSpPr>
        <p:spPr>
          <a:xfrm>
            <a:off x="4626864" y="1463040"/>
            <a:ext cx="2852928" cy="201168"/>
          </a:xfrm>
          <a:prstGeom prst="rect">
            <a:avLst/>
          </a:prstGeom>
          <a:noFill/>
          <a:ln/>
        </p:spPr>
        <p:txBody>
          <a:bodyPr wrap="square" lIns="0" tIns="0" rIns="0" bIns="0" rtlCol="0" anchor="ctr"/>
          <a:lstStyle/>
          <a:p>
            <a:pPr marL="0" indent="0">
              <a:buNone/>
            </a:pPr>
            <a:r>
              <a:rPr lang="en-US" sz="1280" b="1" dirty="0">
                <a:solidFill>
                  <a:srgbClr val="FFFFFF"/>
                </a:solidFill>
              </a:rPr>
              <a:t>Event time</a:t>
            </a:r>
            <a:endParaRPr lang="en-US" sz="1280" dirty="0"/>
          </a:p>
        </p:txBody>
      </p:sp>
      <p:sp>
        <p:nvSpPr>
          <p:cNvPr id="12" name="Text 10"/>
          <p:cNvSpPr/>
          <p:nvPr/>
        </p:nvSpPr>
        <p:spPr>
          <a:xfrm>
            <a:off x="4626864" y="1792224"/>
            <a:ext cx="2852928" cy="731520"/>
          </a:xfrm>
          <a:prstGeom prst="rect">
            <a:avLst/>
          </a:prstGeom>
          <a:noFill/>
          <a:ln/>
        </p:spPr>
        <p:txBody>
          <a:bodyPr wrap="square" lIns="254" tIns="254" rIns="254" bIns="254" rtlCol="0" anchor="ctr">
            <a:normAutofit/>
          </a:bodyPr>
          <a:lstStyle/>
          <a:p>
            <a:pPr marL="0" indent="0">
              <a:buNone/>
            </a:pPr>
            <a:r>
              <a:rPr lang="en-US" sz="980" dirty="0">
                <a:solidFill>
                  <a:srgbClr val="CBD5E1"/>
                </a:solidFill>
              </a:rPr>
              <a:t>When the real-world activity actually happened.</a:t>
            </a:r>
            <a:endParaRPr lang="en-US" sz="980" dirty="0"/>
          </a:p>
        </p:txBody>
      </p:sp>
      <p:sp>
        <p:nvSpPr>
          <p:cNvPr id="13" name="Shape 11"/>
          <p:cNvSpPr/>
          <p:nvPr/>
        </p:nvSpPr>
        <p:spPr>
          <a:xfrm>
            <a:off x="8147304" y="1335024"/>
            <a:ext cx="3182112" cy="1298448"/>
          </a:xfrm>
          <a:prstGeom prst="roundRect">
            <a:avLst>
              <a:gd name="adj" fmla="val 5634"/>
            </a:avLst>
          </a:prstGeom>
          <a:solidFill>
            <a:srgbClr val="0F2138"/>
          </a:solidFill>
          <a:ln w="12700">
            <a:solidFill>
              <a:srgbClr val="224668"/>
            </a:solidFill>
            <a:prstDash val="solid"/>
          </a:ln>
        </p:spPr>
      </p:sp>
      <p:sp>
        <p:nvSpPr>
          <p:cNvPr id="14" name="Shape 12"/>
          <p:cNvSpPr/>
          <p:nvPr/>
        </p:nvSpPr>
        <p:spPr>
          <a:xfrm>
            <a:off x="8147304" y="1335024"/>
            <a:ext cx="54864" cy="1298448"/>
          </a:xfrm>
          <a:prstGeom prst="rect">
            <a:avLst/>
          </a:prstGeom>
          <a:solidFill>
            <a:srgbClr val="60A5FA"/>
          </a:solidFill>
          <a:ln w="12700">
            <a:solidFill>
              <a:srgbClr val="60A5FA">
                <a:alpha val="0"/>
              </a:srgbClr>
            </a:solidFill>
            <a:prstDash val="solid"/>
          </a:ln>
        </p:spPr>
      </p:sp>
      <p:sp>
        <p:nvSpPr>
          <p:cNvPr id="15" name="Text 13"/>
          <p:cNvSpPr/>
          <p:nvPr/>
        </p:nvSpPr>
        <p:spPr>
          <a:xfrm>
            <a:off x="8311896" y="1463040"/>
            <a:ext cx="2852928" cy="201168"/>
          </a:xfrm>
          <a:prstGeom prst="rect">
            <a:avLst/>
          </a:prstGeom>
          <a:noFill/>
          <a:ln/>
        </p:spPr>
        <p:txBody>
          <a:bodyPr wrap="square" lIns="0" tIns="0" rIns="0" bIns="0" rtlCol="0" anchor="ctr"/>
          <a:lstStyle/>
          <a:p>
            <a:pPr marL="0" indent="0">
              <a:buNone/>
            </a:pPr>
            <a:r>
              <a:rPr lang="en-US" sz="1280" b="1" dirty="0">
                <a:solidFill>
                  <a:srgbClr val="FFFFFF"/>
                </a:solidFill>
              </a:rPr>
              <a:t>Processing time</a:t>
            </a:r>
            <a:endParaRPr lang="en-US" sz="1280" dirty="0"/>
          </a:p>
        </p:txBody>
      </p:sp>
      <p:sp>
        <p:nvSpPr>
          <p:cNvPr id="16" name="Text 14"/>
          <p:cNvSpPr/>
          <p:nvPr/>
        </p:nvSpPr>
        <p:spPr>
          <a:xfrm>
            <a:off x="8311896" y="1792224"/>
            <a:ext cx="2852928" cy="731520"/>
          </a:xfrm>
          <a:prstGeom prst="rect">
            <a:avLst/>
          </a:prstGeom>
          <a:noFill/>
          <a:ln/>
        </p:spPr>
        <p:txBody>
          <a:bodyPr wrap="square" lIns="254" tIns="254" rIns="254" bIns="254" rtlCol="0" anchor="ctr">
            <a:normAutofit/>
          </a:bodyPr>
          <a:lstStyle/>
          <a:p>
            <a:pPr marL="0" indent="0">
              <a:buNone/>
            </a:pPr>
            <a:r>
              <a:rPr lang="en-US" sz="980" dirty="0">
                <a:solidFill>
                  <a:srgbClr val="CBD5E1"/>
                </a:solidFill>
              </a:rPr>
              <a:t>When the streaming engine processed the event.</a:t>
            </a:r>
            <a:endParaRPr lang="en-US" sz="980" dirty="0"/>
          </a:p>
        </p:txBody>
      </p:sp>
      <p:sp>
        <p:nvSpPr>
          <p:cNvPr id="17" name="Shape 15"/>
          <p:cNvSpPr/>
          <p:nvPr/>
        </p:nvSpPr>
        <p:spPr>
          <a:xfrm>
            <a:off x="777240" y="3163824"/>
            <a:ext cx="3182112" cy="1298448"/>
          </a:xfrm>
          <a:prstGeom prst="roundRect">
            <a:avLst>
              <a:gd name="adj" fmla="val 5634"/>
            </a:avLst>
          </a:prstGeom>
          <a:solidFill>
            <a:srgbClr val="0F2138"/>
          </a:solidFill>
          <a:ln w="12700">
            <a:solidFill>
              <a:srgbClr val="224668"/>
            </a:solidFill>
            <a:prstDash val="solid"/>
          </a:ln>
        </p:spPr>
      </p:sp>
      <p:sp>
        <p:nvSpPr>
          <p:cNvPr id="18" name="Shape 16"/>
          <p:cNvSpPr/>
          <p:nvPr/>
        </p:nvSpPr>
        <p:spPr>
          <a:xfrm>
            <a:off x="777240" y="3163824"/>
            <a:ext cx="54864" cy="1298448"/>
          </a:xfrm>
          <a:prstGeom prst="rect">
            <a:avLst/>
          </a:prstGeom>
          <a:solidFill>
            <a:srgbClr val="A78BFA"/>
          </a:solidFill>
          <a:ln w="12700">
            <a:solidFill>
              <a:srgbClr val="A78BFA">
                <a:alpha val="0"/>
              </a:srgbClr>
            </a:solidFill>
            <a:prstDash val="solid"/>
          </a:ln>
        </p:spPr>
      </p:sp>
      <p:sp>
        <p:nvSpPr>
          <p:cNvPr id="19" name="Text 17"/>
          <p:cNvSpPr/>
          <p:nvPr/>
        </p:nvSpPr>
        <p:spPr>
          <a:xfrm>
            <a:off x="941832" y="3291840"/>
            <a:ext cx="2852928" cy="201168"/>
          </a:xfrm>
          <a:prstGeom prst="rect">
            <a:avLst/>
          </a:prstGeom>
          <a:noFill/>
          <a:ln/>
        </p:spPr>
        <p:txBody>
          <a:bodyPr wrap="square" lIns="0" tIns="0" rIns="0" bIns="0" rtlCol="0" anchor="ctr"/>
          <a:lstStyle/>
          <a:p>
            <a:pPr marL="0" indent="0">
              <a:buNone/>
            </a:pPr>
            <a:r>
              <a:rPr lang="en-US" sz="1280" b="1" dirty="0">
                <a:solidFill>
                  <a:srgbClr val="FFFFFF"/>
                </a:solidFill>
              </a:rPr>
              <a:t>Window</a:t>
            </a:r>
            <a:endParaRPr lang="en-US" sz="1280" dirty="0"/>
          </a:p>
        </p:txBody>
      </p:sp>
      <p:sp>
        <p:nvSpPr>
          <p:cNvPr id="20" name="Text 18"/>
          <p:cNvSpPr/>
          <p:nvPr/>
        </p:nvSpPr>
        <p:spPr>
          <a:xfrm>
            <a:off x="941832" y="3621024"/>
            <a:ext cx="2852928" cy="731520"/>
          </a:xfrm>
          <a:prstGeom prst="rect">
            <a:avLst/>
          </a:prstGeom>
          <a:noFill/>
          <a:ln/>
        </p:spPr>
        <p:txBody>
          <a:bodyPr wrap="square" lIns="254" tIns="254" rIns="254" bIns="254" rtlCol="0" anchor="ctr">
            <a:normAutofit/>
          </a:bodyPr>
          <a:lstStyle/>
          <a:p>
            <a:pPr marL="0" indent="0">
              <a:buNone/>
            </a:pPr>
            <a:r>
              <a:rPr lang="en-US" sz="980" dirty="0">
                <a:solidFill>
                  <a:srgbClr val="CBD5E1"/>
                </a:solidFill>
              </a:rPr>
              <a:t>Groups events into intervals such as every 5 minutes.</a:t>
            </a:r>
            <a:endParaRPr lang="en-US" sz="980" dirty="0"/>
          </a:p>
        </p:txBody>
      </p:sp>
      <p:sp>
        <p:nvSpPr>
          <p:cNvPr id="21" name="Shape 19"/>
          <p:cNvSpPr/>
          <p:nvPr/>
        </p:nvSpPr>
        <p:spPr>
          <a:xfrm>
            <a:off x="4462272" y="3163824"/>
            <a:ext cx="3182112" cy="1298448"/>
          </a:xfrm>
          <a:prstGeom prst="roundRect">
            <a:avLst>
              <a:gd name="adj" fmla="val 5634"/>
            </a:avLst>
          </a:prstGeom>
          <a:solidFill>
            <a:srgbClr val="0F2138"/>
          </a:solidFill>
          <a:ln w="12700">
            <a:solidFill>
              <a:srgbClr val="224668"/>
            </a:solidFill>
            <a:prstDash val="solid"/>
          </a:ln>
        </p:spPr>
      </p:sp>
      <p:sp>
        <p:nvSpPr>
          <p:cNvPr id="22" name="Shape 20"/>
          <p:cNvSpPr/>
          <p:nvPr/>
        </p:nvSpPr>
        <p:spPr>
          <a:xfrm>
            <a:off x="4462272" y="3163824"/>
            <a:ext cx="54864" cy="1298448"/>
          </a:xfrm>
          <a:prstGeom prst="rect">
            <a:avLst/>
          </a:prstGeom>
          <a:solidFill>
            <a:srgbClr val="FB923C"/>
          </a:solidFill>
          <a:ln w="12700">
            <a:solidFill>
              <a:srgbClr val="FB923C">
                <a:alpha val="0"/>
              </a:srgbClr>
            </a:solidFill>
            <a:prstDash val="solid"/>
          </a:ln>
        </p:spPr>
      </p:sp>
      <p:sp>
        <p:nvSpPr>
          <p:cNvPr id="23" name="Text 21"/>
          <p:cNvSpPr/>
          <p:nvPr/>
        </p:nvSpPr>
        <p:spPr>
          <a:xfrm>
            <a:off x="4626864" y="3291840"/>
            <a:ext cx="2852928" cy="201168"/>
          </a:xfrm>
          <a:prstGeom prst="rect">
            <a:avLst/>
          </a:prstGeom>
          <a:noFill/>
          <a:ln/>
        </p:spPr>
        <p:txBody>
          <a:bodyPr wrap="square" lIns="0" tIns="0" rIns="0" bIns="0" rtlCol="0" anchor="ctr"/>
          <a:lstStyle/>
          <a:p>
            <a:pPr marL="0" indent="0">
              <a:buNone/>
            </a:pPr>
            <a:r>
              <a:rPr lang="en-US" sz="1280" b="1" dirty="0">
                <a:solidFill>
                  <a:srgbClr val="FFFFFF"/>
                </a:solidFill>
              </a:rPr>
              <a:t>Watermark</a:t>
            </a:r>
            <a:endParaRPr lang="en-US" sz="1280" dirty="0"/>
          </a:p>
        </p:txBody>
      </p:sp>
      <p:sp>
        <p:nvSpPr>
          <p:cNvPr id="24" name="Text 22"/>
          <p:cNvSpPr/>
          <p:nvPr/>
        </p:nvSpPr>
        <p:spPr>
          <a:xfrm>
            <a:off x="4626864" y="3621024"/>
            <a:ext cx="2852928" cy="731520"/>
          </a:xfrm>
          <a:prstGeom prst="rect">
            <a:avLst/>
          </a:prstGeom>
          <a:noFill/>
          <a:ln/>
        </p:spPr>
        <p:txBody>
          <a:bodyPr wrap="square" lIns="254" tIns="254" rIns="254" bIns="254" rtlCol="0" anchor="ctr">
            <a:normAutofit/>
          </a:bodyPr>
          <a:lstStyle/>
          <a:p>
            <a:pPr marL="0" indent="0">
              <a:buNone/>
            </a:pPr>
            <a:r>
              <a:rPr lang="en-US" sz="980" dirty="0">
                <a:solidFill>
                  <a:srgbClr val="CBD5E1"/>
                </a:solidFill>
              </a:rPr>
              <a:t>How long the system waits for late events.</a:t>
            </a:r>
            <a:endParaRPr lang="en-US" sz="980" dirty="0"/>
          </a:p>
        </p:txBody>
      </p:sp>
      <p:sp>
        <p:nvSpPr>
          <p:cNvPr id="25" name="Shape 23"/>
          <p:cNvSpPr/>
          <p:nvPr/>
        </p:nvSpPr>
        <p:spPr>
          <a:xfrm>
            <a:off x="8147304" y="3163824"/>
            <a:ext cx="3182112" cy="1298448"/>
          </a:xfrm>
          <a:prstGeom prst="roundRect">
            <a:avLst>
              <a:gd name="adj" fmla="val 5634"/>
            </a:avLst>
          </a:prstGeom>
          <a:solidFill>
            <a:srgbClr val="0F2138"/>
          </a:solidFill>
          <a:ln w="12700">
            <a:solidFill>
              <a:srgbClr val="224668"/>
            </a:solidFill>
            <a:prstDash val="solid"/>
          </a:ln>
        </p:spPr>
      </p:sp>
      <p:sp>
        <p:nvSpPr>
          <p:cNvPr id="26" name="Shape 24"/>
          <p:cNvSpPr/>
          <p:nvPr/>
        </p:nvSpPr>
        <p:spPr>
          <a:xfrm>
            <a:off x="8147304" y="3163824"/>
            <a:ext cx="54864" cy="1298448"/>
          </a:xfrm>
          <a:prstGeom prst="rect">
            <a:avLst/>
          </a:prstGeom>
          <a:solidFill>
            <a:srgbClr val="F87171"/>
          </a:solidFill>
          <a:ln w="12700">
            <a:solidFill>
              <a:srgbClr val="F87171">
                <a:alpha val="0"/>
              </a:srgbClr>
            </a:solidFill>
            <a:prstDash val="solid"/>
          </a:ln>
        </p:spPr>
      </p:sp>
      <p:sp>
        <p:nvSpPr>
          <p:cNvPr id="27" name="Text 25"/>
          <p:cNvSpPr/>
          <p:nvPr/>
        </p:nvSpPr>
        <p:spPr>
          <a:xfrm>
            <a:off x="8311896" y="3291840"/>
            <a:ext cx="2852928" cy="201168"/>
          </a:xfrm>
          <a:prstGeom prst="rect">
            <a:avLst/>
          </a:prstGeom>
          <a:noFill/>
          <a:ln/>
        </p:spPr>
        <p:txBody>
          <a:bodyPr wrap="square" lIns="0" tIns="0" rIns="0" bIns="0" rtlCol="0" anchor="ctr"/>
          <a:lstStyle/>
          <a:p>
            <a:pPr marL="0" indent="0">
              <a:buNone/>
            </a:pPr>
            <a:r>
              <a:rPr lang="en-US" sz="1280" b="1" dirty="0">
                <a:solidFill>
                  <a:srgbClr val="FFFFFF"/>
                </a:solidFill>
              </a:rPr>
              <a:t>Checkpoint</a:t>
            </a:r>
            <a:endParaRPr lang="en-US" sz="1280" dirty="0"/>
          </a:p>
        </p:txBody>
      </p:sp>
      <p:sp>
        <p:nvSpPr>
          <p:cNvPr id="28" name="Text 26"/>
          <p:cNvSpPr/>
          <p:nvPr/>
        </p:nvSpPr>
        <p:spPr>
          <a:xfrm>
            <a:off x="8311896" y="3621024"/>
            <a:ext cx="2852928" cy="731520"/>
          </a:xfrm>
          <a:prstGeom prst="rect">
            <a:avLst/>
          </a:prstGeom>
          <a:noFill/>
          <a:ln/>
        </p:spPr>
        <p:txBody>
          <a:bodyPr wrap="square" lIns="254" tIns="254" rIns="254" bIns="254" rtlCol="0" anchor="ctr">
            <a:normAutofit/>
          </a:bodyPr>
          <a:lstStyle/>
          <a:p>
            <a:pPr marL="0" indent="0">
              <a:buNone/>
            </a:pPr>
            <a:r>
              <a:rPr lang="en-US" sz="980" dirty="0">
                <a:solidFill>
                  <a:srgbClr val="CBD5E1"/>
                </a:solidFill>
              </a:rPr>
              <a:t>Stores progress and state for restart after failure.</a:t>
            </a:r>
            <a:endParaRPr lang="en-US" sz="980" dirty="0"/>
          </a:p>
        </p:txBody>
      </p:sp>
      <p:sp>
        <p:nvSpPr>
          <p:cNvPr id="29" name="Shape 27"/>
          <p:cNvSpPr/>
          <p:nvPr/>
        </p:nvSpPr>
        <p:spPr>
          <a:xfrm>
            <a:off x="1051560" y="5257800"/>
            <a:ext cx="10058400" cy="658368"/>
          </a:xfrm>
          <a:prstGeom prst="roundRect">
            <a:avLst>
              <a:gd name="adj" fmla="val 8333"/>
            </a:avLst>
          </a:prstGeom>
          <a:solidFill>
            <a:srgbClr val="0B2B3C"/>
          </a:solidFill>
          <a:ln w="12700">
            <a:solidFill>
              <a:srgbClr val="22D3EE">
                <a:alpha val="70000"/>
              </a:srgbClr>
            </a:solidFill>
            <a:prstDash val="solid"/>
          </a:ln>
        </p:spPr>
      </p:sp>
      <p:sp>
        <p:nvSpPr>
          <p:cNvPr id="30" name="Text 28"/>
          <p:cNvSpPr/>
          <p:nvPr/>
        </p:nvSpPr>
        <p:spPr>
          <a:xfrm>
            <a:off x="1234440" y="5468112"/>
            <a:ext cx="9692640" cy="164592"/>
          </a:xfrm>
          <a:prstGeom prst="rect">
            <a:avLst/>
          </a:prstGeom>
          <a:noFill/>
          <a:ln/>
        </p:spPr>
        <p:txBody>
          <a:bodyPr wrap="square" lIns="0" tIns="0" rIns="0" bIns="0" rtlCol="0" anchor="ctr"/>
          <a:lstStyle/>
          <a:p>
            <a:pPr marL="0" indent="0" algn="ctr">
              <a:buNone/>
            </a:pPr>
            <a:r>
              <a:rPr lang="en-US" sz="1220" b="1" dirty="0">
                <a:solidFill>
                  <a:srgbClr val="E0F2FE"/>
                </a:solidFill>
              </a:rPr>
              <a:t>Delivery guarantees: at-most-once • at-least-once • exactly-once (only when the full pipeline supports it)</a:t>
            </a:r>
            <a:endParaRPr lang="en-US" sz="1220" dirty="0"/>
          </a:p>
        </p:txBody>
      </p:sp>
      <p:sp>
        <p:nvSpPr>
          <p:cNvPr id="31" name="Slide Number Placeholder 0"/>
          <p:cNvSpPr>
            <a:spLocks noGrp="1"/>
          </p:cNvSpPr>
          <p:nvPr>
            <p:ph type="sldNum" sz="quarter" idx="4294967295"/>
          </p:nvPr>
        </p:nvSpPr>
        <p:spPr>
          <a:xfrm>
            <a:off x="11539728"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94A3B8"/>
                </a:solidFill>
                <a:latin typeface="Aptos"/>
                <a:ea typeface="Aptos"/>
                <a:cs typeface="Aptos"/>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4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426"/>
          </a:solidFill>
          <a:ln w="12700">
            <a:solidFill>
              <a:srgbClr val="071426">
                <a:alpha val="0"/>
              </a:srgbClr>
            </a:solidFill>
            <a:prstDash val="solid"/>
          </a:ln>
        </p:spPr>
      </p:sp>
      <p:sp>
        <p:nvSpPr>
          <p:cNvPr id="3" name="Text 1"/>
          <p:cNvSpPr/>
          <p:nvPr/>
        </p:nvSpPr>
        <p:spPr>
          <a:xfrm>
            <a:off x="594360" y="292608"/>
            <a:ext cx="10789920" cy="384048"/>
          </a:xfrm>
          <a:prstGeom prst="rect">
            <a:avLst/>
          </a:prstGeom>
          <a:noFill/>
          <a:ln/>
        </p:spPr>
        <p:txBody>
          <a:bodyPr wrap="square" lIns="0" tIns="0" rIns="0" bIns="0" rtlCol="0" anchor="ctr"/>
          <a:lstStyle/>
          <a:p>
            <a:pPr marL="0" indent="0">
              <a:buNone/>
            </a:pPr>
            <a:r>
              <a:rPr lang="en-US" sz="2750" b="1" dirty="0">
                <a:solidFill>
                  <a:srgbClr val="FFFFFF"/>
                </a:solidFill>
                <a:latin typeface="Aptos Display" pitchFamily="34" charset="0"/>
                <a:ea typeface="Aptos Display" pitchFamily="34" charset="-122"/>
                <a:cs typeface="Aptos Display" pitchFamily="34" charset="-120"/>
              </a:rPr>
              <a:t>PySpark Structured Streaming demo flow</a:t>
            </a:r>
            <a:endParaRPr lang="en-US" sz="2750" dirty="0"/>
          </a:p>
        </p:txBody>
      </p:sp>
      <p:sp>
        <p:nvSpPr>
          <p:cNvPr id="4" name="Text 2"/>
          <p:cNvSpPr/>
          <p:nvPr/>
        </p:nvSpPr>
        <p:spPr>
          <a:xfrm>
            <a:off x="612648" y="768096"/>
            <a:ext cx="10424160" cy="219456"/>
          </a:xfrm>
          <a:prstGeom prst="rect">
            <a:avLst/>
          </a:prstGeom>
          <a:noFill/>
          <a:ln/>
        </p:spPr>
        <p:txBody>
          <a:bodyPr wrap="square" lIns="0" tIns="0" rIns="0" bIns="0" rtlCol="0" anchor="ctr"/>
          <a:lstStyle/>
          <a:p>
            <a:pPr marL="0" indent="0">
              <a:buNone/>
            </a:pPr>
            <a:r>
              <a:rPr lang="en-US" sz="1100" dirty="0">
                <a:solidFill>
                  <a:srgbClr val="94A3B8"/>
                </a:solidFill>
                <a:latin typeface="Aptos" pitchFamily="34" charset="0"/>
                <a:ea typeface="Aptos" pitchFamily="34" charset="-122"/>
                <a:cs typeface="Aptos" pitchFamily="34" charset="-120"/>
              </a:rPr>
              <a:t>readStream and writeStream turn familiar DataFrame logic into a continuous query.</a:t>
            </a:r>
            <a:endParaRPr lang="en-US" sz="1100" dirty="0"/>
          </a:p>
        </p:txBody>
      </p:sp>
      <p:sp>
        <p:nvSpPr>
          <p:cNvPr id="5" name="Shape 3"/>
          <p:cNvSpPr/>
          <p:nvPr/>
        </p:nvSpPr>
        <p:spPr>
          <a:xfrm>
            <a:off x="822960" y="1600200"/>
            <a:ext cx="2011680" cy="1188720"/>
          </a:xfrm>
          <a:prstGeom prst="roundRect">
            <a:avLst>
              <a:gd name="adj" fmla="val 6154"/>
            </a:avLst>
          </a:prstGeom>
          <a:solidFill>
            <a:srgbClr val="0F2138"/>
          </a:solidFill>
          <a:ln w="17780">
            <a:solidFill>
              <a:srgbClr val="22D3EE"/>
            </a:solidFill>
            <a:prstDash val="solid"/>
          </a:ln>
        </p:spPr>
      </p:sp>
      <p:sp>
        <p:nvSpPr>
          <p:cNvPr id="6" name="Text 4"/>
          <p:cNvSpPr/>
          <p:nvPr/>
        </p:nvSpPr>
        <p:spPr>
          <a:xfrm>
            <a:off x="896112" y="1746504"/>
            <a:ext cx="1865376" cy="182880"/>
          </a:xfrm>
          <a:prstGeom prst="rect">
            <a:avLst/>
          </a:prstGeom>
          <a:noFill/>
          <a:ln/>
        </p:spPr>
        <p:txBody>
          <a:bodyPr wrap="square" lIns="0" tIns="0" rIns="0" bIns="0" rtlCol="0" anchor="ctr"/>
          <a:lstStyle/>
          <a:p>
            <a:pPr marL="0" indent="0" algn="ctr">
              <a:buNone/>
            </a:pPr>
            <a:r>
              <a:rPr lang="en-US" sz="1180" b="1" dirty="0">
                <a:solidFill>
                  <a:srgbClr val="FFFFFF"/>
                </a:solidFill>
              </a:rPr>
              <a:t>readStream</a:t>
            </a:r>
            <a:endParaRPr lang="en-US" sz="1180" dirty="0"/>
          </a:p>
        </p:txBody>
      </p:sp>
      <p:sp>
        <p:nvSpPr>
          <p:cNvPr id="7" name="Text 5"/>
          <p:cNvSpPr/>
          <p:nvPr/>
        </p:nvSpPr>
        <p:spPr>
          <a:xfrm>
            <a:off x="914400" y="2020824"/>
            <a:ext cx="1828800" cy="685800"/>
          </a:xfrm>
          <a:prstGeom prst="rect">
            <a:avLst/>
          </a:prstGeom>
          <a:noFill/>
          <a:ln/>
        </p:spPr>
        <p:txBody>
          <a:bodyPr wrap="square" lIns="127" tIns="127" rIns="127" bIns="127" rtlCol="0" anchor="ctr">
            <a:normAutofit/>
          </a:bodyPr>
          <a:lstStyle/>
          <a:p>
            <a:pPr marL="0" indent="0" algn="ctr">
              <a:buNone/>
            </a:pPr>
            <a:r>
              <a:rPr lang="en-US" sz="850" dirty="0">
                <a:solidFill>
                  <a:srgbClr val="B9D9FF"/>
                </a:solidFill>
              </a:rPr>
              <a:t>socket or files</a:t>
            </a:r>
            <a:endParaRPr lang="en-US" sz="850" dirty="0"/>
          </a:p>
          <a:p>
            <a:pPr marL="0" indent="0" algn="ctr">
              <a:buNone/>
            </a:pPr>
            <a:r>
              <a:rPr lang="en-US" sz="850" dirty="0">
                <a:solidFill>
                  <a:srgbClr val="B9D9FF"/>
                </a:solidFill>
              </a:rPr>
              <a:t>arrive continuously</a:t>
            </a:r>
            <a:endParaRPr lang="en-US" sz="850" dirty="0"/>
          </a:p>
        </p:txBody>
      </p:sp>
      <p:sp>
        <p:nvSpPr>
          <p:cNvPr id="8" name="Shape 6"/>
          <p:cNvSpPr/>
          <p:nvPr/>
        </p:nvSpPr>
        <p:spPr>
          <a:xfrm>
            <a:off x="2843784" y="2066544"/>
            <a:ext cx="347472" cy="256032"/>
          </a:xfrm>
          <a:prstGeom prst="rightArrow">
            <a:avLst/>
          </a:prstGeom>
          <a:solidFill>
            <a:srgbClr val="22D3EE"/>
          </a:solidFill>
          <a:ln w="12700">
            <a:solidFill>
              <a:srgbClr val="22D3EE">
                <a:alpha val="0"/>
              </a:srgbClr>
            </a:solidFill>
            <a:prstDash val="solid"/>
          </a:ln>
        </p:spPr>
      </p:sp>
      <p:sp>
        <p:nvSpPr>
          <p:cNvPr id="9" name="Shape 7"/>
          <p:cNvSpPr/>
          <p:nvPr/>
        </p:nvSpPr>
        <p:spPr>
          <a:xfrm>
            <a:off x="3657600" y="1600200"/>
            <a:ext cx="2011680" cy="1188720"/>
          </a:xfrm>
          <a:prstGeom prst="roundRect">
            <a:avLst>
              <a:gd name="adj" fmla="val 6154"/>
            </a:avLst>
          </a:prstGeom>
          <a:solidFill>
            <a:srgbClr val="0F2138"/>
          </a:solidFill>
          <a:ln w="17780">
            <a:solidFill>
              <a:srgbClr val="A78BFA"/>
            </a:solidFill>
            <a:prstDash val="solid"/>
          </a:ln>
        </p:spPr>
      </p:sp>
      <p:sp>
        <p:nvSpPr>
          <p:cNvPr id="10" name="Text 8"/>
          <p:cNvSpPr/>
          <p:nvPr/>
        </p:nvSpPr>
        <p:spPr>
          <a:xfrm>
            <a:off x="3730752" y="1746504"/>
            <a:ext cx="1865376" cy="182880"/>
          </a:xfrm>
          <a:prstGeom prst="rect">
            <a:avLst/>
          </a:prstGeom>
          <a:noFill/>
          <a:ln/>
        </p:spPr>
        <p:txBody>
          <a:bodyPr wrap="square" lIns="0" tIns="0" rIns="0" bIns="0" rtlCol="0" anchor="ctr"/>
          <a:lstStyle/>
          <a:p>
            <a:pPr marL="0" indent="0" algn="ctr">
              <a:buNone/>
            </a:pPr>
            <a:r>
              <a:rPr lang="en-US" sz="1180" b="1" dirty="0">
                <a:solidFill>
                  <a:srgbClr val="FFFFFF"/>
                </a:solidFill>
              </a:rPr>
              <a:t>DataFrame ops</a:t>
            </a:r>
            <a:endParaRPr lang="en-US" sz="1180" dirty="0"/>
          </a:p>
        </p:txBody>
      </p:sp>
      <p:sp>
        <p:nvSpPr>
          <p:cNvPr id="11" name="Text 9"/>
          <p:cNvSpPr/>
          <p:nvPr/>
        </p:nvSpPr>
        <p:spPr>
          <a:xfrm>
            <a:off x="3749040" y="2020824"/>
            <a:ext cx="1828800" cy="685800"/>
          </a:xfrm>
          <a:prstGeom prst="rect">
            <a:avLst/>
          </a:prstGeom>
          <a:noFill/>
          <a:ln/>
        </p:spPr>
        <p:txBody>
          <a:bodyPr wrap="square" lIns="127" tIns="127" rIns="127" bIns="127" rtlCol="0" anchor="ctr">
            <a:normAutofit/>
          </a:bodyPr>
          <a:lstStyle/>
          <a:p>
            <a:pPr marL="0" indent="0" algn="ctr">
              <a:buNone/>
            </a:pPr>
            <a:r>
              <a:rPr lang="en-US" sz="850" dirty="0">
                <a:solidFill>
                  <a:srgbClr val="B9D9FF"/>
                </a:solidFill>
              </a:rPr>
              <a:t>split, filter, groupBy</a:t>
            </a:r>
            <a:endParaRPr lang="en-US" sz="850" dirty="0"/>
          </a:p>
          <a:p>
            <a:pPr marL="0" indent="0" algn="ctr">
              <a:buNone/>
            </a:pPr>
            <a:r>
              <a:rPr lang="en-US" sz="850" dirty="0">
                <a:solidFill>
                  <a:srgbClr val="B9D9FF"/>
                </a:solidFill>
              </a:rPr>
              <a:t>agg, windows</a:t>
            </a:r>
            <a:endParaRPr lang="en-US" sz="850" dirty="0"/>
          </a:p>
        </p:txBody>
      </p:sp>
      <p:sp>
        <p:nvSpPr>
          <p:cNvPr id="12" name="Shape 10"/>
          <p:cNvSpPr/>
          <p:nvPr/>
        </p:nvSpPr>
        <p:spPr>
          <a:xfrm>
            <a:off x="5678424" y="2066544"/>
            <a:ext cx="347472" cy="256032"/>
          </a:xfrm>
          <a:prstGeom prst="rightArrow">
            <a:avLst/>
          </a:prstGeom>
          <a:solidFill>
            <a:srgbClr val="22D3EE"/>
          </a:solidFill>
          <a:ln w="12700">
            <a:solidFill>
              <a:srgbClr val="22D3EE">
                <a:alpha val="0"/>
              </a:srgbClr>
            </a:solidFill>
            <a:prstDash val="solid"/>
          </a:ln>
        </p:spPr>
      </p:sp>
      <p:sp>
        <p:nvSpPr>
          <p:cNvPr id="13" name="Shape 11"/>
          <p:cNvSpPr/>
          <p:nvPr/>
        </p:nvSpPr>
        <p:spPr>
          <a:xfrm>
            <a:off x="6492240" y="1600200"/>
            <a:ext cx="2011680" cy="1188720"/>
          </a:xfrm>
          <a:prstGeom prst="roundRect">
            <a:avLst>
              <a:gd name="adj" fmla="val 6154"/>
            </a:avLst>
          </a:prstGeom>
          <a:solidFill>
            <a:srgbClr val="0F2138"/>
          </a:solidFill>
          <a:ln w="17780">
            <a:solidFill>
              <a:srgbClr val="34D399"/>
            </a:solidFill>
            <a:prstDash val="solid"/>
          </a:ln>
        </p:spPr>
      </p:sp>
      <p:sp>
        <p:nvSpPr>
          <p:cNvPr id="14" name="Text 12"/>
          <p:cNvSpPr/>
          <p:nvPr/>
        </p:nvSpPr>
        <p:spPr>
          <a:xfrm>
            <a:off x="6565392" y="1746504"/>
            <a:ext cx="1865376" cy="182880"/>
          </a:xfrm>
          <a:prstGeom prst="rect">
            <a:avLst/>
          </a:prstGeom>
          <a:noFill/>
          <a:ln/>
        </p:spPr>
        <p:txBody>
          <a:bodyPr wrap="square" lIns="0" tIns="0" rIns="0" bIns="0" rtlCol="0" anchor="ctr"/>
          <a:lstStyle/>
          <a:p>
            <a:pPr marL="0" indent="0" algn="ctr">
              <a:buNone/>
            </a:pPr>
            <a:r>
              <a:rPr lang="en-US" sz="1180" b="1" dirty="0">
                <a:solidFill>
                  <a:srgbClr val="FFFFFF"/>
                </a:solidFill>
              </a:rPr>
              <a:t>writeStream</a:t>
            </a:r>
            <a:endParaRPr lang="en-US" sz="1180" dirty="0"/>
          </a:p>
        </p:txBody>
      </p:sp>
      <p:sp>
        <p:nvSpPr>
          <p:cNvPr id="15" name="Text 13"/>
          <p:cNvSpPr/>
          <p:nvPr/>
        </p:nvSpPr>
        <p:spPr>
          <a:xfrm>
            <a:off x="6583680" y="2020824"/>
            <a:ext cx="1828800" cy="685800"/>
          </a:xfrm>
          <a:prstGeom prst="rect">
            <a:avLst/>
          </a:prstGeom>
          <a:noFill/>
          <a:ln/>
        </p:spPr>
        <p:txBody>
          <a:bodyPr wrap="square" lIns="127" tIns="127" rIns="127" bIns="127" rtlCol="0" anchor="ctr">
            <a:normAutofit/>
          </a:bodyPr>
          <a:lstStyle/>
          <a:p>
            <a:pPr marL="0" indent="0" algn="ctr">
              <a:buNone/>
            </a:pPr>
            <a:r>
              <a:rPr lang="en-US" sz="850" dirty="0">
                <a:solidFill>
                  <a:srgbClr val="B9D9FF"/>
                </a:solidFill>
              </a:rPr>
              <a:t>console, table, dashboard</a:t>
            </a:r>
            <a:endParaRPr lang="en-US" sz="850" dirty="0"/>
          </a:p>
          <a:p>
            <a:pPr marL="0" indent="0" algn="ctr">
              <a:buNone/>
            </a:pPr>
            <a:r>
              <a:rPr lang="en-US" sz="850" dirty="0">
                <a:solidFill>
                  <a:srgbClr val="B9D9FF"/>
                </a:solidFill>
              </a:rPr>
              <a:t>or alert sink</a:t>
            </a:r>
            <a:endParaRPr lang="en-US" sz="850" dirty="0"/>
          </a:p>
        </p:txBody>
      </p:sp>
      <p:sp>
        <p:nvSpPr>
          <p:cNvPr id="16" name="Shape 14"/>
          <p:cNvSpPr/>
          <p:nvPr/>
        </p:nvSpPr>
        <p:spPr>
          <a:xfrm>
            <a:off x="8513064" y="2066544"/>
            <a:ext cx="347472" cy="256032"/>
          </a:xfrm>
          <a:prstGeom prst="rightArrow">
            <a:avLst/>
          </a:prstGeom>
          <a:solidFill>
            <a:srgbClr val="22D3EE"/>
          </a:solidFill>
          <a:ln w="12700">
            <a:solidFill>
              <a:srgbClr val="22D3EE">
                <a:alpha val="0"/>
              </a:srgbClr>
            </a:solidFill>
            <a:prstDash val="solid"/>
          </a:ln>
        </p:spPr>
      </p:sp>
      <p:sp>
        <p:nvSpPr>
          <p:cNvPr id="17" name="Shape 15"/>
          <p:cNvSpPr/>
          <p:nvPr/>
        </p:nvSpPr>
        <p:spPr>
          <a:xfrm>
            <a:off x="9326880" y="1600200"/>
            <a:ext cx="2011680" cy="1188720"/>
          </a:xfrm>
          <a:prstGeom prst="roundRect">
            <a:avLst>
              <a:gd name="adj" fmla="val 6154"/>
            </a:avLst>
          </a:prstGeom>
          <a:solidFill>
            <a:srgbClr val="0F2138"/>
          </a:solidFill>
          <a:ln w="17780">
            <a:solidFill>
              <a:srgbClr val="FB923C"/>
            </a:solidFill>
            <a:prstDash val="solid"/>
          </a:ln>
        </p:spPr>
      </p:sp>
      <p:sp>
        <p:nvSpPr>
          <p:cNvPr id="18" name="Text 16"/>
          <p:cNvSpPr/>
          <p:nvPr/>
        </p:nvSpPr>
        <p:spPr>
          <a:xfrm>
            <a:off x="9400032" y="1746504"/>
            <a:ext cx="1865376" cy="182880"/>
          </a:xfrm>
          <a:prstGeom prst="rect">
            <a:avLst/>
          </a:prstGeom>
          <a:noFill/>
          <a:ln/>
        </p:spPr>
        <p:txBody>
          <a:bodyPr wrap="square" lIns="0" tIns="0" rIns="0" bIns="0" rtlCol="0" anchor="ctr"/>
          <a:lstStyle/>
          <a:p>
            <a:pPr marL="0" indent="0" algn="ctr">
              <a:buNone/>
            </a:pPr>
            <a:r>
              <a:rPr lang="en-US" sz="1180" b="1" dirty="0">
                <a:solidFill>
                  <a:srgbClr val="FFFFFF"/>
                </a:solidFill>
              </a:rPr>
              <a:t>checkpoint</a:t>
            </a:r>
            <a:endParaRPr lang="en-US" sz="1180" dirty="0"/>
          </a:p>
        </p:txBody>
      </p:sp>
      <p:sp>
        <p:nvSpPr>
          <p:cNvPr id="19" name="Text 17"/>
          <p:cNvSpPr/>
          <p:nvPr/>
        </p:nvSpPr>
        <p:spPr>
          <a:xfrm>
            <a:off x="9418320" y="2020824"/>
            <a:ext cx="1828800" cy="685800"/>
          </a:xfrm>
          <a:prstGeom prst="rect">
            <a:avLst/>
          </a:prstGeom>
          <a:noFill/>
          <a:ln/>
        </p:spPr>
        <p:txBody>
          <a:bodyPr wrap="square" lIns="127" tIns="127" rIns="127" bIns="127" rtlCol="0" anchor="ctr">
            <a:normAutofit/>
          </a:bodyPr>
          <a:lstStyle/>
          <a:p>
            <a:pPr marL="0" indent="0" algn="ctr">
              <a:buNone/>
            </a:pPr>
            <a:r>
              <a:rPr lang="en-US" sz="850" dirty="0">
                <a:solidFill>
                  <a:srgbClr val="B9D9FF"/>
                </a:solidFill>
              </a:rPr>
              <a:t>restartable progress</a:t>
            </a:r>
            <a:endParaRPr lang="en-US" sz="850" dirty="0"/>
          </a:p>
          <a:p>
            <a:pPr marL="0" indent="0" algn="ctr">
              <a:buNone/>
            </a:pPr>
            <a:r>
              <a:rPr lang="en-US" sz="850" dirty="0">
                <a:solidFill>
                  <a:srgbClr val="B9D9FF"/>
                </a:solidFill>
              </a:rPr>
              <a:t>and state</a:t>
            </a:r>
            <a:endParaRPr lang="en-US" sz="850" dirty="0"/>
          </a:p>
        </p:txBody>
      </p:sp>
      <p:sp>
        <p:nvSpPr>
          <p:cNvPr id="20" name="Shape 18"/>
          <p:cNvSpPr/>
          <p:nvPr/>
        </p:nvSpPr>
        <p:spPr>
          <a:xfrm>
            <a:off x="822960" y="3657600"/>
            <a:ext cx="5120640" cy="1188720"/>
          </a:xfrm>
          <a:prstGeom prst="roundRect">
            <a:avLst>
              <a:gd name="adj" fmla="val 6154"/>
            </a:avLst>
          </a:prstGeom>
          <a:solidFill>
            <a:srgbClr val="0F2138"/>
          </a:solidFill>
          <a:ln w="12700">
            <a:solidFill>
              <a:srgbClr val="224668"/>
            </a:solidFill>
            <a:prstDash val="solid"/>
          </a:ln>
        </p:spPr>
      </p:sp>
      <p:sp>
        <p:nvSpPr>
          <p:cNvPr id="21" name="Shape 19"/>
          <p:cNvSpPr/>
          <p:nvPr/>
        </p:nvSpPr>
        <p:spPr>
          <a:xfrm>
            <a:off x="822960" y="3657600"/>
            <a:ext cx="54864" cy="1188720"/>
          </a:xfrm>
          <a:prstGeom prst="rect">
            <a:avLst/>
          </a:prstGeom>
          <a:solidFill>
            <a:srgbClr val="60A5FA"/>
          </a:solidFill>
          <a:ln w="12700">
            <a:solidFill>
              <a:srgbClr val="60A5FA">
                <a:alpha val="0"/>
              </a:srgbClr>
            </a:solidFill>
            <a:prstDash val="solid"/>
          </a:ln>
        </p:spPr>
      </p:sp>
      <p:sp>
        <p:nvSpPr>
          <p:cNvPr id="22" name="Text 20"/>
          <p:cNvSpPr/>
          <p:nvPr/>
        </p:nvSpPr>
        <p:spPr>
          <a:xfrm>
            <a:off x="987552" y="3785616"/>
            <a:ext cx="4791456" cy="201168"/>
          </a:xfrm>
          <a:prstGeom prst="rect">
            <a:avLst/>
          </a:prstGeom>
          <a:noFill/>
          <a:ln/>
        </p:spPr>
        <p:txBody>
          <a:bodyPr wrap="square" lIns="0" tIns="0" rIns="0" bIns="0" rtlCol="0" anchor="ctr"/>
          <a:lstStyle/>
          <a:p>
            <a:pPr marL="0" indent="0">
              <a:buNone/>
            </a:pPr>
            <a:r>
              <a:rPr lang="en-US" sz="1280" b="1" dirty="0">
                <a:solidFill>
                  <a:srgbClr val="FFFFFF"/>
                </a:solidFill>
              </a:rPr>
              <a:t>Socket word count</a:t>
            </a:r>
            <a:endParaRPr lang="en-US" sz="1280" dirty="0"/>
          </a:p>
        </p:txBody>
      </p:sp>
      <p:sp>
        <p:nvSpPr>
          <p:cNvPr id="23" name="Text 21"/>
          <p:cNvSpPr/>
          <p:nvPr/>
        </p:nvSpPr>
        <p:spPr>
          <a:xfrm>
            <a:off x="987552" y="4114800"/>
            <a:ext cx="4791456" cy="621792"/>
          </a:xfrm>
          <a:prstGeom prst="rect">
            <a:avLst/>
          </a:prstGeom>
          <a:noFill/>
          <a:ln/>
        </p:spPr>
        <p:txBody>
          <a:bodyPr wrap="square" lIns="254" tIns="254" rIns="254" bIns="254" rtlCol="0" anchor="ctr">
            <a:normAutofit/>
          </a:bodyPr>
          <a:lstStyle/>
          <a:p>
            <a:pPr marL="0" indent="0">
              <a:buNone/>
            </a:pPr>
            <a:r>
              <a:rPr lang="en-US" sz="980" dirty="0">
                <a:solidFill>
                  <a:srgbClr val="CBD5E1"/>
                </a:solidFill>
              </a:rPr>
              <a:t>ncat -lk 9999 → readStream.format("socket") → groupBy("word").count() → console</a:t>
            </a:r>
            <a:endParaRPr lang="en-US" sz="980" dirty="0"/>
          </a:p>
        </p:txBody>
      </p:sp>
      <p:sp>
        <p:nvSpPr>
          <p:cNvPr id="24" name="Shape 22"/>
          <p:cNvSpPr/>
          <p:nvPr/>
        </p:nvSpPr>
        <p:spPr>
          <a:xfrm>
            <a:off x="6263640" y="3657600"/>
            <a:ext cx="5120640" cy="1188720"/>
          </a:xfrm>
          <a:prstGeom prst="roundRect">
            <a:avLst>
              <a:gd name="adj" fmla="val 6154"/>
            </a:avLst>
          </a:prstGeom>
          <a:solidFill>
            <a:srgbClr val="0F2138"/>
          </a:solidFill>
          <a:ln w="12700">
            <a:solidFill>
              <a:srgbClr val="224668"/>
            </a:solidFill>
            <a:prstDash val="solid"/>
          </a:ln>
        </p:spPr>
      </p:sp>
      <p:sp>
        <p:nvSpPr>
          <p:cNvPr id="25" name="Shape 23"/>
          <p:cNvSpPr/>
          <p:nvPr/>
        </p:nvSpPr>
        <p:spPr>
          <a:xfrm>
            <a:off x="6263640" y="3657600"/>
            <a:ext cx="54864" cy="1188720"/>
          </a:xfrm>
          <a:prstGeom prst="rect">
            <a:avLst/>
          </a:prstGeom>
          <a:solidFill>
            <a:srgbClr val="34D399"/>
          </a:solidFill>
          <a:ln w="12700">
            <a:solidFill>
              <a:srgbClr val="34D399">
                <a:alpha val="0"/>
              </a:srgbClr>
            </a:solidFill>
            <a:prstDash val="solid"/>
          </a:ln>
        </p:spPr>
      </p:sp>
      <p:sp>
        <p:nvSpPr>
          <p:cNvPr id="26" name="Text 24"/>
          <p:cNvSpPr/>
          <p:nvPr/>
        </p:nvSpPr>
        <p:spPr>
          <a:xfrm>
            <a:off x="6428232" y="3785616"/>
            <a:ext cx="4791456" cy="201168"/>
          </a:xfrm>
          <a:prstGeom prst="rect">
            <a:avLst/>
          </a:prstGeom>
          <a:noFill/>
          <a:ln/>
        </p:spPr>
        <p:txBody>
          <a:bodyPr wrap="square" lIns="0" tIns="0" rIns="0" bIns="0" rtlCol="0" anchor="ctr"/>
          <a:lstStyle/>
          <a:p>
            <a:pPr marL="0" indent="0">
              <a:buNone/>
            </a:pPr>
            <a:r>
              <a:rPr lang="en-US" sz="1280" b="1" dirty="0">
                <a:solidFill>
                  <a:srgbClr val="FFFFFF"/>
                </a:solidFill>
              </a:rPr>
              <a:t>File-streaming orders</a:t>
            </a:r>
            <a:endParaRPr lang="en-US" sz="1280" dirty="0"/>
          </a:p>
        </p:txBody>
      </p:sp>
      <p:sp>
        <p:nvSpPr>
          <p:cNvPr id="27" name="Text 25"/>
          <p:cNvSpPr/>
          <p:nvPr/>
        </p:nvSpPr>
        <p:spPr>
          <a:xfrm>
            <a:off x="6428232" y="4114800"/>
            <a:ext cx="4791456" cy="621792"/>
          </a:xfrm>
          <a:prstGeom prst="rect">
            <a:avLst/>
          </a:prstGeom>
          <a:noFill/>
          <a:ln/>
        </p:spPr>
        <p:txBody>
          <a:bodyPr wrap="square" lIns="254" tIns="254" rIns="254" bIns="254" rtlCol="0" anchor="ctr">
            <a:normAutofit/>
          </a:bodyPr>
          <a:lstStyle/>
          <a:p>
            <a:pPr marL="0" indent="0">
              <a:buNone/>
            </a:pPr>
            <a:r>
              <a:rPr lang="en-US" sz="980" dirty="0">
                <a:solidFill>
                  <a:srgbClr val="CBD5E1"/>
                </a:solidFill>
              </a:rPr>
              <a:t>new JSON files → schema → valid order filter → city order counts and live sales</a:t>
            </a:r>
            <a:endParaRPr lang="en-US" sz="980" dirty="0"/>
          </a:p>
        </p:txBody>
      </p:sp>
      <p:sp>
        <p:nvSpPr>
          <p:cNvPr id="28" name="Text 26"/>
          <p:cNvSpPr/>
          <p:nvPr/>
        </p:nvSpPr>
        <p:spPr>
          <a:xfrm>
            <a:off x="1005840" y="5833872"/>
            <a:ext cx="10058400" cy="228600"/>
          </a:xfrm>
          <a:prstGeom prst="rect">
            <a:avLst/>
          </a:prstGeom>
          <a:noFill/>
          <a:ln/>
        </p:spPr>
        <p:txBody>
          <a:bodyPr wrap="square" lIns="0" tIns="0" rIns="0" bIns="0" rtlCol="0" anchor="ctr"/>
          <a:lstStyle/>
          <a:p>
            <a:pPr marL="0" indent="0" algn="ctr">
              <a:buNone/>
            </a:pPr>
            <a:r>
              <a:rPr lang="en-US" sz="1300" b="1" dirty="0">
                <a:solidFill>
                  <a:srgbClr val="22D3EE"/>
                </a:solidFill>
              </a:rPr>
              <a:t>Trainer line: a streaming DataFrame is still a DataFrame, but its rows keep arriving.</a:t>
            </a:r>
            <a:endParaRPr lang="en-US" sz="1300" dirty="0"/>
          </a:p>
        </p:txBody>
      </p:sp>
      <p:sp>
        <p:nvSpPr>
          <p:cNvPr id="29" name="Slide Number Placeholder 0"/>
          <p:cNvSpPr>
            <a:spLocks noGrp="1"/>
          </p:cNvSpPr>
          <p:nvPr>
            <p:ph type="sldNum" sz="quarter" idx="4294967295"/>
          </p:nvPr>
        </p:nvSpPr>
        <p:spPr>
          <a:xfrm>
            <a:off x="11539728"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94A3B8"/>
                </a:solidFill>
                <a:latin typeface="Aptos"/>
                <a:ea typeface="Aptos"/>
                <a:cs typeface="Aptos"/>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14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426"/>
          </a:solidFill>
          <a:ln w="12700">
            <a:solidFill>
              <a:srgbClr val="071426">
                <a:alpha val="0"/>
              </a:srgbClr>
            </a:solidFill>
            <a:prstDash val="solid"/>
          </a:ln>
        </p:spPr>
      </p:sp>
      <p:sp>
        <p:nvSpPr>
          <p:cNvPr id="3" name="Text 1"/>
          <p:cNvSpPr/>
          <p:nvPr/>
        </p:nvSpPr>
        <p:spPr>
          <a:xfrm>
            <a:off x="594360" y="292608"/>
            <a:ext cx="10789920" cy="384048"/>
          </a:xfrm>
          <a:prstGeom prst="rect">
            <a:avLst/>
          </a:prstGeom>
          <a:noFill/>
          <a:ln/>
        </p:spPr>
        <p:txBody>
          <a:bodyPr wrap="square" lIns="0" tIns="0" rIns="0" bIns="0" rtlCol="0" anchor="ctr"/>
          <a:lstStyle/>
          <a:p>
            <a:pPr marL="0" indent="0">
              <a:buNone/>
            </a:pPr>
            <a:r>
              <a:rPr lang="en-US" sz="2750" b="1" dirty="0">
                <a:solidFill>
                  <a:srgbClr val="FFFFFF"/>
                </a:solidFill>
                <a:latin typeface="Aptos Display" pitchFamily="34" charset="0"/>
                <a:ea typeface="Aptos Display" pitchFamily="34" charset="-122"/>
                <a:cs typeface="Aptos Display" pitchFamily="34" charset="-120"/>
              </a:rPr>
              <a:t>Operations: monitor the stream</a:t>
            </a:r>
            <a:endParaRPr lang="en-US" sz="2750" dirty="0"/>
          </a:p>
        </p:txBody>
      </p:sp>
      <p:sp>
        <p:nvSpPr>
          <p:cNvPr id="4" name="Text 2"/>
          <p:cNvSpPr/>
          <p:nvPr/>
        </p:nvSpPr>
        <p:spPr>
          <a:xfrm>
            <a:off x="612648" y="768096"/>
            <a:ext cx="10424160" cy="219456"/>
          </a:xfrm>
          <a:prstGeom prst="rect">
            <a:avLst/>
          </a:prstGeom>
          <a:noFill/>
          <a:ln/>
        </p:spPr>
        <p:txBody>
          <a:bodyPr wrap="square" lIns="0" tIns="0" rIns="0" bIns="0" rtlCol="0" anchor="ctr"/>
          <a:lstStyle/>
          <a:p>
            <a:pPr marL="0" indent="0">
              <a:buNone/>
            </a:pPr>
            <a:r>
              <a:rPr lang="en-US" sz="1100" dirty="0">
                <a:solidFill>
                  <a:srgbClr val="94A3B8"/>
                </a:solidFill>
                <a:latin typeface="Aptos" pitchFamily="34" charset="0"/>
                <a:ea typeface="Aptos" pitchFamily="34" charset="-122"/>
                <a:cs typeface="Aptos" pitchFamily="34" charset="-120"/>
              </a:rPr>
              <a:t>Successful streaming needs visibility into rate, lag, latency, failures and recovery.</a:t>
            </a:r>
            <a:endParaRPr lang="en-US" sz="1100" dirty="0"/>
          </a:p>
        </p:txBody>
      </p:sp>
      <p:sp>
        <p:nvSpPr>
          <p:cNvPr id="5" name="Shape 3"/>
          <p:cNvSpPr/>
          <p:nvPr/>
        </p:nvSpPr>
        <p:spPr>
          <a:xfrm>
            <a:off x="731520" y="1225296"/>
            <a:ext cx="5989320" cy="4343400"/>
          </a:xfrm>
          <a:prstGeom prst="roundRect">
            <a:avLst>
              <a:gd name="adj" fmla="val 1684"/>
            </a:avLst>
          </a:prstGeom>
          <a:solidFill>
            <a:srgbClr val="0A1727"/>
          </a:solidFill>
          <a:ln w="12700">
            <a:solidFill>
              <a:srgbClr val="1E3A8A"/>
            </a:solidFill>
            <a:prstDash val="solid"/>
          </a:ln>
        </p:spPr>
      </p:sp>
      <p:sp>
        <p:nvSpPr>
          <p:cNvPr id="6" name="Shape 4"/>
          <p:cNvSpPr/>
          <p:nvPr/>
        </p:nvSpPr>
        <p:spPr>
          <a:xfrm>
            <a:off x="1005840" y="1572768"/>
            <a:ext cx="1170432" cy="749808"/>
          </a:xfrm>
          <a:prstGeom prst="roundRect">
            <a:avLst>
              <a:gd name="adj" fmla="val 8537"/>
            </a:avLst>
          </a:prstGeom>
          <a:solidFill>
            <a:srgbClr val="132B49"/>
          </a:solidFill>
          <a:ln w="12700">
            <a:solidFill>
              <a:srgbClr val="24476E"/>
            </a:solidFill>
            <a:prstDash val="solid"/>
          </a:ln>
        </p:spPr>
      </p:sp>
      <p:sp>
        <p:nvSpPr>
          <p:cNvPr id="7" name="Text 5"/>
          <p:cNvSpPr/>
          <p:nvPr/>
        </p:nvSpPr>
        <p:spPr>
          <a:xfrm>
            <a:off x="1097280" y="1682496"/>
            <a:ext cx="987552" cy="237744"/>
          </a:xfrm>
          <a:prstGeom prst="rect">
            <a:avLst/>
          </a:prstGeom>
          <a:noFill/>
          <a:ln/>
        </p:spPr>
        <p:txBody>
          <a:bodyPr wrap="square" lIns="0" tIns="0" rIns="0" bIns="0" rtlCol="0" anchor="ctr"/>
          <a:lstStyle/>
          <a:p>
            <a:pPr marL="0" indent="0" algn="ctr">
              <a:buNone/>
            </a:pPr>
            <a:r>
              <a:rPr lang="en-US" sz="1850" b="1" dirty="0">
                <a:solidFill>
                  <a:srgbClr val="22D3EE"/>
                </a:solidFill>
              </a:rPr>
              <a:t>18.2K</a:t>
            </a:r>
            <a:endParaRPr lang="en-US" sz="1850" dirty="0"/>
          </a:p>
        </p:txBody>
      </p:sp>
      <p:sp>
        <p:nvSpPr>
          <p:cNvPr id="8" name="Text 6"/>
          <p:cNvSpPr/>
          <p:nvPr/>
        </p:nvSpPr>
        <p:spPr>
          <a:xfrm>
            <a:off x="1078992" y="2002536"/>
            <a:ext cx="1024128" cy="109728"/>
          </a:xfrm>
          <a:prstGeom prst="rect">
            <a:avLst/>
          </a:prstGeom>
          <a:noFill/>
          <a:ln/>
        </p:spPr>
        <p:txBody>
          <a:bodyPr wrap="square" lIns="0" tIns="0" rIns="0" bIns="0" rtlCol="0" anchor="ctr"/>
          <a:lstStyle/>
          <a:p>
            <a:pPr marL="0" indent="0" algn="ctr">
              <a:buNone/>
            </a:pPr>
            <a:r>
              <a:rPr lang="en-US" sz="700" dirty="0">
                <a:solidFill>
                  <a:srgbClr val="94A3B8"/>
                </a:solidFill>
              </a:rPr>
              <a:t>Total events</a:t>
            </a:r>
            <a:endParaRPr lang="en-US" sz="700" dirty="0"/>
          </a:p>
        </p:txBody>
      </p:sp>
      <p:sp>
        <p:nvSpPr>
          <p:cNvPr id="9" name="Shape 7"/>
          <p:cNvSpPr/>
          <p:nvPr/>
        </p:nvSpPr>
        <p:spPr>
          <a:xfrm>
            <a:off x="2395728" y="1572768"/>
            <a:ext cx="1170432" cy="749808"/>
          </a:xfrm>
          <a:prstGeom prst="roundRect">
            <a:avLst>
              <a:gd name="adj" fmla="val 8537"/>
            </a:avLst>
          </a:prstGeom>
          <a:solidFill>
            <a:srgbClr val="132B49"/>
          </a:solidFill>
          <a:ln w="12700">
            <a:solidFill>
              <a:srgbClr val="24476E"/>
            </a:solidFill>
            <a:prstDash val="solid"/>
          </a:ln>
        </p:spPr>
      </p:sp>
      <p:sp>
        <p:nvSpPr>
          <p:cNvPr id="10" name="Text 8"/>
          <p:cNvSpPr/>
          <p:nvPr/>
        </p:nvSpPr>
        <p:spPr>
          <a:xfrm>
            <a:off x="2487168" y="1682496"/>
            <a:ext cx="987552" cy="237744"/>
          </a:xfrm>
          <a:prstGeom prst="rect">
            <a:avLst/>
          </a:prstGeom>
          <a:noFill/>
          <a:ln/>
        </p:spPr>
        <p:txBody>
          <a:bodyPr wrap="square" lIns="0" tIns="0" rIns="0" bIns="0" rtlCol="0" anchor="ctr"/>
          <a:lstStyle/>
          <a:p>
            <a:pPr marL="0" indent="0" algn="ctr">
              <a:buNone/>
            </a:pPr>
            <a:r>
              <a:rPr lang="en-US" sz="1850" b="1" dirty="0">
                <a:solidFill>
                  <a:srgbClr val="34D399"/>
                </a:solidFill>
              </a:rPr>
              <a:t>4.8K</a:t>
            </a:r>
            <a:endParaRPr lang="en-US" sz="1850" dirty="0"/>
          </a:p>
        </p:txBody>
      </p:sp>
      <p:sp>
        <p:nvSpPr>
          <p:cNvPr id="11" name="Text 9"/>
          <p:cNvSpPr/>
          <p:nvPr/>
        </p:nvSpPr>
        <p:spPr>
          <a:xfrm>
            <a:off x="2468880" y="2002536"/>
            <a:ext cx="1024128" cy="109728"/>
          </a:xfrm>
          <a:prstGeom prst="rect">
            <a:avLst/>
          </a:prstGeom>
          <a:noFill/>
          <a:ln/>
        </p:spPr>
        <p:txBody>
          <a:bodyPr wrap="square" lIns="0" tIns="0" rIns="0" bIns="0" rtlCol="0" anchor="ctr"/>
          <a:lstStyle/>
          <a:p>
            <a:pPr marL="0" indent="0" algn="ctr">
              <a:buNone/>
            </a:pPr>
            <a:r>
              <a:rPr lang="en-US" sz="700" dirty="0">
                <a:solidFill>
                  <a:srgbClr val="94A3B8"/>
                </a:solidFill>
              </a:rPr>
              <a:t>Created</a:t>
            </a:r>
            <a:endParaRPr lang="en-US" sz="700" dirty="0"/>
          </a:p>
        </p:txBody>
      </p:sp>
      <p:sp>
        <p:nvSpPr>
          <p:cNvPr id="12" name="Shape 10"/>
          <p:cNvSpPr/>
          <p:nvPr/>
        </p:nvSpPr>
        <p:spPr>
          <a:xfrm>
            <a:off x="3785616" y="1572768"/>
            <a:ext cx="1170432" cy="749808"/>
          </a:xfrm>
          <a:prstGeom prst="roundRect">
            <a:avLst>
              <a:gd name="adj" fmla="val 8537"/>
            </a:avLst>
          </a:prstGeom>
          <a:solidFill>
            <a:srgbClr val="132B49"/>
          </a:solidFill>
          <a:ln w="12700">
            <a:solidFill>
              <a:srgbClr val="24476E"/>
            </a:solidFill>
            <a:prstDash val="solid"/>
          </a:ln>
        </p:spPr>
      </p:sp>
      <p:sp>
        <p:nvSpPr>
          <p:cNvPr id="13" name="Text 11"/>
          <p:cNvSpPr/>
          <p:nvPr/>
        </p:nvSpPr>
        <p:spPr>
          <a:xfrm>
            <a:off x="3877056" y="1682496"/>
            <a:ext cx="987552" cy="237744"/>
          </a:xfrm>
          <a:prstGeom prst="rect">
            <a:avLst/>
          </a:prstGeom>
          <a:noFill/>
          <a:ln/>
        </p:spPr>
        <p:txBody>
          <a:bodyPr wrap="square" lIns="0" tIns="0" rIns="0" bIns="0" rtlCol="0" anchor="ctr"/>
          <a:lstStyle/>
          <a:p>
            <a:pPr marL="0" indent="0" algn="ctr">
              <a:buNone/>
            </a:pPr>
            <a:r>
              <a:rPr lang="en-US" sz="1850" b="1" dirty="0">
                <a:solidFill>
                  <a:srgbClr val="60A5FA"/>
                </a:solidFill>
              </a:rPr>
              <a:t>4.1K</a:t>
            </a:r>
            <a:endParaRPr lang="en-US" sz="1850" dirty="0"/>
          </a:p>
        </p:txBody>
      </p:sp>
      <p:sp>
        <p:nvSpPr>
          <p:cNvPr id="14" name="Text 12"/>
          <p:cNvSpPr/>
          <p:nvPr/>
        </p:nvSpPr>
        <p:spPr>
          <a:xfrm>
            <a:off x="3858768" y="2002536"/>
            <a:ext cx="1024128" cy="109728"/>
          </a:xfrm>
          <a:prstGeom prst="rect">
            <a:avLst/>
          </a:prstGeom>
          <a:noFill/>
          <a:ln/>
        </p:spPr>
        <p:txBody>
          <a:bodyPr wrap="square" lIns="0" tIns="0" rIns="0" bIns="0" rtlCol="0" anchor="ctr"/>
          <a:lstStyle/>
          <a:p>
            <a:pPr marL="0" indent="0" algn="ctr">
              <a:buNone/>
            </a:pPr>
            <a:r>
              <a:rPr lang="en-US" sz="700" dirty="0">
                <a:solidFill>
                  <a:srgbClr val="94A3B8"/>
                </a:solidFill>
              </a:rPr>
              <a:t>Delivered</a:t>
            </a:r>
            <a:endParaRPr lang="en-US" sz="700" dirty="0"/>
          </a:p>
        </p:txBody>
      </p:sp>
      <p:sp>
        <p:nvSpPr>
          <p:cNvPr id="15" name="Shape 13"/>
          <p:cNvSpPr/>
          <p:nvPr/>
        </p:nvSpPr>
        <p:spPr>
          <a:xfrm>
            <a:off x="5175504" y="1572768"/>
            <a:ext cx="1170432" cy="749808"/>
          </a:xfrm>
          <a:prstGeom prst="roundRect">
            <a:avLst>
              <a:gd name="adj" fmla="val 8537"/>
            </a:avLst>
          </a:prstGeom>
          <a:solidFill>
            <a:srgbClr val="132B49"/>
          </a:solidFill>
          <a:ln w="12700">
            <a:solidFill>
              <a:srgbClr val="24476E"/>
            </a:solidFill>
            <a:prstDash val="solid"/>
          </a:ln>
        </p:spPr>
      </p:sp>
      <p:sp>
        <p:nvSpPr>
          <p:cNvPr id="16" name="Text 14"/>
          <p:cNvSpPr/>
          <p:nvPr/>
        </p:nvSpPr>
        <p:spPr>
          <a:xfrm>
            <a:off x="5266944" y="1682496"/>
            <a:ext cx="987552" cy="237744"/>
          </a:xfrm>
          <a:prstGeom prst="rect">
            <a:avLst/>
          </a:prstGeom>
          <a:noFill/>
          <a:ln/>
        </p:spPr>
        <p:txBody>
          <a:bodyPr wrap="square" lIns="0" tIns="0" rIns="0" bIns="0" rtlCol="0" anchor="ctr"/>
          <a:lstStyle/>
          <a:p>
            <a:pPr marL="0" indent="0" algn="ctr">
              <a:buNone/>
            </a:pPr>
            <a:r>
              <a:rPr lang="en-US" sz="1850" b="1" dirty="0">
                <a:solidFill>
                  <a:srgbClr val="F87171"/>
                </a:solidFill>
              </a:rPr>
              <a:t>127</a:t>
            </a:r>
            <a:endParaRPr lang="en-US" sz="1850" dirty="0"/>
          </a:p>
        </p:txBody>
      </p:sp>
      <p:sp>
        <p:nvSpPr>
          <p:cNvPr id="17" name="Text 15"/>
          <p:cNvSpPr/>
          <p:nvPr/>
        </p:nvSpPr>
        <p:spPr>
          <a:xfrm>
            <a:off x="5248656" y="2002536"/>
            <a:ext cx="1024128" cy="109728"/>
          </a:xfrm>
          <a:prstGeom prst="rect">
            <a:avLst/>
          </a:prstGeom>
          <a:noFill/>
          <a:ln/>
        </p:spPr>
        <p:txBody>
          <a:bodyPr wrap="square" lIns="0" tIns="0" rIns="0" bIns="0" rtlCol="0" anchor="ctr"/>
          <a:lstStyle/>
          <a:p>
            <a:pPr marL="0" indent="0" algn="ctr">
              <a:buNone/>
            </a:pPr>
            <a:r>
              <a:rPr lang="en-US" sz="700" dirty="0">
                <a:solidFill>
                  <a:srgbClr val="94A3B8"/>
                </a:solidFill>
              </a:rPr>
              <a:t>Alerts</a:t>
            </a:r>
            <a:endParaRPr lang="en-US" sz="700" dirty="0"/>
          </a:p>
        </p:txBody>
      </p:sp>
      <p:sp>
        <p:nvSpPr>
          <p:cNvPr id="18" name="Shape 16"/>
          <p:cNvSpPr/>
          <p:nvPr/>
        </p:nvSpPr>
        <p:spPr>
          <a:xfrm>
            <a:off x="1143000" y="4439412"/>
            <a:ext cx="256032" cy="452628"/>
          </a:xfrm>
          <a:prstGeom prst="rect">
            <a:avLst/>
          </a:prstGeom>
          <a:solidFill>
            <a:srgbClr val="22D3EE"/>
          </a:solidFill>
          <a:ln w="12700">
            <a:solidFill>
              <a:srgbClr val="333333">
                <a:alpha val="0"/>
              </a:srgbClr>
            </a:solidFill>
            <a:prstDash val="solid"/>
          </a:ln>
        </p:spPr>
      </p:sp>
      <p:sp>
        <p:nvSpPr>
          <p:cNvPr id="19" name="Shape 17"/>
          <p:cNvSpPr/>
          <p:nvPr/>
        </p:nvSpPr>
        <p:spPr>
          <a:xfrm>
            <a:off x="1645920" y="4213098"/>
            <a:ext cx="256032" cy="678942"/>
          </a:xfrm>
          <a:prstGeom prst="rect">
            <a:avLst/>
          </a:prstGeom>
          <a:solidFill>
            <a:srgbClr val="A78BFA"/>
          </a:solidFill>
          <a:ln w="12700">
            <a:solidFill>
              <a:srgbClr val="333333">
                <a:alpha val="0"/>
              </a:srgbClr>
            </a:solidFill>
            <a:prstDash val="solid"/>
          </a:ln>
        </p:spPr>
      </p:sp>
      <p:sp>
        <p:nvSpPr>
          <p:cNvPr id="20" name="Shape 18"/>
          <p:cNvSpPr/>
          <p:nvPr/>
        </p:nvSpPr>
        <p:spPr>
          <a:xfrm>
            <a:off x="2148840" y="4007358"/>
            <a:ext cx="256032" cy="884682"/>
          </a:xfrm>
          <a:prstGeom prst="rect">
            <a:avLst/>
          </a:prstGeom>
          <a:solidFill>
            <a:srgbClr val="22D3EE"/>
          </a:solidFill>
          <a:ln w="12700">
            <a:solidFill>
              <a:srgbClr val="333333">
                <a:alpha val="0"/>
              </a:srgbClr>
            </a:solidFill>
            <a:prstDash val="solid"/>
          </a:ln>
        </p:spPr>
      </p:sp>
      <p:sp>
        <p:nvSpPr>
          <p:cNvPr id="21" name="Shape 19"/>
          <p:cNvSpPr/>
          <p:nvPr/>
        </p:nvSpPr>
        <p:spPr>
          <a:xfrm>
            <a:off x="2651760" y="3760470"/>
            <a:ext cx="256032" cy="1131570"/>
          </a:xfrm>
          <a:prstGeom prst="rect">
            <a:avLst/>
          </a:prstGeom>
          <a:solidFill>
            <a:srgbClr val="A78BFA"/>
          </a:solidFill>
          <a:ln w="12700">
            <a:solidFill>
              <a:srgbClr val="333333">
                <a:alpha val="0"/>
              </a:srgbClr>
            </a:solidFill>
            <a:prstDash val="solid"/>
          </a:ln>
        </p:spPr>
      </p:sp>
      <p:sp>
        <p:nvSpPr>
          <p:cNvPr id="22" name="Shape 20"/>
          <p:cNvSpPr/>
          <p:nvPr/>
        </p:nvSpPr>
        <p:spPr>
          <a:xfrm>
            <a:off x="3154680" y="3616452"/>
            <a:ext cx="256032" cy="1275588"/>
          </a:xfrm>
          <a:prstGeom prst="rect">
            <a:avLst/>
          </a:prstGeom>
          <a:solidFill>
            <a:srgbClr val="22D3EE"/>
          </a:solidFill>
          <a:ln w="12700">
            <a:solidFill>
              <a:srgbClr val="333333">
                <a:alpha val="0"/>
              </a:srgbClr>
            </a:solidFill>
            <a:prstDash val="solid"/>
          </a:ln>
        </p:spPr>
      </p:sp>
      <p:sp>
        <p:nvSpPr>
          <p:cNvPr id="23" name="Shape 21"/>
          <p:cNvSpPr/>
          <p:nvPr/>
        </p:nvSpPr>
        <p:spPr>
          <a:xfrm>
            <a:off x="3657600" y="3336646"/>
            <a:ext cx="256032" cy="1555394"/>
          </a:xfrm>
          <a:prstGeom prst="rect">
            <a:avLst/>
          </a:prstGeom>
          <a:solidFill>
            <a:srgbClr val="A78BFA"/>
          </a:solidFill>
          <a:ln w="12700">
            <a:solidFill>
              <a:srgbClr val="333333">
                <a:alpha val="0"/>
              </a:srgbClr>
            </a:solidFill>
            <a:prstDash val="solid"/>
          </a:ln>
        </p:spPr>
      </p:sp>
      <p:sp>
        <p:nvSpPr>
          <p:cNvPr id="24" name="Shape 22"/>
          <p:cNvSpPr/>
          <p:nvPr/>
        </p:nvSpPr>
        <p:spPr>
          <a:xfrm>
            <a:off x="4160520" y="3143250"/>
            <a:ext cx="256032" cy="1748790"/>
          </a:xfrm>
          <a:prstGeom prst="rect">
            <a:avLst/>
          </a:prstGeom>
          <a:solidFill>
            <a:srgbClr val="22D3EE"/>
          </a:solidFill>
          <a:ln w="12700">
            <a:solidFill>
              <a:srgbClr val="333333">
                <a:alpha val="0"/>
              </a:srgbClr>
            </a:solidFill>
            <a:prstDash val="solid"/>
          </a:ln>
        </p:spPr>
      </p:sp>
      <p:sp>
        <p:nvSpPr>
          <p:cNvPr id="25" name="Shape 23"/>
          <p:cNvSpPr/>
          <p:nvPr/>
        </p:nvSpPr>
        <p:spPr>
          <a:xfrm>
            <a:off x="4663440" y="2916936"/>
            <a:ext cx="256032" cy="1975104"/>
          </a:xfrm>
          <a:prstGeom prst="rect">
            <a:avLst/>
          </a:prstGeom>
          <a:solidFill>
            <a:srgbClr val="A78BFA"/>
          </a:solidFill>
          <a:ln w="12700">
            <a:solidFill>
              <a:srgbClr val="333333">
                <a:alpha val="0"/>
              </a:srgbClr>
            </a:solidFill>
            <a:prstDash val="solid"/>
          </a:ln>
        </p:spPr>
      </p:sp>
      <p:sp>
        <p:nvSpPr>
          <p:cNvPr id="26" name="Text 24"/>
          <p:cNvSpPr/>
          <p:nvPr/>
        </p:nvSpPr>
        <p:spPr>
          <a:xfrm>
            <a:off x="1143000" y="5166360"/>
            <a:ext cx="2286000" cy="137160"/>
          </a:xfrm>
          <a:prstGeom prst="rect">
            <a:avLst/>
          </a:prstGeom>
          <a:noFill/>
          <a:ln/>
        </p:spPr>
        <p:txBody>
          <a:bodyPr wrap="square" lIns="0" tIns="0" rIns="0" bIns="0" rtlCol="0" anchor="ctr"/>
          <a:lstStyle/>
          <a:p>
            <a:pPr marL="0" indent="0">
              <a:buNone/>
            </a:pPr>
            <a:r>
              <a:rPr lang="en-US" sz="850" dirty="0">
                <a:solidFill>
                  <a:srgbClr val="94A3B8"/>
                </a:solidFill>
              </a:rPr>
              <a:t>Processing rate by interval</a:t>
            </a:r>
            <a:endParaRPr lang="en-US" sz="850" dirty="0"/>
          </a:p>
        </p:txBody>
      </p:sp>
      <p:sp>
        <p:nvSpPr>
          <p:cNvPr id="27" name="Shape 25"/>
          <p:cNvSpPr/>
          <p:nvPr/>
        </p:nvSpPr>
        <p:spPr>
          <a:xfrm>
            <a:off x="7178040" y="1170432"/>
            <a:ext cx="4251960" cy="658368"/>
          </a:xfrm>
          <a:prstGeom prst="roundRect">
            <a:avLst>
              <a:gd name="adj" fmla="val 11111"/>
            </a:avLst>
          </a:prstGeom>
          <a:solidFill>
            <a:srgbClr val="0F2138"/>
          </a:solidFill>
          <a:ln w="12700">
            <a:solidFill>
              <a:srgbClr val="224668"/>
            </a:solidFill>
            <a:prstDash val="solid"/>
          </a:ln>
        </p:spPr>
      </p:sp>
      <p:sp>
        <p:nvSpPr>
          <p:cNvPr id="28" name="Shape 26"/>
          <p:cNvSpPr/>
          <p:nvPr/>
        </p:nvSpPr>
        <p:spPr>
          <a:xfrm>
            <a:off x="7178040" y="1170432"/>
            <a:ext cx="54864" cy="658368"/>
          </a:xfrm>
          <a:prstGeom prst="rect">
            <a:avLst/>
          </a:prstGeom>
          <a:solidFill>
            <a:srgbClr val="22D3EE"/>
          </a:solidFill>
          <a:ln w="12700">
            <a:solidFill>
              <a:srgbClr val="22D3EE">
                <a:alpha val="0"/>
              </a:srgbClr>
            </a:solidFill>
            <a:prstDash val="solid"/>
          </a:ln>
        </p:spPr>
      </p:sp>
      <p:sp>
        <p:nvSpPr>
          <p:cNvPr id="29" name="Text 27"/>
          <p:cNvSpPr/>
          <p:nvPr/>
        </p:nvSpPr>
        <p:spPr>
          <a:xfrm>
            <a:off x="7342632" y="1298448"/>
            <a:ext cx="3922776" cy="201168"/>
          </a:xfrm>
          <a:prstGeom prst="rect">
            <a:avLst/>
          </a:prstGeom>
          <a:noFill/>
          <a:ln/>
        </p:spPr>
        <p:txBody>
          <a:bodyPr wrap="square" lIns="0" tIns="0" rIns="0" bIns="0" rtlCol="0" anchor="ctr"/>
          <a:lstStyle/>
          <a:p>
            <a:pPr marL="0" indent="0">
              <a:buNone/>
            </a:pPr>
            <a:r>
              <a:rPr lang="en-US" sz="1280" b="1" dirty="0">
                <a:solidFill>
                  <a:srgbClr val="FFFFFF"/>
                </a:solidFill>
              </a:rPr>
              <a:t>Input rate</a:t>
            </a:r>
            <a:endParaRPr lang="en-US" sz="1280" dirty="0"/>
          </a:p>
        </p:txBody>
      </p:sp>
      <p:sp>
        <p:nvSpPr>
          <p:cNvPr id="30" name="Text 28"/>
          <p:cNvSpPr/>
          <p:nvPr/>
        </p:nvSpPr>
        <p:spPr>
          <a:xfrm>
            <a:off x="7342632" y="1627632"/>
            <a:ext cx="3922776" cy="91440"/>
          </a:xfrm>
          <a:prstGeom prst="rect">
            <a:avLst/>
          </a:prstGeom>
          <a:noFill/>
          <a:ln/>
        </p:spPr>
        <p:txBody>
          <a:bodyPr wrap="square" lIns="254" tIns="254" rIns="254" bIns="254" rtlCol="0" anchor="ctr">
            <a:normAutofit/>
          </a:bodyPr>
          <a:lstStyle/>
          <a:p>
            <a:pPr marL="0" indent="0">
              <a:buNone/>
            </a:pPr>
            <a:r>
              <a:rPr lang="en-US" sz="980" dirty="0">
                <a:solidFill>
                  <a:srgbClr val="CBD5E1"/>
                </a:solidFill>
              </a:rPr>
              <a:t>Events arriving per second.</a:t>
            </a:r>
            <a:endParaRPr lang="en-US" sz="980" dirty="0"/>
          </a:p>
        </p:txBody>
      </p:sp>
      <p:sp>
        <p:nvSpPr>
          <p:cNvPr id="31" name="Shape 29"/>
          <p:cNvSpPr/>
          <p:nvPr/>
        </p:nvSpPr>
        <p:spPr>
          <a:xfrm>
            <a:off x="7178040" y="2057400"/>
            <a:ext cx="4251960" cy="658368"/>
          </a:xfrm>
          <a:prstGeom prst="roundRect">
            <a:avLst>
              <a:gd name="adj" fmla="val 11111"/>
            </a:avLst>
          </a:prstGeom>
          <a:solidFill>
            <a:srgbClr val="0F2138"/>
          </a:solidFill>
          <a:ln w="12700">
            <a:solidFill>
              <a:srgbClr val="224668"/>
            </a:solidFill>
            <a:prstDash val="solid"/>
          </a:ln>
        </p:spPr>
      </p:sp>
      <p:sp>
        <p:nvSpPr>
          <p:cNvPr id="32" name="Shape 30"/>
          <p:cNvSpPr/>
          <p:nvPr/>
        </p:nvSpPr>
        <p:spPr>
          <a:xfrm>
            <a:off x="7178040" y="2057400"/>
            <a:ext cx="54864" cy="658368"/>
          </a:xfrm>
          <a:prstGeom prst="rect">
            <a:avLst/>
          </a:prstGeom>
          <a:solidFill>
            <a:srgbClr val="A78BFA"/>
          </a:solidFill>
          <a:ln w="12700">
            <a:solidFill>
              <a:srgbClr val="A78BFA">
                <a:alpha val="0"/>
              </a:srgbClr>
            </a:solidFill>
            <a:prstDash val="solid"/>
          </a:ln>
        </p:spPr>
      </p:sp>
      <p:sp>
        <p:nvSpPr>
          <p:cNvPr id="33" name="Text 31"/>
          <p:cNvSpPr/>
          <p:nvPr/>
        </p:nvSpPr>
        <p:spPr>
          <a:xfrm>
            <a:off x="7342632" y="2185416"/>
            <a:ext cx="3922776" cy="201168"/>
          </a:xfrm>
          <a:prstGeom prst="rect">
            <a:avLst/>
          </a:prstGeom>
          <a:noFill/>
          <a:ln/>
        </p:spPr>
        <p:txBody>
          <a:bodyPr wrap="square" lIns="0" tIns="0" rIns="0" bIns="0" rtlCol="0" anchor="ctr"/>
          <a:lstStyle/>
          <a:p>
            <a:pPr marL="0" indent="0">
              <a:buNone/>
            </a:pPr>
            <a:r>
              <a:rPr lang="en-US" sz="1280" b="1" dirty="0">
                <a:solidFill>
                  <a:srgbClr val="FFFFFF"/>
                </a:solidFill>
              </a:rPr>
              <a:t>Processing rate</a:t>
            </a:r>
            <a:endParaRPr lang="en-US" sz="1280" dirty="0"/>
          </a:p>
        </p:txBody>
      </p:sp>
      <p:sp>
        <p:nvSpPr>
          <p:cNvPr id="34" name="Text 32"/>
          <p:cNvSpPr/>
          <p:nvPr/>
        </p:nvSpPr>
        <p:spPr>
          <a:xfrm>
            <a:off x="7342632" y="2514600"/>
            <a:ext cx="3922776" cy="91440"/>
          </a:xfrm>
          <a:prstGeom prst="rect">
            <a:avLst/>
          </a:prstGeom>
          <a:noFill/>
          <a:ln/>
        </p:spPr>
        <p:txBody>
          <a:bodyPr wrap="square" lIns="254" tIns="254" rIns="254" bIns="254" rtlCol="0" anchor="ctr">
            <a:normAutofit/>
          </a:bodyPr>
          <a:lstStyle/>
          <a:p>
            <a:pPr marL="0" indent="0">
              <a:buNone/>
            </a:pPr>
            <a:r>
              <a:rPr lang="en-US" sz="980" dirty="0">
                <a:solidFill>
                  <a:srgbClr val="CBD5E1"/>
                </a:solidFill>
              </a:rPr>
              <a:t>Events completed per second.</a:t>
            </a:r>
            <a:endParaRPr lang="en-US" sz="980" dirty="0"/>
          </a:p>
        </p:txBody>
      </p:sp>
      <p:sp>
        <p:nvSpPr>
          <p:cNvPr id="35" name="Shape 33"/>
          <p:cNvSpPr/>
          <p:nvPr/>
        </p:nvSpPr>
        <p:spPr>
          <a:xfrm>
            <a:off x="7178040" y="2944368"/>
            <a:ext cx="4251960" cy="658368"/>
          </a:xfrm>
          <a:prstGeom prst="roundRect">
            <a:avLst>
              <a:gd name="adj" fmla="val 11111"/>
            </a:avLst>
          </a:prstGeom>
          <a:solidFill>
            <a:srgbClr val="0F2138"/>
          </a:solidFill>
          <a:ln w="12700">
            <a:solidFill>
              <a:srgbClr val="224668"/>
            </a:solidFill>
            <a:prstDash val="solid"/>
          </a:ln>
        </p:spPr>
      </p:sp>
      <p:sp>
        <p:nvSpPr>
          <p:cNvPr id="36" name="Shape 34"/>
          <p:cNvSpPr/>
          <p:nvPr/>
        </p:nvSpPr>
        <p:spPr>
          <a:xfrm>
            <a:off x="7178040" y="2944368"/>
            <a:ext cx="54864" cy="658368"/>
          </a:xfrm>
          <a:prstGeom prst="rect">
            <a:avLst/>
          </a:prstGeom>
          <a:solidFill>
            <a:srgbClr val="22D3EE"/>
          </a:solidFill>
          <a:ln w="12700">
            <a:solidFill>
              <a:srgbClr val="22D3EE">
                <a:alpha val="0"/>
              </a:srgbClr>
            </a:solidFill>
            <a:prstDash val="solid"/>
          </a:ln>
        </p:spPr>
      </p:sp>
      <p:sp>
        <p:nvSpPr>
          <p:cNvPr id="37" name="Text 35"/>
          <p:cNvSpPr/>
          <p:nvPr/>
        </p:nvSpPr>
        <p:spPr>
          <a:xfrm>
            <a:off x="7342632" y="3072384"/>
            <a:ext cx="3922776" cy="201168"/>
          </a:xfrm>
          <a:prstGeom prst="rect">
            <a:avLst/>
          </a:prstGeom>
          <a:noFill/>
          <a:ln/>
        </p:spPr>
        <p:txBody>
          <a:bodyPr wrap="square" lIns="0" tIns="0" rIns="0" bIns="0" rtlCol="0" anchor="ctr"/>
          <a:lstStyle/>
          <a:p>
            <a:pPr marL="0" indent="0">
              <a:buNone/>
            </a:pPr>
            <a:r>
              <a:rPr lang="en-US" sz="1280" b="1" dirty="0">
                <a:solidFill>
                  <a:srgbClr val="FFFFFF"/>
                </a:solidFill>
              </a:rPr>
              <a:t>Consumer lag</a:t>
            </a:r>
            <a:endParaRPr lang="en-US" sz="1280" dirty="0"/>
          </a:p>
        </p:txBody>
      </p:sp>
      <p:sp>
        <p:nvSpPr>
          <p:cNvPr id="38" name="Text 36"/>
          <p:cNvSpPr/>
          <p:nvPr/>
        </p:nvSpPr>
        <p:spPr>
          <a:xfrm>
            <a:off x="7342632" y="3401568"/>
            <a:ext cx="3922776" cy="91440"/>
          </a:xfrm>
          <a:prstGeom prst="rect">
            <a:avLst/>
          </a:prstGeom>
          <a:noFill/>
          <a:ln/>
        </p:spPr>
        <p:txBody>
          <a:bodyPr wrap="square" lIns="254" tIns="254" rIns="254" bIns="254" rtlCol="0" anchor="ctr">
            <a:normAutofit/>
          </a:bodyPr>
          <a:lstStyle/>
          <a:p>
            <a:pPr marL="0" indent="0">
              <a:buNone/>
            </a:pPr>
            <a:r>
              <a:rPr lang="en-US" sz="980" dirty="0">
                <a:solidFill>
                  <a:srgbClr val="CBD5E1"/>
                </a:solidFill>
              </a:rPr>
              <a:t>How far behind the latest event.</a:t>
            </a:r>
            <a:endParaRPr lang="en-US" sz="980" dirty="0"/>
          </a:p>
        </p:txBody>
      </p:sp>
      <p:sp>
        <p:nvSpPr>
          <p:cNvPr id="39" name="Shape 37"/>
          <p:cNvSpPr/>
          <p:nvPr/>
        </p:nvSpPr>
        <p:spPr>
          <a:xfrm>
            <a:off x="7178040" y="3831336"/>
            <a:ext cx="4251960" cy="658368"/>
          </a:xfrm>
          <a:prstGeom prst="roundRect">
            <a:avLst>
              <a:gd name="adj" fmla="val 11111"/>
            </a:avLst>
          </a:prstGeom>
          <a:solidFill>
            <a:srgbClr val="0F2138"/>
          </a:solidFill>
          <a:ln w="12700">
            <a:solidFill>
              <a:srgbClr val="224668"/>
            </a:solidFill>
            <a:prstDash val="solid"/>
          </a:ln>
        </p:spPr>
      </p:sp>
      <p:sp>
        <p:nvSpPr>
          <p:cNvPr id="40" name="Shape 38"/>
          <p:cNvSpPr/>
          <p:nvPr/>
        </p:nvSpPr>
        <p:spPr>
          <a:xfrm>
            <a:off x="7178040" y="3831336"/>
            <a:ext cx="54864" cy="658368"/>
          </a:xfrm>
          <a:prstGeom prst="rect">
            <a:avLst/>
          </a:prstGeom>
          <a:solidFill>
            <a:srgbClr val="A78BFA"/>
          </a:solidFill>
          <a:ln w="12700">
            <a:solidFill>
              <a:srgbClr val="A78BFA">
                <a:alpha val="0"/>
              </a:srgbClr>
            </a:solidFill>
            <a:prstDash val="solid"/>
          </a:ln>
        </p:spPr>
      </p:sp>
      <p:sp>
        <p:nvSpPr>
          <p:cNvPr id="41" name="Text 39"/>
          <p:cNvSpPr/>
          <p:nvPr/>
        </p:nvSpPr>
        <p:spPr>
          <a:xfrm>
            <a:off x="7342632" y="3959352"/>
            <a:ext cx="3922776" cy="201168"/>
          </a:xfrm>
          <a:prstGeom prst="rect">
            <a:avLst/>
          </a:prstGeom>
          <a:noFill/>
          <a:ln/>
        </p:spPr>
        <p:txBody>
          <a:bodyPr wrap="square" lIns="0" tIns="0" rIns="0" bIns="0" rtlCol="0" anchor="ctr"/>
          <a:lstStyle/>
          <a:p>
            <a:pPr marL="0" indent="0">
              <a:buNone/>
            </a:pPr>
            <a:r>
              <a:rPr lang="en-US" sz="1280" b="1" dirty="0">
                <a:solidFill>
                  <a:srgbClr val="FFFFFF"/>
                </a:solidFill>
              </a:rPr>
              <a:t>End-to-end latency</a:t>
            </a:r>
            <a:endParaRPr lang="en-US" sz="1280" dirty="0"/>
          </a:p>
        </p:txBody>
      </p:sp>
      <p:sp>
        <p:nvSpPr>
          <p:cNvPr id="42" name="Text 40"/>
          <p:cNvSpPr/>
          <p:nvPr/>
        </p:nvSpPr>
        <p:spPr>
          <a:xfrm>
            <a:off x="7342632" y="4288536"/>
            <a:ext cx="3922776" cy="91440"/>
          </a:xfrm>
          <a:prstGeom prst="rect">
            <a:avLst/>
          </a:prstGeom>
          <a:noFill/>
          <a:ln/>
        </p:spPr>
        <p:txBody>
          <a:bodyPr wrap="square" lIns="254" tIns="254" rIns="254" bIns="254" rtlCol="0" anchor="ctr">
            <a:normAutofit/>
          </a:bodyPr>
          <a:lstStyle/>
          <a:p>
            <a:pPr marL="0" indent="0">
              <a:buNone/>
            </a:pPr>
            <a:r>
              <a:rPr lang="en-US" sz="980" dirty="0">
                <a:solidFill>
                  <a:srgbClr val="CBD5E1"/>
                </a:solidFill>
              </a:rPr>
              <a:t>Event creation to usable output.</a:t>
            </a:r>
            <a:endParaRPr lang="en-US" sz="980" dirty="0"/>
          </a:p>
        </p:txBody>
      </p:sp>
      <p:sp>
        <p:nvSpPr>
          <p:cNvPr id="43" name="Shape 41"/>
          <p:cNvSpPr/>
          <p:nvPr/>
        </p:nvSpPr>
        <p:spPr>
          <a:xfrm>
            <a:off x="7178040" y="4718304"/>
            <a:ext cx="4251960" cy="658368"/>
          </a:xfrm>
          <a:prstGeom prst="roundRect">
            <a:avLst>
              <a:gd name="adj" fmla="val 11111"/>
            </a:avLst>
          </a:prstGeom>
          <a:solidFill>
            <a:srgbClr val="0F2138"/>
          </a:solidFill>
          <a:ln w="12700">
            <a:solidFill>
              <a:srgbClr val="224668"/>
            </a:solidFill>
            <a:prstDash val="solid"/>
          </a:ln>
        </p:spPr>
      </p:sp>
      <p:sp>
        <p:nvSpPr>
          <p:cNvPr id="44" name="Shape 42"/>
          <p:cNvSpPr/>
          <p:nvPr/>
        </p:nvSpPr>
        <p:spPr>
          <a:xfrm>
            <a:off x="7178040" y="4718304"/>
            <a:ext cx="54864" cy="658368"/>
          </a:xfrm>
          <a:prstGeom prst="rect">
            <a:avLst/>
          </a:prstGeom>
          <a:solidFill>
            <a:srgbClr val="22D3EE"/>
          </a:solidFill>
          <a:ln w="12700">
            <a:solidFill>
              <a:srgbClr val="22D3EE">
                <a:alpha val="0"/>
              </a:srgbClr>
            </a:solidFill>
            <a:prstDash val="solid"/>
          </a:ln>
        </p:spPr>
      </p:sp>
      <p:sp>
        <p:nvSpPr>
          <p:cNvPr id="45" name="Text 43"/>
          <p:cNvSpPr/>
          <p:nvPr/>
        </p:nvSpPr>
        <p:spPr>
          <a:xfrm>
            <a:off x="7342632" y="4846320"/>
            <a:ext cx="3922776" cy="201168"/>
          </a:xfrm>
          <a:prstGeom prst="rect">
            <a:avLst/>
          </a:prstGeom>
          <a:noFill/>
          <a:ln/>
        </p:spPr>
        <p:txBody>
          <a:bodyPr wrap="square" lIns="0" tIns="0" rIns="0" bIns="0" rtlCol="0" anchor="ctr"/>
          <a:lstStyle/>
          <a:p>
            <a:pPr marL="0" indent="0">
              <a:buNone/>
            </a:pPr>
            <a:r>
              <a:rPr lang="en-US" sz="1280" b="1" dirty="0">
                <a:solidFill>
                  <a:srgbClr val="FFFFFF"/>
                </a:solidFill>
              </a:rPr>
              <a:t>Failed records</a:t>
            </a:r>
            <a:endParaRPr lang="en-US" sz="1280" dirty="0"/>
          </a:p>
        </p:txBody>
      </p:sp>
      <p:sp>
        <p:nvSpPr>
          <p:cNvPr id="46" name="Text 44"/>
          <p:cNvSpPr/>
          <p:nvPr/>
        </p:nvSpPr>
        <p:spPr>
          <a:xfrm>
            <a:off x="7342632" y="5175504"/>
            <a:ext cx="3922776" cy="91440"/>
          </a:xfrm>
          <a:prstGeom prst="rect">
            <a:avLst/>
          </a:prstGeom>
          <a:noFill/>
          <a:ln/>
        </p:spPr>
        <p:txBody>
          <a:bodyPr wrap="square" lIns="254" tIns="254" rIns="254" bIns="254" rtlCol="0" anchor="ctr">
            <a:normAutofit/>
          </a:bodyPr>
          <a:lstStyle/>
          <a:p>
            <a:pPr marL="0" indent="0">
              <a:buNone/>
            </a:pPr>
            <a:r>
              <a:rPr lang="en-US" sz="980" dirty="0">
                <a:solidFill>
                  <a:srgbClr val="CBD5E1"/>
                </a:solidFill>
              </a:rPr>
              <a:t>Schema errors or bad data.</a:t>
            </a:r>
            <a:endParaRPr lang="en-US" sz="980" dirty="0"/>
          </a:p>
        </p:txBody>
      </p:sp>
      <p:sp>
        <p:nvSpPr>
          <p:cNvPr id="47" name="Slide Number Placeholder 0"/>
          <p:cNvSpPr>
            <a:spLocks noGrp="1"/>
          </p:cNvSpPr>
          <p:nvPr>
            <p:ph type="sldNum" sz="quarter" idx="4294967295"/>
          </p:nvPr>
        </p:nvSpPr>
        <p:spPr>
          <a:xfrm>
            <a:off x="11539728"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94A3B8"/>
                </a:solidFill>
                <a:latin typeface="Aptos"/>
                <a:ea typeface="Aptos"/>
                <a:cs typeface="Aptos"/>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4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426"/>
          </a:solidFill>
          <a:ln w="12700">
            <a:solidFill>
              <a:srgbClr val="071426">
                <a:alpha val="0"/>
              </a:srgbClr>
            </a:solidFill>
            <a:prstDash val="solid"/>
          </a:ln>
        </p:spPr>
      </p:sp>
      <p:sp>
        <p:nvSpPr>
          <p:cNvPr id="3" name="Text 1"/>
          <p:cNvSpPr/>
          <p:nvPr/>
        </p:nvSpPr>
        <p:spPr>
          <a:xfrm>
            <a:off x="594360" y="292608"/>
            <a:ext cx="10789920" cy="384048"/>
          </a:xfrm>
          <a:prstGeom prst="rect">
            <a:avLst/>
          </a:prstGeom>
          <a:noFill/>
          <a:ln/>
        </p:spPr>
        <p:txBody>
          <a:bodyPr wrap="square" lIns="0" tIns="0" rIns="0" bIns="0" rtlCol="0" anchor="ctr"/>
          <a:lstStyle/>
          <a:p>
            <a:pPr marL="0" indent="0">
              <a:buNone/>
            </a:pPr>
            <a:r>
              <a:rPr lang="en-US" sz="2750" b="1" dirty="0">
                <a:solidFill>
                  <a:srgbClr val="FFFFFF"/>
                </a:solidFill>
                <a:latin typeface="Aptos Display" pitchFamily="34" charset="0"/>
                <a:ea typeface="Aptos Display" pitchFamily="34" charset="-122"/>
                <a:cs typeface="Aptos Display" pitchFamily="34" charset="-120"/>
              </a:rPr>
              <a:t>Streaming across industries</a:t>
            </a:r>
            <a:endParaRPr lang="en-US" sz="2750" dirty="0"/>
          </a:p>
        </p:txBody>
      </p:sp>
      <p:sp>
        <p:nvSpPr>
          <p:cNvPr id="4" name="Text 2"/>
          <p:cNvSpPr/>
          <p:nvPr/>
        </p:nvSpPr>
        <p:spPr>
          <a:xfrm>
            <a:off x="612648" y="768096"/>
            <a:ext cx="10424160" cy="219456"/>
          </a:xfrm>
          <a:prstGeom prst="rect">
            <a:avLst/>
          </a:prstGeom>
          <a:noFill/>
          <a:ln/>
        </p:spPr>
        <p:txBody>
          <a:bodyPr wrap="square" lIns="0" tIns="0" rIns="0" bIns="0" rtlCol="0" anchor="ctr"/>
          <a:lstStyle/>
          <a:p>
            <a:pPr marL="0" indent="0">
              <a:buNone/>
            </a:pPr>
            <a:r>
              <a:rPr lang="en-US" sz="1100" dirty="0">
                <a:solidFill>
                  <a:srgbClr val="94A3B8"/>
                </a:solidFill>
                <a:latin typeface="Aptos" pitchFamily="34" charset="0"/>
                <a:ea typeface="Aptos" pitchFamily="34" charset="-122"/>
                <a:cs typeface="Aptos" pitchFamily="34" charset="-120"/>
              </a:rPr>
              <a:t>The pattern is the same: listen to events, process them quickly, act immediately.</a:t>
            </a:r>
            <a:endParaRPr lang="en-US" sz="1100" dirty="0"/>
          </a:p>
        </p:txBody>
      </p:sp>
      <p:pic>
        <p:nvPicPr>
          <p:cNvPr id="5" name="Image 0" descr="/mnt/data/a_high_tech_infographic_concept_illustration_sho.png"/>
          <p:cNvPicPr>
            <a:picLocks noChangeAspect="1"/>
          </p:cNvPicPr>
          <p:nvPr/>
        </p:nvPicPr>
        <p:blipFill>
          <a:blip r:embed="rId3"/>
          <a:srcRect l="18704" r="18704"/>
          <a:stretch/>
        </p:blipFill>
        <p:spPr>
          <a:xfrm>
            <a:off x="640080" y="1097280"/>
            <a:ext cx="5440680" cy="4892040"/>
          </a:xfrm>
          <a:prstGeom prst="rect">
            <a:avLst/>
          </a:prstGeom>
        </p:spPr>
      </p:pic>
      <p:sp>
        <p:nvSpPr>
          <p:cNvPr id="6" name="Shape 3"/>
          <p:cNvSpPr/>
          <p:nvPr/>
        </p:nvSpPr>
        <p:spPr>
          <a:xfrm>
            <a:off x="6510528" y="1143000"/>
            <a:ext cx="2240280" cy="1143000"/>
          </a:xfrm>
          <a:prstGeom prst="roundRect">
            <a:avLst>
              <a:gd name="adj" fmla="val 6400"/>
            </a:avLst>
          </a:prstGeom>
          <a:solidFill>
            <a:srgbClr val="0F2138"/>
          </a:solidFill>
          <a:ln w="12700">
            <a:solidFill>
              <a:srgbClr val="224668"/>
            </a:solidFill>
            <a:prstDash val="solid"/>
          </a:ln>
        </p:spPr>
      </p:sp>
      <p:sp>
        <p:nvSpPr>
          <p:cNvPr id="7" name="Shape 4"/>
          <p:cNvSpPr/>
          <p:nvPr/>
        </p:nvSpPr>
        <p:spPr>
          <a:xfrm>
            <a:off x="6510528" y="1143000"/>
            <a:ext cx="54864" cy="1143000"/>
          </a:xfrm>
          <a:prstGeom prst="rect">
            <a:avLst/>
          </a:prstGeom>
          <a:solidFill>
            <a:srgbClr val="F87171"/>
          </a:solidFill>
          <a:ln w="12700">
            <a:solidFill>
              <a:srgbClr val="F87171">
                <a:alpha val="0"/>
              </a:srgbClr>
            </a:solidFill>
            <a:prstDash val="solid"/>
          </a:ln>
        </p:spPr>
      </p:sp>
      <p:sp>
        <p:nvSpPr>
          <p:cNvPr id="8" name="Text 5"/>
          <p:cNvSpPr/>
          <p:nvPr/>
        </p:nvSpPr>
        <p:spPr>
          <a:xfrm>
            <a:off x="6675120" y="1271016"/>
            <a:ext cx="1911096" cy="201168"/>
          </a:xfrm>
          <a:prstGeom prst="rect">
            <a:avLst/>
          </a:prstGeom>
          <a:noFill/>
          <a:ln/>
        </p:spPr>
        <p:txBody>
          <a:bodyPr wrap="square" lIns="0" tIns="0" rIns="0" bIns="0" rtlCol="0" anchor="ctr"/>
          <a:lstStyle/>
          <a:p>
            <a:pPr marL="0" indent="0">
              <a:buNone/>
            </a:pPr>
            <a:r>
              <a:rPr lang="en-US" sz="1280" b="1" dirty="0">
                <a:solidFill>
                  <a:srgbClr val="FFFFFF"/>
                </a:solidFill>
              </a:rPr>
              <a:t>Banking</a:t>
            </a:r>
            <a:endParaRPr lang="en-US" sz="1280" dirty="0"/>
          </a:p>
        </p:txBody>
      </p:sp>
      <p:sp>
        <p:nvSpPr>
          <p:cNvPr id="9" name="Text 6"/>
          <p:cNvSpPr/>
          <p:nvPr/>
        </p:nvSpPr>
        <p:spPr>
          <a:xfrm>
            <a:off x="6675120" y="1600200"/>
            <a:ext cx="1911096" cy="576072"/>
          </a:xfrm>
          <a:prstGeom prst="rect">
            <a:avLst/>
          </a:prstGeom>
          <a:noFill/>
          <a:ln/>
        </p:spPr>
        <p:txBody>
          <a:bodyPr wrap="square" lIns="254" tIns="254" rIns="254" bIns="254" rtlCol="0" anchor="ctr">
            <a:normAutofit/>
          </a:bodyPr>
          <a:lstStyle/>
          <a:p>
            <a:pPr marL="0" indent="0">
              <a:buNone/>
            </a:pPr>
            <a:r>
              <a:rPr lang="en-US" sz="980" dirty="0">
                <a:solidFill>
                  <a:srgbClr val="CBD5E1"/>
                </a:solidFill>
              </a:rPr>
              <a:t>Fraud detection and card blocking</a:t>
            </a:r>
            <a:endParaRPr lang="en-US" sz="980" dirty="0"/>
          </a:p>
        </p:txBody>
      </p:sp>
      <p:sp>
        <p:nvSpPr>
          <p:cNvPr id="10" name="Shape 7"/>
          <p:cNvSpPr/>
          <p:nvPr/>
        </p:nvSpPr>
        <p:spPr>
          <a:xfrm>
            <a:off x="8933688" y="1143000"/>
            <a:ext cx="2240280" cy="1143000"/>
          </a:xfrm>
          <a:prstGeom prst="roundRect">
            <a:avLst>
              <a:gd name="adj" fmla="val 6400"/>
            </a:avLst>
          </a:prstGeom>
          <a:solidFill>
            <a:srgbClr val="0F2138"/>
          </a:solidFill>
          <a:ln w="12700">
            <a:solidFill>
              <a:srgbClr val="224668"/>
            </a:solidFill>
            <a:prstDash val="solid"/>
          </a:ln>
        </p:spPr>
      </p:sp>
      <p:sp>
        <p:nvSpPr>
          <p:cNvPr id="11" name="Shape 8"/>
          <p:cNvSpPr/>
          <p:nvPr/>
        </p:nvSpPr>
        <p:spPr>
          <a:xfrm>
            <a:off x="8933688" y="1143000"/>
            <a:ext cx="54864" cy="1143000"/>
          </a:xfrm>
          <a:prstGeom prst="rect">
            <a:avLst/>
          </a:prstGeom>
          <a:solidFill>
            <a:srgbClr val="FB923C"/>
          </a:solidFill>
          <a:ln w="12700">
            <a:solidFill>
              <a:srgbClr val="FB923C">
                <a:alpha val="0"/>
              </a:srgbClr>
            </a:solidFill>
            <a:prstDash val="solid"/>
          </a:ln>
        </p:spPr>
      </p:sp>
      <p:sp>
        <p:nvSpPr>
          <p:cNvPr id="12" name="Text 9"/>
          <p:cNvSpPr/>
          <p:nvPr/>
        </p:nvSpPr>
        <p:spPr>
          <a:xfrm>
            <a:off x="9098280" y="1271016"/>
            <a:ext cx="1911096" cy="201168"/>
          </a:xfrm>
          <a:prstGeom prst="rect">
            <a:avLst/>
          </a:prstGeom>
          <a:noFill/>
          <a:ln/>
        </p:spPr>
        <p:txBody>
          <a:bodyPr wrap="square" lIns="0" tIns="0" rIns="0" bIns="0" rtlCol="0" anchor="ctr"/>
          <a:lstStyle/>
          <a:p>
            <a:pPr marL="0" indent="0">
              <a:buNone/>
            </a:pPr>
            <a:r>
              <a:rPr lang="en-US" sz="1280" b="1" dirty="0">
                <a:solidFill>
                  <a:srgbClr val="FFFFFF"/>
                </a:solidFill>
              </a:rPr>
              <a:t>E-commerce</a:t>
            </a:r>
            <a:endParaRPr lang="en-US" sz="1280" dirty="0"/>
          </a:p>
        </p:txBody>
      </p:sp>
      <p:sp>
        <p:nvSpPr>
          <p:cNvPr id="13" name="Text 10"/>
          <p:cNvSpPr/>
          <p:nvPr/>
        </p:nvSpPr>
        <p:spPr>
          <a:xfrm>
            <a:off x="9098280" y="1600200"/>
            <a:ext cx="1911096" cy="576072"/>
          </a:xfrm>
          <a:prstGeom prst="rect">
            <a:avLst/>
          </a:prstGeom>
          <a:noFill/>
          <a:ln/>
        </p:spPr>
        <p:txBody>
          <a:bodyPr wrap="square" lIns="254" tIns="254" rIns="254" bIns="254" rtlCol="0" anchor="ctr">
            <a:normAutofit/>
          </a:bodyPr>
          <a:lstStyle/>
          <a:p>
            <a:pPr marL="0" indent="0">
              <a:buNone/>
            </a:pPr>
            <a:r>
              <a:rPr lang="en-US" sz="980" dirty="0">
                <a:solidFill>
                  <a:srgbClr val="CBD5E1"/>
                </a:solidFill>
              </a:rPr>
              <a:t>Live order and stock updates</a:t>
            </a:r>
            <a:endParaRPr lang="en-US" sz="980" dirty="0"/>
          </a:p>
        </p:txBody>
      </p:sp>
      <p:sp>
        <p:nvSpPr>
          <p:cNvPr id="14" name="Shape 11"/>
          <p:cNvSpPr/>
          <p:nvPr/>
        </p:nvSpPr>
        <p:spPr>
          <a:xfrm>
            <a:off x="6510528" y="2715768"/>
            <a:ext cx="2240280" cy="1143000"/>
          </a:xfrm>
          <a:prstGeom prst="roundRect">
            <a:avLst>
              <a:gd name="adj" fmla="val 6400"/>
            </a:avLst>
          </a:prstGeom>
          <a:solidFill>
            <a:srgbClr val="0F2138"/>
          </a:solidFill>
          <a:ln w="12700">
            <a:solidFill>
              <a:srgbClr val="224668"/>
            </a:solidFill>
            <a:prstDash val="solid"/>
          </a:ln>
        </p:spPr>
      </p:sp>
      <p:sp>
        <p:nvSpPr>
          <p:cNvPr id="15" name="Shape 12"/>
          <p:cNvSpPr/>
          <p:nvPr/>
        </p:nvSpPr>
        <p:spPr>
          <a:xfrm>
            <a:off x="6510528" y="2715768"/>
            <a:ext cx="54864" cy="1143000"/>
          </a:xfrm>
          <a:prstGeom prst="rect">
            <a:avLst/>
          </a:prstGeom>
          <a:solidFill>
            <a:srgbClr val="34D399"/>
          </a:solidFill>
          <a:ln w="12700">
            <a:solidFill>
              <a:srgbClr val="34D399">
                <a:alpha val="0"/>
              </a:srgbClr>
            </a:solidFill>
            <a:prstDash val="solid"/>
          </a:ln>
        </p:spPr>
      </p:sp>
      <p:sp>
        <p:nvSpPr>
          <p:cNvPr id="16" name="Text 13"/>
          <p:cNvSpPr/>
          <p:nvPr/>
        </p:nvSpPr>
        <p:spPr>
          <a:xfrm>
            <a:off x="6675120" y="2843784"/>
            <a:ext cx="1911096" cy="201168"/>
          </a:xfrm>
          <a:prstGeom prst="rect">
            <a:avLst/>
          </a:prstGeom>
          <a:noFill/>
          <a:ln/>
        </p:spPr>
        <p:txBody>
          <a:bodyPr wrap="square" lIns="0" tIns="0" rIns="0" bIns="0" rtlCol="0" anchor="ctr"/>
          <a:lstStyle/>
          <a:p>
            <a:pPr marL="0" indent="0">
              <a:buNone/>
            </a:pPr>
            <a:r>
              <a:rPr lang="en-US" sz="1280" b="1" dirty="0">
                <a:solidFill>
                  <a:srgbClr val="FFFFFF"/>
                </a:solidFill>
              </a:rPr>
              <a:t>Manufacturing</a:t>
            </a:r>
            <a:endParaRPr lang="en-US" sz="1280" dirty="0"/>
          </a:p>
        </p:txBody>
      </p:sp>
      <p:sp>
        <p:nvSpPr>
          <p:cNvPr id="17" name="Text 14"/>
          <p:cNvSpPr/>
          <p:nvPr/>
        </p:nvSpPr>
        <p:spPr>
          <a:xfrm>
            <a:off x="6675120" y="3172968"/>
            <a:ext cx="1911096" cy="576072"/>
          </a:xfrm>
          <a:prstGeom prst="rect">
            <a:avLst/>
          </a:prstGeom>
          <a:noFill/>
          <a:ln/>
        </p:spPr>
        <p:txBody>
          <a:bodyPr wrap="square" lIns="254" tIns="254" rIns="254" bIns="254" rtlCol="0" anchor="ctr">
            <a:normAutofit/>
          </a:bodyPr>
          <a:lstStyle/>
          <a:p>
            <a:pPr marL="0" indent="0">
              <a:buNone/>
            </a:pPr>
            <a:r>
              <a:rPr lang="en-US" sz="980" dirty="0">
                <a:solidFill>
                  <a:srgbClr val="CBD5E1"/>
                </a:solidFill>
              </a:rPr>
              <a:t>Machine sensor monitoring</a:t>
            </a:r>
            <a:endParaRPr lang="en-US" sz="980" dirty="0"/>
          </a:p>
        </p:txBody>
      </p:sp>
      <p:sp>
        <p:nvSpPr>
          <p:cNvPr id="18" name="Shape 15"/>
          <p:cNvSpPr/>
          <p:nvPr/>
        </p:nvSpPr>
        <p:spPr>
          <a:xfrm>
            <a:off x="8933688" y="2715768"/>
            <a:ext cx="2240280" cy="1143000"/>
          </a:xfrm>
          <a:prstGeom prst="roundRect">
            <a:avLst>
              <a:gd name="adj" fmla="val 6400"/>
            </a:avLst>
          </a:prstGeom>
          <a:solidFill>
            <a:srgbClr val="0F2138"/>
          </a:solidFill>
          <a:ln w="12700">
            <a:solidFill>
              <a:srgbClr val="224668"/>
            </a:solidFill>
            <a:prstDash val="solid"/>
          </a:ln>
        </p:spPr>
      </p:sp>
      <p:sp>
        <p:nvSpPr>
          <p:cNvPr id="19" name="Shape 16"/>
          <p:cNvSpPr/>
          <p:nvPr/>
        </p:nvSpPr>
        <p:spPr>
          <a:xfrm>
            <a:off x="8933688" y="2715768"/>
            <a:ext cx="54864" cy="1143000"/>
          </a:xfrm>
          <a:prstGeom prst="rect">
            <a:avLst/>
          </a:prstGeom>
          <a:solidFill>
            <a:srgbClr val="60A5FA"/>
          </a:solidFill>
          <a:ln w="12700">
            <a:solidFill>
              <a:srgbClr val="60A5FA">
                <a:alpha val="0"/>
              </a:srgbClr>
            </a:solidFill>
            <a:prstDash val="solid"/>
          </a:ln>
        </p:spPr>
      </p:sp>
      <p:sp>
        <p:nvSpPr>
          <p:cNvPr id="20" name="Text 17"/>
          <p:cNvSpPr/>
          <p:nvPr/>
        </p:nvSpPr>
        <p:spPr>
          <a:xfrm>
            <a:off x="9098280" y="2843784"/>
            <a:ext cx="1911096" cy="201168"/>
          </a:xfrm>
          <a:prstGeom prst="rect">
            <a:avLst/>
          </a:prstGeom>
          <a:noFill/>
          <a:ln/>
        </p:spPr>
        <p:txBody>
          <a:bodyPr wrap="square" lIns="0" tIns="0" rIns="0" bIns="0" rtlCol="0" anchor="ctr"/>
          <a:lstStyle/>
          <a:p>
            <a:pPr marL="0" indent="0">
              <a:buNone/>
            </a:pPr>
            <a:r>
              <a:rPr lang="en-US" sz="1280" b="1" dirty="0">
                <a:solidFill>
                  <a:srgbClr val="FFFFFF"/>
                </a:solidFill>
              </a:rPr>
              <a:t>Transport</a:t>
            </a:r>
            <a:endParaRPr lang="en-US" sz="1280" dirty="0"/>
          </a:p>
        </p:txBody>
      </p:sp>
      <p:sp>
        <p:nvSpPr>
          <p:cNvPr id="21" name="Text 18"/>
          <p:cNvSpPr/>
          <p:nvPr/>
        </p:nvSpPr>
        <p:spPr>
          <a:xfrm>
            <a:off x="9098280" y="3172968"/>
            <a:ext cx="1911096" cy="576072"/>
          </a:xfrm>
          <a:prstGeom prst="rect">
            <a:avLst/>
          </a:prstGeom>
          <a:noFill/>
          <a:ln/>
        </p:spPr>
        <p:txBody>
          <a:bodyPr wrap="square" lIns="254" tIns="254" rIns="254" bIns="254" rtlCol="0" anchor="ctr">
            <a:normAutofit/>
          </a:bodyPr>
          <a:lstStyle/>
          <a:p>
            <a:pPr marL="0" indent="0">
              <a:buNone/>
            </a:pPr>
            <a:r>
              <a:rPr lang="en-US" sz="980" dirty="0">
                <a:solidFill>
                  <a:srgbClr val="CBD5E1"/>
                </a:solidFill>
              </a:rPr>
              <a:t>Location, routing and ETA</a:t>
            </a:r>
            <a:endParaRPr lang="en-US" sz="980" dirty="0"/>
          </a:p>
        </p:txBody>
      </p:sp>
      <p:sp>
        <p:nvSpPr>
          <p:cNvPr id="22" name="Shape 19"/>
          <p:cNvSpPr/>
          <p:nvPr/>
        </p:nvSpPr>
        <p:spPr>
          <a:xfrm>
            <a:off x="6510528" y="4288536"/>
            <a:ext cx="2240280" cy="1143000"/>
          </a:xfrm>
          <a:prstGeom prst="roundRect">
            <a:avLst>
              <a:gd name="adj" fmla="val 6400"/>
            </a:avLst>
          </a:prstGeom>
          <a:solidFill>
            <a:srgbClr val="0F2138"/>
          </a:solidFill>
          <a:ln w="12700">
            <a:solidFill>
              <a:srgbClr val="224668"/>
            </a:solidFill>
            <a:prstDash val="solid"/>
          </a:ln>
        </p:spPr>
      </p:sp>
      <p:sp>
        <p:nvSpPr>
          <p:cNvPr id="23" name="Shape 20"/>
          <p:cNvSpPr/>
          <p:nvPr/>
        </p:nvSpPr>
        <p:spPr>
          <a:xfrm>
            <a:off x="6510528" y="4288536"/>
            <a:ext cx="54864" cy="1143000"/>
          </a:xfrm>
          <a:prstGeom prst="rect">
            <a:avLst/>
          </a:prstGeom>
          <a:solidFill>
            <a:srgbClr val="A78BFA"/>
          </a:solidFill>
          <a:ln w="12700">
            <a:solidFill>
              <a:srgbClr val="A78BFA">
                <a:alpha val="0"/>
              </a:srgbClr>
            </a:solidFill>
            <a:prstDash val="solid"/>
          </a:ln>
        </p:spPr>
      </p:sp>
      <p:sp>
        <p:nvSpPr>
          <p:cNvPr id="24" name="Text 21"/>
          <p:cNvSpPr/>
          <p:nvPr/>
        </p:nvSpPr>
        <p:spPr>
          <a:xfrm>
            <a:off x="6675120" y="4416552"/>
            <a:ext cx="1911096" cy="201168"/>
          </a:xfrm>
          <a:prstGeom prst="rect">
            <a:avLst/>
          </a:prstGeom>
          <a:noFill/>
          <a:ln/>
        </p:spPr>
        <p:txBody>
          <a:bodyPr wrap="square" lIns="0" tIns="0" rIns="0" bIns="0" rtlCol="0" anchor="ctr"/>
          <a:lstStyle/>
          <a:p>
            <a:pPr marL="0" indent="0">
              <a:buNone/>
            </a:pPr>
            <a:r>
              <a:rPr lang="en-US" sz="1280" b="1" dirty="0">
                <a:solidFill>
                  <a:srgbClr val="FFFFFF"/>
                </a:solidFill>
              </a:rPr>
              <a:t>Healthcare</a:t>
            </a:r>
            <a:endParaRPr lang="en-US" sz="1280" dirty="0"/>
          </a:p>
        </p:txBody>
      </p:sp>
      <p:sp>
        <p:nvSpPr>
          <p:cNvPr id="25" name="Text 22"/>
          <p:cNvSpPr/>
          <p:nvPr/>
        </p:nvSpPr>
        <p:spPr>
          <a:xfrm>
            <a:off x="6675120" y="4745736"/>
            <a:ext cx="1911096" cy="576072"/>
          </a:xfrm>
          <a:prstGeom prst="rect">
            <a:avLst/>
          </a:prstGeom>
          <a:noFill/>
          <a:ln/>
        </p:spPr>
        <p:txBody>
          <a:bodyPr wrap="square" lIns="254" tIns="254" rIns="254" bIns="254" rtlCol="0" anchor="ctr">
            <a:normAutofit/>
          </a:bodyPr>
          <a:lstStyle/>
          <a:p>
            <a:pPr marL="0" indent="0">
              <a:buNone/>
            </a:pPr>
            <a:r>
              <a:rPr lang="en-US" sz="980" dirty="0">
                <a:solidFill>
                  <a:srgbClr val="CBD5E1"/>
                </a:solidFill>
              </a:rPr>
              <a:t>Patient device alerts</a:t>
            </a:r>
            <a:endParaRPr lang="en-US" sz="980" dirty="0"/>
          </a:p>
        </p:txBody>
      </p:sp>
      <p:sp>
        <p:nvSpPr>
          <p:cNvPr id="26" name="Shape 23"/>
          <p:cNvSpPr/>
          <p:nvPr/>
        </p:nvSpPr>
        <p:spPr>
          <a:xfrm>
            <a:off x="8933688" y="4288536"/>
            <a:ext cx="2240280" cy="1143000"/>
          </a:xfrm>
          <a:prstGeom prst="roundRect">
            <a:avLst>
              <a:gd name="adj" fmla="val 6400"/>
            </a:avLst>
          </a:prstGeom>
          <a:solidFill>
            <a:srgbClr val="0F2138"/>
          </a:solidFill>
          <a:ln w="12700">
            <a:solidFill>
              <a:srgbClr val="224668"/>
            </a:solidFill>
            <a:prstDash val="solid"/>
          </a:ln>
        </p:spPr>
      </p:sp>
      <p:sp>
        <p:nvSpPr>
          <p:cNvPr id="27" name="Shape 24"/>
          <p:cNvSpPr/>
          <p:nvPr/>
        </p:nvSpPr>
        <p:spPr>
          <a:xfrm>
            <a:off x="8933688" y="4288536"/>
            <a:ext cx="54864" cy="1143000"/>
          </a:xfrm>
          <a:prstGeom prst="rect">
            <a:avLst/>
          </a:prstGeom>
          <a:solidFill>
            <a:srgbClr val="22D3EE"/>
          </a:solidFill>
          <a:ln w="12700">
            <a:solidFill>
              <a:srgbClr val="22D3EE">
                <a:alpha val="0"/>
              </a:srgbClr>
            </a:solidFill>
            <a:prstDash val="solid"/>
          </a:ln>
        </p:spPr>
      </p:sp>
      <p:sp>
        <p:nvSpPr>
          <p:cNvPr id="28" name="Text 25"/>
          <p:cNvSpPr/>
          <p:nvPr/>
        </p:nvSpPr>
        <p:spPr>
          <a:xfrm>
            <a:off x="9098280" y="4416552"/>
            <a:ext cx="1911096" cy="201168"/>
          </a:xfrm>
          <a:prstGeom prst="rect">
            <a:avLst/>
          </a:prstGeom>
          <a:noFill/>
          <a:ln/>
        </p:spPr>
        <p:txBody>
          <a:bodyPr wrap="square" lIns="0" tIns="0" rIns="0" bIns="0" rtlCol="0" anchor="ctr"/>
          <a:lstStyle/>
          <a:p>
            <a:pPr marL="0" indent="0">
              <a:buNone/>
            </a:pPr>
            <a:r>
              <a:rPr lang="en-US" sz="1280" b="1" dirty="0">
                <a:solidFill>
                  <a:srgbClr val="FFFFFF"/>
                </a:solidFill>
              </a:rPr>
              <a:t>Cybersecurity</a:t>
            </a:r>
            <a:endParaRPr lang="en-US" sz="1280" dirty="0"/>
          </a:p>
        </p:txBody>
      </p:sp>
      <p:sp>
        <p:nvSpPr>
          <p:cNvPr id="29" name="Text 26"/>
          <p:cNvSpPr/>
          <p:nvPr/>
        </p:nvSpPr>
        <p:spPr>
          <a:xfrm>
            <a:off x="9098280" y="4745736"/>
            <a:ext cx="1911096" cy="576072"/>
          </a:xfrm>
          <a:prstGeom prst="rect">
            <a:avLst/>
          </a:prstGeom>
          <a:noFill/>
          <a:ln/>
        </p:spPr>
        <p:txBody>
          <a:bodyPr wrap="square" lIns="254" tIns="254" rIns="254" bIns="254" rtlCol="0" anchor="ctr">
            <a:normAutofit/>
          </a:bodyPr>
          <a:lstStyle/>
          <a:p>
            <a:pPr marL="0" indent="0">
              <a:buNone/>
            </a:pPr>
            <a:r>
              <a:rPr lang="en-US" sz="980" dirty="0">
                <a:solidFill>
                  <a:srgbClr val="CBD5E1"/>
                </a:solidFill>
              </a:rPr>
              <a:t>Continuous log analysis</a:t>
            </a:r>
            <a:endParaRPr lang="en-US" sz="980" dirty="0"/>
          </a:p>
        </p:txBody>
      </p:sp>
      <p:sp>
        <p:nvSpPr>
          <p:cNvPr id="30" name="Slide Number Placeholder 0"/>
          <p:cNvSpPr>
            <a:spLocks noGrp="1"/>
          </p:cNvSpPr>
          <p:nvPr>
            <p:ph type="sldNum" sz="quarter" idx="4294967295"/>
          </p:nvPr>
        </p:nvSpPr>
        <p:spPr>
          <a:xfrm>
            <a:off x="11539728"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94A3B8"/>
                </a:solidFill>
                <a:latin typeface="Aptos"/>
                <a:ea typeface="Aptos"/>
                <a:cs typeface="Aptos"/>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14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426"/>
          </a:solidFill>
          <a:ln w="12700">
            <a:solidFill>
              <a:srgbClr val="071426">
                <a:alpha val="0"/>
              </a:srgbClr>
            </a:solidFill>
            <a:prstDash val="solid"/>
          </a:ln>
        </p:spPr>
      </p:sp>
      <p:sp>
        <p:nvSpPr>
          <p:cNvPr id="3" name="Text 1"/>
          <p:cNvSpPr/>
          <p:nvPr/>
        </p:nvSpPr>
        <p:spPr>
          <a:xfrm>
            <a:off x="594360" y="292608"/>
            <a:ext cx="10789920" cy="384048"/>
          </a:xfrm>
          <a:prstGeom prst="rect">
            <a:avLst/>
          </a:prstGeom>
          <a:noFill/>
          <a:ln/>
        </p:spPr>
        <p:txBody>
          <a:bodyPr wrap="square" lIns="0" tIns="0" rIns="0" bIns="0" rtlCol="0" anchor="ctr"/>
          <a:lstStyle/>
          <a:p>
            <a:pPr marL="0" indent="0">
              <a:buNone/>
            </a:pPr>
            <a:r>
              <a:rPr lang="en-US" sz="2750" b="1" dirty="0">
                <a:solidFill>
                  <a:srgbClr val="FFFFFF"/>
                </a:solidFill>
                <a:latin typeface="Aptos Display" pitchFamily="34" charset="0"/>
                <a:ea typeface="Aptos Display" pitchFamily="34" charset="-122"/>
                <a:cs typeface="Aptos Display" pitchFamily="34" charset="-120"/>
              </a:rPr>
              <a:t>Best practices and troubleshooting</a:t>
            </a:r>
            <a:endParaRPr lang="en-US" sz="2750" dirty="0"/>
          </a:p>
        </p:txBody>
      </p:sp>
      <p:sp>
        <p:nvSpPr>
          <p:cNvPr id="4" name="Text 2"/>
          <p:cNvSpPr/>
          <p:nvPr/>
        </p:nvSpPr>
        <p:spPr>
          <a:xfrm>
            <a:off x="612648" y="768096"/>
            <a:ext cx="10424160" cy="219456"/>
          </a:xfrm>
          <a:prstGeom prst="rect">
            <a:avLst/>
          </a:prstGeom>
          <a:noFill/>
          <a:ln/>
        </p:spPr>
        <p:txBody>
          <a:bodyPr wrap="square" lIns="0" tIns="0" rIns="0" bIns="0" rtlCol="0" anchor="ctr"/>
          <a:lstStyle/>
          <a:p>
            <a:pPr marL="0" indent="0">
              <a:buNone/>
            </a:pPr>
            <a:r>
              <a:rPr lang="en-US" sz="1100" dirty="0">
                <a:solidFill>
                  <a:srgbClr val="94A3B8"/>
                </a:solidFill>
                <a:latin typeface="Aptos" pitchFamily="34" charset="0"/>
                <a:ea typeface="Aptos" pitchFamily="34" charset="-122"/>
                <a:cs typeface="Aptos" pitchFamily="34" charset="-120"/>
              </a:rPr>
              <a:t>Design for late data, duplicate data, bad data and restarts.</a:t>
            </a:r>
            <a:endParaRPr lang="en-US" sz="1100" dirty="0"/>
          </a:p>
        </p:txBody>
      </p:sp>
      <p:sp>
        <p:nvSpPr>
          <p:cNvPr id="5" name="Shape 3"/>
          <p:cNvSpPr/>
          <p:nvPr/>
        </p:nvSpPr>
        <p:spPr>
          <a:xfrm>
            <a:off x="777240" y="1188720"/>
            <a:ext cx="4846320" cy="868680"/>
          </a:xfrm>
          <a:prstGeom prst="roundRect">
            <a:avLst>
              <a:gd name="adj" fmla="val 8421"/>
            </a:avLst>
          </a:prstGeom>
          <a:solidFill>
            <a:srgbClr val="0F2138"/>
          </a:solidFill>
          <a:ln w="12700">
            <a:solidFill>
              <a:srgbClr val="224668"/>
            </a:solidFill>
            <a:prstDash val="solid"/>
          </a:ln>
        </p:spPr>
      </p:sp>
      <p:sp>
        <p:nvSpPr>
          <p:cNvPr id="6" name="Shape 4"/>
          <p:cNvSpPr/>
          <p:nvPr/>
        </p:nvSpPr>
        <p:spPr>
          <a:xfrm>
            <a:off x="777240" y="1188720"/>
            <a:ext cx="54864" cy="868680"/>
          </a:xfrm>
          <a:prstGeom prst="rect">
            <a:avLst/>
          </a:prstGeom>
          <a:solidFill>
            <a:srgbClr val="34D399"/>
          </a:solidFill>
          <a:ln w="12700">
            <a:solidFill>
              <a:srgbClr val="34D399">
                <a:alpha val="0"/>
              </a:srgbClr>
            </a:solidFill>
            <a:prstDash val="solid"/>
          </a:ln>
        </p:spPr>
      </p:sp>
      <p:sp>
        <p:nvSpPr>
          <p:cNvPr id="7" name="Text 5"/>
          <p:cNvSpPr/>
          <p:nvPr/>
        </p:nvSpPr>
        <p:spPr>
          <a:xfrm>
            <a:off x="941832" y="1316736"/>
            <a:ext cx="4517136" cy="201168"/>
          </a:xfrm>
          <a:prstGeom prst="rect">
            <a:avLst/>
          </a:prstGeom>
          <a:noFill/>
          <a:ln/>
        </p:spPr>
        <p:txBody>
          <a:bodyPr wrap="square" lIns="0" tIns="0" rIns="0" bIns="0" rtlCol="0" anchor="ctr"/>
          <a:lstStyle/>
          <a:p>
            <a:pPr marL="0" indent="0">
              <a:buNone/>
            </a:pPr>
            <a:r>
              <a:rPr lang="en-US" sz="1280" b="1" dirty="0">
                <a:solidFill>
                  <a:srgbClr val="FFFFFF"/>
                </a:solidFill>
              </a:rPr>
              <a:t>Schema + versioning</a:t>
            </a:r>
            <a:endParaRPr lang="en-US" sz="1280" dirty="0"/>
          </a:p>
        </p:txBody>
      </p:sp>
      <p:sp>
        <p:nvSpPr>
          <p:cNvPr id="8" name="Text 6"/>
          <p:cNvSpPr/>
          <p:nvPr/>
        </p:nvSpPr>
        <p:spPr>
          <a:xfrm>
            <a:off x="941832" y="1645920"/>
            <a:ext cx="4517136" cy="301752"/>
          </a:xfrm>
          <a:prstGeom prst="rect">
            <a:avLst/>
          </a:prstGeom>
          <a:noFill/>
          <a:ln/>
        </p:spPr>
        <p:txBody>
          <a:bodyPr wrap="square" lIns="254" tIns="254" rIns="254" bIns="254" rtlCol="0" anchor="ctr">
            <a:normAutofit/>
          </a:bodyPr>
          <a:lstStyle/>
          <a:p>
            <a:pPr marL="0" indent="0">
              <a:buNone/>
            </a:pPr>
            <a:r>
              <a:rPr lang="en-US" sz="980" dirty="0">
                <a:solidFill>
                  <a:srgbClr val="CBD5E1"/>
                </a:solidFill>
              </a:rPr>
              <a:t>Prevent incompatible producer and consumer changes.</a:t>
            </a:r>
            <a:endParaRPr lang="en-US" sz="980" dirty="0"/>
          </a:p>
        </p:txBody>
      </p:sp>
      <p:sp>
        <p:nvSpPr>
          <p:cNvPr id="9" name="Shape 7"/>
          <p:cNvSpPr/>
          <p:nvPr/>
        </p:nvSpPr>
        <p:spPr>
          <a:xfrm>
            <a:off x="777240" y="2304288"/>
            <a:ext cx="4846320" cy="868680"/>
          </a:xfrm>
          <a:prstGeom prst="roundRect">
            <a:avLst>
              <a:gd name="adj" fmla="val 8421"/>
            </a:avLst>
          </a:prstGeom>
          <a:solidFill>
            <a:srgbClr val="0F2138"/>
          </a:solidFill>
          <a:ln w="12700">
            <a:solidFill>
              <a:srgbClr val="224668"/>
            </a:solidFill>
            <a:prstDash val="solid"/>
          </a:ln>
        </p:spPr>
      </p:sp>
      <p:sp>
        <p:nvSpPr>
          <p:cNvPr id="10" name="Shape 8"/>
          <p:cNvSpPr/>
          <p:nvPr/>
        </p:nvSpPr>
        <p:spPr>
          <a:xfrm>
            <a:off x="777240" y="2304288"/>
            <a:ext cx="54864" cy="868680"/>
          </a:xfrm>
          <a:prstGeom prst="rect">
            <a:avLst/>
          </a:prstGeom>
          <a:solidFill>
            <a:srgbClr val="22D3EE"/>
          </a:solidFill>
          <a:ln w="12700">
            <a:solidFill>
              <a:srgbClr val="22D3EE">
                <a:alpha val="0"/>
              </a:srgbClr>
            </a:solidFill>
            <a:prstDash val="solid"/>
          </a:ln>
        </p:spPr>
      </p:sp>
      <p:sp>
        <p:nvSpPr>
          <p:cNvPr id="11" name="Text 9"/>
          <p:cNvSpPr/>
          <p:nvPr/>
        </p:nvSpPr>
        <p:spPr>
          <a:xfrm>
            <a:off x="941832" y="2432304"/>
            <a:ext cx="4517136" cy="201168"/>
          </a:xfrm>
          <a:prstGeom prst="rect">
            <a:avLst/>
          </a:prstGeom>
          <a:noFill/>
          <a:ln/>
        </p:spPr>
        <p:txBody>
          <a:bodyPr wrap="square" lIns="0" tIns="0" rIns="0" bIns="0" rtlCol="0" anchor="ctr"/>
          <a:lstStyle/>
          <a:p>
            <a:pPr marL="0" indent="0">
              <a:buNone/>
            </a:pPr>
            <a:r>
              <a:rPr lang="en-US" sz="1280" b="1" dirty="0">
                <a:solidFill>
                  <a:srgbClr val="FFFFFF"/>
                </a:solidFill>
              </a:rPr>
              <a:t>Unique event ID</a:t>
            </a:r>
            <a:endParaRPr lang="en-US" sz="1280" dirty="0"/>
          </a:p>
        </p:txBody>
      </p:sp>
      <p:sp>
        <p:nvSpPr>
          <p:cNvPr id="12" name="Text 10"/>
          <p:cNvSpPr/>
          <p:nvPr/>
        </p:nvSpPr>
        <p:spPr>
          <a:xfrm>
            <a:off x="941832" y="2761488"/>
            <a:ext cx="4517136" cy="301752"/>
          </a:xfrm>
          <a:prstGeom prst="rect">
            <a:avLst/>
          </a:prstGeom>
          <a:noFill/>
          <a:ln/>
        </p:spPr>
        <p:txBody>
          <a:bodyPr wrap="square" lIns="254" tIns="254" rIns="254" bIns="254" rtlCol="0" anchor="ctr">
            <a:normAutofit/>
          </a:bodyPr>
          <a:lstStyle/>
          <a:p>
            <a:pPr marL="0" indent="0">
              <a:buNone/>
            </a:pPr>
            <a:r>
              <a:rPr lang="en-US" sz="980" dirty="0">
                <a:solidFill>
                  <a:srgbClr val="CBD5E1"/>
                </a:solidFill>
              </a:rPr>
              <a:t>Support deduplication and traceability.</a:t>
            </a:r>
            <a:endParaRPr lang="en-US" sz="980" dirty="0"/>
          </a:p>
        </p:txBody>
      </p:sp>
      <p:sp>
        <p:nvSpPr>
          <p:cNvPr id="13" name="Shape 11"/>
          <p:cNvSpPr/>
          <p:nvPr/>
        </p:nvSpPr>
        <p:spPr>
          <a:xfrm>
            <a:off x="777240" y="3419856"/>
            <a:ext cx="4846320" cy="868680"/>
          </a:xfrm>
          <a:prstGeom prst="roundRect">
            <a:avLst>
              <a:gd name="adj" fmla="val 8421"/>
            </a:avLst>
          </a:prstGeom>
          <a:solidFill>
            <a:srgbClr val="0F2138"/>
          </a:solidFill>
          <a:ln w="12700">
            <a:solidFill>
              <a:srgbClr val="224668"/>
            </a:solidFill>
            <a:prstDash val="solid"/>
          </a:ln>
        </p:spPr>
      </p:sp>
      <p:sp>
        <p:nvSpPr>
          <p:cNvPr id="14" name="Shape 12"/>
          <p:cNvSpPr/>
          <p:nvPr/>
        </p:nvSpPr>
        <p:spPr>
          <a:xfrm>
            <a:off x="777240" y="3419856"/>
            <a:ext cx="54864" cy="868680"/>
          </a:xfrm>
          <a:prstGeom prst="rect">
            <a:avLst/>
          </a:prstGeom>
          <a:solidFill>
            <a:srgbClr val="FB923C"/>
          </a:solidFill>
          <a:ln w="12700">
            <a:solidFill>
              <a:srgbClr val="FB923C">
                <a:alpha val="0"/>
              </a:srgbClr>
            </a:solidFill>
            <a:prstDash val="solid"/>
          </a:ln>
        </p:spPr>
      </p:sp>
      <p:sp>
        <p:nvSpPr>
          <p:cNvPr id="15" name="Text 13"/>
          <p:cNvSpPr/>
          <p:nvPr/>
        </p:nvSpPr>
        <p:spPr>
          <a:xfrm>
            <a:off x="941832" y="3547872"/>
            <a:ext cx="4517136" cy="201168"/>
          </a:xfrm>
          <a:prstGeom prst="rect">
            <a:avLst/>
          </a:prstGeom>
          <a:noFill/>
          <a:ln/>
        </p:spPr>
        <p:txBody>
          <a:bodyPr wrap="square" lIns="0" tIns="0" rIns="0" bIns="0" rtlCol="0" anchor="ctr"/>
          <a:lstStyle/>
          <a:p>
            <a:pPr marL="0" indent="0">
              <a:buNone/>
            </a:pPr>
            <a:r>
              <a:rPr lang="en-US" sz="1280" b="1" dirty="0">
                <a:solidFill>
                  <a:srgbClr val="FFFFFF"/>
                </a:solidFill>
              </a:rPr>
              <a:t>Watermark + event time</a:t>
            </a:r>
            <a:endParaRPr lang="en-US" sz="1280" dirty="0"/>
          </a:p>
        </p:txBody>
      </p:sp>
      <p:sp>
        <p:nvSpPr>
          <p:cNvPr id="16" name="Text 14"/>
          <p:cNvSpPr/>
          <p:nvPr/>
        </p:nvSpPr>
        <p:spPr>
          <a:xfrm>
            <a:off x="941832" y="3877056"/>
            <a:ext cx="4517136" cy="301752"/>
          </a:xfrm>
          <a:prstGeom prst="rect">
            <a:avLst/>
          </a:prstGeom>
          <a:noFill/>
          <a:ln/>
        </p:spPr>
        <p:txBody>
          <a:bodyPr wrap="square" lIns="254" tIns="254" rIns="254" bIns="254" rtlCol="0" anchor="ctr">
            <a:normAutofit/>
          </a:bodyPr>
          <a:lstStyle/>
          <a:p>
            <a:pPr marL="0" indent="0">
              <a:buNone/>
            </a:pPr>
            <a:r>
              <a:rPr lang="en-US" sz="980" dirty="0">
                <a:solidFill>
                  <a:srgbClr val="CBD5E1"/>
                </a:solidFill>
              </a:rPr>
              <a:t>Handle late events without keeping state forever.</a:t>
            </a:r>
            <a:endParaRPr lang="en-US" sz="980" dirty="0"/>
          </a:p>
        </p:txBody>
      </p:sp>
      <p:sp>
        <p:nvSpPr>
          <p:cNvPr id="17" name="Shape 15"/>
          <p:cNvSpPr/>
          <p:nvPr/>
        </p:nvSpPr>
        <p:spPr>
          <a:xfrm>
            <a:off x="777240" y="4535424"/>
            <a:ext cx="4846320" cy="868680"/>
          </a:xfrm>
          <a:prstGeom prst="roundRect">
            <a:avLst>
              <a:gd name="adj" fmla="val 8421"/>
            </a:avLst>
          </a:prstGeom>
          <a:solidFill>
            <a:srgbClr val="0F2138"/>
          </a:solidFill>
          <a:ln w="12700">
            <a:solidFill>
              <a:srgbClr val="224668"/>
            </a:solidFill>
            <a:prstDash val="solid"/>
          </a:ln>
        </p:spPr>
      </p:sp>
      <p:sp>
        <p:nvSpPr>
          <p:cNvPr id="18" name="Shape 16"/>
          <p:cNvSpPr/>
          <p:nvPr/>
        </p:nvSpPr>
        <p:spPr>
          <a:xfrm>
            <a:off x="777240" y="4535424"/>
            <a:ext cx="54864" cy="868680"/>
          </a:xfrm>
          <a:prstGeom prst="rect">
            <a:avLst/>
          </a:prstGeom>
          <a:solidFill>
            <a:srgbClr val="A78BFA"/>
          </a:solidFill>
          <a:ln w="12700">
            <a:solidFill>
              <a:srgbClr val="A78BFA">
                <a:alpha val="0"/>
              </a:srgbClr>
            </a:solidFill>
            <a:prstDash val="solid"/>
          </a:ln>
        </p:spPr>
      </p:sp>
      <p:sp>
        <p:nvSpPr>
          <p:cNvPr id="19" name="Text 17"/>
          <p:cNvSpPr/>
          <p:nvPr/>
        </p:nvSpPr>
        <p:spPr>
          <a:xfrm>
            <a:off x="941832" y="4663440"/>
            <a:ext cx="4517136" cy="201168"/>
          </a:xfrm>
          <a:prstGeom prst="rect">
            <a:avLst/>
          </a:prstGeom>
          <a:noFill/>
          <a:ln/>
        </p:spPr>
        <p:txBody>
          <a:bodyPr wrap="square" lIns="0" tIns="0" rIns="0" bIns="0" rtlCol="0" anchor="ctr"/>
          <a:lstStyle/>
          <a:p>
            <a:pPr marL="0" indent="0">
              <a:buNone/>
            </a:pPr>
            <a:r>
              <a:rPr lang="en-US" sz="1280" b="1" dirty="0">
                <a:solidFill>
                  <a:srgbClr val="FFFFFF"/>
                </a:solidFill>
              </a:rPr>
              <a:t>Checkpoint</a:t>
            </a:r>
            <a:endParaRPr lang="en-US" sz="1280" dirty="0"/>
          </a:p>
        </p:txBody>
      </p:sp>
      <p:sp>
        <p:nvSpPr>
          <p:cNvPr id="20" name="Text 18"/>
          <p:cNvSpPr/>
          <p:nvPr/>
        </p:nvSpPr>
        <p:spPr>
          <a:xfrm>
            <a:off x="941832" y="4992624"/>
            <a:ext cx="4517136" cy="301752"/>
          </a:xfrm>
          <a:prstGeom prst="rect">
            <a:avLst/>
          </a:prstGeom>
          <a:noFill/>
          <a:ln/>
        </p:spPr>
        <p:txBody>
          <a:bodyPr wrap="square" lIns="254" tIns="254" rIns="254" bIns="254" rtlCol="0" anchor="ctr">
            <a:normAutofit/>
          </a:bodyPr>
          <a:lstStyle/>
          <a:p>
            <a:pPr marL="0" indent="0">
              <a:buNone/>
            </a:pPr>
            <a:r>
              <a:rPr lang="en-US" sz="980" dirty="0">
                <a:solidFill>
                  <a:srgbClr val="CBD5E1"/>
                </a:solidFill>
              </a:rPr>
              <a:t>Restart safely after failures.</a:t>
            </a:r>
            <a:endParaRPr lang="en-US" sz="980" dirty="0"/>
          </a:p>
        </p:txBody>
      </p:sp>
      <p:sp>
        <p:nvSpPr>
          <p:cNvPr id="21" name="Shape 19"/>
          <p:cNvSpPr/>
          <p:nvPr/>
        </p:nvSpPr>
        <p:spPr>
          <a:xfrm>
            <a:off x="6126480" y="1188720"/>
            <a:ext cx="5257800" cy="4434840"/>
          </a:xfrm>
          <a:prstGeom prst="roundRect">
            <a:avLst>
              <a:gd name="adj" fmla="val 1443"/>
            </a:avLst>
          </a:prstGeom>
          <a:solidFill>
            <a:srgbClr val="0F2138"/>
          </a:solidFill>
          <a:ln w="12700">
            <a:solidFill>
              <a:srgbClr val="24476E"/>
            </a:solidFill>
            <a:prstDash val="solid"/>
          </a:ln>
        </p:spPr>
      </p:sp>
      <p:sp>
        <p:nvSpPr>
          <p:cNvPr id="22" name="Text 20"/>
          <p:cNvSpPr/>
          <p:nvPr/>
        </p:nvSpPr>
        <p:spPr>
          <a:xfrm>
            <a:off x="6400800" y="1444752"/>
            <a:ext cx="2011680" cy="201168"/>
          </a:xfrm>
          <a:prstGeom prst="rect">
            <a:avLst/>
          </a:prstGeom>
          <a:noFill/>
          <a:ln/>
        </p:spPr>
        <p:txBody>
          <a:bodyPr wrap="square" lIns="0" tIns="0" rIns="0" bIns="0" rtlCol="0" anchor="ctr"/>
          <a:lstStyle/>
          <a:p>
            <a:pPr marL="0" indent="0">
              <a:buNone/>
            </a:pPr>
            <a:r>
              <a:rPr lang="en-US" sz="1600" b="1" dirty="0">
                <a:solidFill>
                  <a:srgbClr val="FFFFFF"/>
                </a:solidFill>
              </a:rPr>
              <a:t>Common fixes</a:t>
            </a:r>
            <a:endParaRPr lang="en-US" sz="1600" dirty="0"/>
          </a:p>
        </p:txBody>
      </p:sp>
      <p:sp>
        <p:nvSpPr>
          <p:cNvPr id="23" name="Text 21"/>
          <p:cNvSpPr/>
          <p:nvPr/>
        </p:nvSpPr>
        <p:spPr>
          <a:xfrm>
            <a:off x="6400800" y="1965960"/>
            <a:ext cx="1371600" cy="146304"/>
          </a:xfrm>
          <a:prstGeom prst="rect">
            <a:avLst/>
          </a:prstGeom>
          <a:noFill/>
          <a:ln/>
        </p:spPr>
        <p:txBody>
          <a:bodyPr wrap="square" lIns="0" tIns="0" rIns="0" bIns="0" rtlCol="0" anchor="ctr"/>
          <a:lstStyle/>
          <a:p>
            <a:pPr marL="0" indent="0">
              <a:buNone/>
            </a:pPr>
            <a:r>
              <a:rPr lang="en-US" sz="1000" b="1" dirty="0">
                <a:solidFill>
                  <a:srgbClr val="F87171"/>
                </a:solidFill>
              </a:rPr>
              <a:t>No output</a:t>
            </a:r>
            <a:endParaRPr lang="en-US" sz="1000" dirty="0"/>
          </a:p>
        </p:txBody>
      </p:sp>
      <p:sp>
        <p:nvSpPr>
          <p:cNvPr id="24" name="Text 22"/>
          <p:cNvSpPr/>
          <p:nvPr/>
        </p:nvSpPr>
        <p:spPr>
          <a:xfrm>
            <a:off x="7955280" y="1965960"/>
            <a:ext cx="2560320" cy="146304"/>
          </a:xfrm>
          <a:prstGeom prst="rect">
            <a:avLst/>
          </a:prstGeom>
          <a:noFill/>
          <a:ln/>
        </p:spPr>
        <p:txBody>
          <a:bodyPr wrap="square" lIns="0" tIns="0" rIns="0" bIns="0" rtlCol="0" anchor="ctr"/>
          <a:lstStyle/>
          <a:p>
            <a:pPr marL="0" indent="0">
              <a:buNone/>
            </a:pPr>
            <a:r>
              <a:rPr lang="en-US" sz="1000" dirty="0">
                <a:solidFill>
                  <a:srgbClr val="34D399"/>
                </a:solidFill>
              </a:rPr>
              <a:t>add a new event/file</a:t>
            </a:r>
            <a:endParaRPr lang="en-US" sz="1000" dirty="0"/>
          </a:p>
        </p:txBody>
      </p:sp>
      <p:sp>
        <p:nvSpPr>
          <p:cNvPr id="25" name="Text 23"/>
          <p:cNvSpPr/>
          <p:nvPr/>
        </p:nvSpPr>
        <p:spPr>
          <a:xfrm>
            <a:off x="6400800" y="2743200"/>
            <a:ext cx="1371600" cy="146304"/>
          </a:xfrm>
          <a:prstGeom prst="rect">
            <a:avLst/>
          </a:prstGeom>
          <a:noFill/>
          <a:ln/>
        </p:spPr>
        <p:txBody>
          <a:bodyPr wrap="square" lIns="0" tIns="0" rIns="0" bIns="0" rtlCol="0" anchor="ctr"/>
          <a:lstStyle/>
          <a:p>
            <a:pPr marL="0" indent="0">
              <a:buNone/>
            </a:pPr>
            <a:r>
              <a:rPr lang="en-US" sz="1000" b="1" dirty="0">
                <a:solidFill>
                  <a:srgbClr val="F87171"/>
                </a:solidFill>
              </a:rPr>
              <a:t>Socket refused</a:t>
            </a:r>
            <a:endParaRPr lang="en-US" sz="1000" dirty="0"/>
          </a:p>
        </p:txBody>
      </p:sp>
      <p:sp>
        <p:nvSpPr>
          <p:cNvPr id="26" name="Text 24"/>
          <p:cNvSpPr/>
          <p:nvPr/>
        </p:nvSpPr>
        <p:spPr>
          <a:xfrm>
            <a:off x="7955280" y="2743200"/>
            <a:ext cx="2560320" cy="146304"/>
          </a:xfrm>
          <a:prstGeom prst="rect">
            <a:avLst/>
          </a:prstGeom>
          <a:noFill/>
          <a:ln/>
        </p:spPr>
        <p:txBody>
          <a:bodyPr wrap="square" lIns="0" tIns="0" rIns="0" bIns="0" rtlCol="0" anchor="ctr"/>
          <a:lstStyle/>
          <a:p>
            <a:pPr marL="0" indent="0">
              <a:buNone/>
            </a:pPr>
            <a:r>
              <a:rPr lang="en-US" sz="1000" dirty="0">
                <a:solidFill>
                  <a:srgbClr val="34D399"/>
                </a:solidFill>
              </a:rPr>
              <a:t>start the socket first</a:t>
            </a:r>
            <a:endParaRPr lang="en-US" sz="1000" dirty="0"/>
          </a:p>
        </p:txBody>
      </p:sp>
      <p:sp>
        <p:nvSpPr>
          <p:cNvPr id="27" name="Text 25"/>
          <p:cNvSpPr/>
          <p:nvPr/>
        </p:nvSpPr>
        <p:spPr>
          <a:xfrm>
            <a:off x="6400800" y="3520440"/>
            <a:ext cx="1371600" cy="146304"/>
          </a:xfrm>
          <a:prstGeom prst="rect">
            <a:avLst/>
          </a:prstGeom>
          <a:noFill/>
          <a:ln/>
        </p:spPr>
        <p:txBody>
          <a:bodyPr wrap="square" lIns="0" tIns="0" rIns="0" bIns="0" rtlCol="0" anchor="ctr"/>
          <a:lstStyle/>
          <a:p>
            <a:pPr marL="0" indent="0">
              <a:buNone/>
            </a:pPr>
            <a:r>
              <a:rPr lang="en-US" sz="1000" b="1" dirty="0">
                <a:solidFill>
                  <a:srgbClr val="F87171"/>
                </a:solidFill>
              </a:rPr>
              <a:t>Duplicates</a:t>
            </a:r>
            <a:endParaRPr lang="en-US" sz="1000" dirty="0"/>
          </a:p>
        </p:txBody>
      </p:sp>
      <p:sp>
        <p:nvSpPr>
          <p:cNvPr id="28" name="Text 26"/>
          <p:cNvSpPr/>
          <p:nvPr/>
        </p:nvSpPr>
        <p:spPr>
          <a:xfrm>
            <a:off x="7955280" y="3520440"/>
            <a:ext cx="2560320" cy="146304"/>
          </a:xfrm>
          <a:prstGeom prst="rect">
            <a:avLst/>
          </a:prstGeom>
          <a:noFill/>
          <a:ln/>
        </p:spPr>
        <p:txBody>
          <a:bodyPr wrap="square" lIns="0" tIns="0" rIns="0" bIns="0" rtlCol="0" anchor="ctr"/>
          <a:lstStyle/>
          <a:p>
            <a:pPr marL="0" indent="0">
              <a:buNone/>
            </a:pPr>
            <a:r>
              <a:rPr lang="en-US" sz="1000" dirty="0">
                <a:solidFill>
                  <a:srgbClr val="34D399"/>
                </a:solidFill>
              </a:rPr>
              <a:t>dedupe by event ID</a:t>
            </a:r>
            <a:endParaRPr lang="en-US" sz="1000" dirty="0"/>
          </a:p>
        </p:txBody>
      </p:sp>
      <p:sp>
        <p:nvSpPr>
          <p:cNvPr id="29" name="Text 27"/>
          <p:cNvSpPr/>
          <p:nvPr/>
        </p:nvSpPr>
        <p:spPr>
          <a:xfrm>
            <a:off x="6400800" y="4297680"/>
            <a:ext cx="1371600" cy="146304"/>
          </a:xfrm>
          <a:prstGeom prst="rect">
            <a:avLst/>
          </a:prstGeom>
          <a:noFill/>
          <a:ln/>
        </p:spPr>
        <p:txBody>
          <a:bodyPr wrap="square" lIns="0" tIns="0" rIns="0" bIns="0" rtlCol="0" anchor="ctr"/>
          <a:lstStyle/>
          <a:p>
            <a:pPr marL="0" indent="0">
              <a:buNone/>
            </a:pPr>
            <a:r>
              <a:rPr lang="en-US" sz="1000" b="1" dirty="0">
                <a:solidFill>
                  <a:srgbClr val="F87171"/>
                </a:solidFill>
              </a:rPr>
              <a:t>Rising lag</a:t>
            </a:r>
            <a:endParaRPr lang="en-US" sz="1000" dirty="0"/>
          </a:p>
        </p:txBody>
      </p:sp>
      <p:sp>
        <p:nvSpPr>
          <p:cNvPr id="30" name="Text 28"/>
          <p:cNvSpPr/>
          <p:nvPr/>
        </p:nvSpPr>
        <p:spPr>
          <a:xfrm>
            <a:off x="7955280" y="4297680"/>
            <a:ext cx="2560320" cy="146304"/>
          </a:xfrm>
          <a:prstGeom prst="rect">
            <a:avLst/>
          </a:prstGeom>
          <a:noFill/>
          <a:ln/>
        </p:spPr>
        <p:txBody>
          <a:bodyPr wrap="square" lIns="0" tIns="0" rIns="0" bIns="0" rtlCol="0" anchor="ctr"/>
          <a:lstStyle/>
          <a:p>
            <a:pPr marL="0" indent="0">
              <a:buNone/>
            </a:pPr>
            <a:r>
              <a:rPr lang="en-US" sz="1000" dirty="0">
                <a:solidFill>
                  <a:srgbClr val="34D399"/>
                </a:solidFill>
              </a:rPr>
              <a:t>scale or simplify logic</a:t>
            </a:r>
            <a:endParaRPr lang="en-US" sz="1000" dirty="0"/>
          </a:p>
        </p:txBody>
      </p:sp>
      <p:sp>
        <p:nvSpPr>
          <p:cNvPr id="31" name="Text 29"/>
          <p:cNvSpPr/>
          <p:nvPr/>
        </p:nvSpPr>
        <p:spPr>
          <a:xfrm>
            <a:off x="914400" y="5888736"/>
            <a:ext cx="10332720" cy="164592"/>
          </a:xfrm>
          <a:prstGeom prst="rect">
            <a:avLst/>
          </a:prstGeom>
          <a:noFill/>
          <a:ln/>
        </p:spPr>
        <p:txBody>
          <a:bodyPr wrap="square" lIns="0" tIns="0" rIns="0" bIns="0" rtlCol="0" anchor="ctr"/>
          <a:lstStyle/>
          <a:p>
            <a:pPr marL="0" indent="0" algn="ctr">
              <a:buNone/>
            </a:pPr>
            <a:r>
              <a:rPr lang="en-US" sz="1300" b="1" dirty="0">
                <a:solidFill>
                  <a:srgbClr val="22D3EE"/>
                </a:solidFill>
              </a:rPr>
              <a:t>Good streaming systems assume failure and recover automatically.</a:t>
            </a:r>
            <a:endParaRPr lang="en-US" sz="1300" dirty="0"/>
          </a:p>
        </p:txBody>
      </p:sp>
      <p:sp>
        <p:nvSpPr>
          <p:cNvPr id="32" name="Slide Number Placeholder 0"/>
          <p:cNvSpPr>
            <a:spLocks noGrp="1"/>
          </p:cNvSpPr>
          <p:nvPr>
            <p:ph type="sldNum" sz="quarter" idx="4294967295"/>
          </p:nvPr>
        </p:nvSpPr>
        <p:spPr>
          <a:xfrm>
            <a:off x="11539728"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94A3B8"/>
                </a:solidFill>
                <a:latin typeface="Aptos"/>
                <a:ea typeface="Aptos"/>
                <a:cs typeface="Aptos"/>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1426"/>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426"/>
          </a:solidFill>
          <a:ln w="12700">
            <a:solidFill>
              <a:srgbClr val="071426">
                <a:alpha val="0"/>
              </a:srgbClr>
            </a:solidFill>
            <a:prstDash val="solid"/>
          </a:ln>
        </p:spPr>
      </p:sp>
      <p:sp>
        <p:nvSpPr>
          <p:cNvPr id="3" name="Text 1"/>
          <p:cNvSpPr/>
          <p:nvPr/>
        </p:nvSpPr>
        <p:spPr>
          <a:xfrm>
            <a:off x="594360" y="292608"/>
            <a:ext cx="10789920" cy="384048"/>
          </a:xfrm>
          <a:prstGeom prst="rect">
            <a:avLst/>
          </a:prstGeom>
          <a:noFill/>
          <a:ln/>
        </p:spPr>
        <p:txBody>
          <a:bodyPr wrap="square" lIns="0" tIns="0" rIns="0" bIns="0" rtlCol="0" anchor="ctr"/>
          <a:lstStyle/>
          <a:p>
            <a:pPr marL="0" indent="0">
              <a:buNone/>
            </a:pPr>
            <a:r>
              <a:rPr lang="en-US" sz="2750" b="1" dirty="0">
                <a:solidFill>
                  <a:srgbClr val="FFFFFF"/>
                </a:solidFill>
                <a:latin typeface="Aptos Display" pitchFamily="34" charset="0"/>
                <a:ea typeface="Aptos Display" pitchFamily="34" charset="-122"/>
                <a:cs typeface="Aptos Display" pitchFamily="34" charset="-120"/>
              </a:rPr>
              <a:t>delivery sequence</a:t>
            </a:r>
            <a:endParaRPr lang="en-US" sz="2750" dirty="0"/>
          </a:p>
        </p:txBody>
      </p:sp>
      <p:sp>
        <p:nvSpPr>
          <p:cNvPr id="4" name="Text 2"/>
          <p:cNvSpPr/>
          <p:nvPr/>
        </p:nvSpPr>
        <p:spPr>
          <a:xfrm>
            <a:off x="612648" y="768096"/>
            <a:ext cx="10424160" cy="219456"/>
          </a:xfrm>
          <a:prstGeom prst="rect">
            <a:avLst/>
          </a:prstGeom>
          <a:noFill/>
          <a:ln/>
        </p:spPr>
        <p:txBody>
          <a:bodyPr wrap="square" lIns="0" tIns="0" rIns="0" bIns="0" rtlCol="0" anchor="ctr"/>
          <a:lstStyle/>
          <a:p>
            <a:pPr marL="0" indent="0">
              <a:buNone/>
            </a:pPr>
            <a:r>
              <a:rPr lang="en-US" sz="1100" dirty="0">
                <a:solidFill>
                  <a:srgbClr val="94A3B8"/>
                </a:solidFill>
                <a:latin typeface="Aptos" pitchFamily="34" charset="0"/>
                <a:ea typeface="Aptos" pitchFamily="34" charset="-122"/>
                <a:cs typeface="Aptos" pitchFamily="34" charset="-120"/>
              </a:rPr>
              <a:t>Meaning → comparison → use case → architecture → concepts → demo → operations</a:t>
            </a:r>
            <a:endParaRPr lang="en-US" sz="1100" dirty="0"/>
          </a:p>
        </p:txBody>
      </p:sp>
      <p:sp>
        <p:nvSpPr>
          <p:cNvPr id="5" name="Shape 3"/>
          <p:cNvSpPr/>
          <p:nvPr/>
        </p:nvSpPr>
        <p:spPr>
          <a:xfrm>
            <a:off x="868680" y="1161288"/>
            <a:ext cx="338328" cy="338328"/>
          </a:xfrm>
          <a:prstGeom prst="ellipse">
            <a:avLst/>
          </a:prstGeom>
          <a:solidFill>
            <a:srgbClr val="22D3EE"/>
          </a:solidFill>
          <a:ln w="12700">
            <a:solidFill>
              <a:srgbClr val="333333">
                <a:alpha val="0"/>
              </a:srgbClr>
            </a:solidFill>
            <a:prstDash val="solid"/>
          </a:ln>
        </p:spPr>
      </p:sp>
      <p:sp>
        <p:nvSpPr>
          <p:cNvPr id="6" name="Text 4"/>
          <p:cNvSpPr/>
          <p:nvPr/>
        </p:nvSpPr>
        <p:spPr>
          <a:xfrm>
            <a:off x="868680" y="1234440"/>
            <a:ext cx="338328" cy="109728"/>
          </a:xfrm>
          <a:prstGeom prst="rect">
            <a:avLst/>
          </a:prstGeom>
          <a:noFill/>
          <a:ln/>
        </p:spPr>
        <p:txBody>
          <a:bodyPr wrap="square" lIns="0" tIns="0" rIns="0" bIns="0" rtlCol="0" anchor="ctr"/>
          <a:lstStyle/>
          <a:p>
            <a:pPr marL="0" indent="0" algn="ctr">
              <a:buNone/>
            </a:pPr>
            <a:r>
              <a:rPr lang="en-US" sz="800" b="1" dirty="0">
                <a:solidFill>
                  <a:srgbClr val="071426"/>
                </a:solidFill>
              </a:rPr>
              <a:t>1</a:t>
            </a:r>
            <a:endParaRPr lang="en-US" sz="800" dirty="0"/>
          </a:p>
        </p:txBody>
      </p:sp>
      <p:sp>
        <p:nvSpPr>
          <p:cNvPr id="7" name="Text 5"/>
          <p:cNvSpPr/>
          <p:nvPr/>
        </p:nvSpPr>
        <p:spPr>
          <a:xfrm>
            <a:off x="1417320" y="1179576"/>
            <a:ext cx="1234440" cy="164592"/>
          </a:xfrm>
          <a:prstGeom prst="rect">
            <a:avLst/>
          </a:prstGeom>
          <a:noFill/>
          <a:ln/>
        </p:spPr>
        <p:txBody>
          <a:bodyPr wrap="square" lIns="0" tIns="0" rIns="0" bIns="0" rtlCol="0" anchor="ctr"/>
          <a:lstStyle/>
          <a:p>
            <a:pPr marL="0" indent="0">
              <a:buNone/>
            </a:pPr>
            <a:r>
              <a:rPr lang="en-US" sz="1220" b="1" dirty="0">
                <a:solidFill>
                  <a:srgbClr val="FFFFFF"/>
                </a:solidFill>
              </a:rPr>
              <a:t>Meaning</a:t>
            </a:r>
            <a:endParaRPr lang="en-US" sz="1220" dirty="0"/>
          </a:p>
        </p:txBody>
      </p:sp>
      <p:sp>
        <p:nvSpPr>
          <p:cNvPr id="8" name="Text 6"/>
          <p:cNvSpPr/>
          <p:nvPr/>
        </p:nvSpPr>
        <p:spPr>
          <a:xfrm>
            <a:off x="2743200" y="1197864"/>
            <a:ext cx="5166360" cy="128016"/>
          </a:xfrm>
          <a:prstGeom prst="rect">
            <a:avLst/>
          </a:prstGeom>
          <a:noFill/>
          <a:ln/>
        </p:spPr>
        <p:txBody>
          <a:bodyPr wrap="square" lIns="0" tIns="0" rIns="0" bIns="0" rtlCol="0" anchor="ctr"/>
          <a:lstStyle/>
          <a:p>
            <a:pPr marL="0" indent="0">
              <a:buNone/>
            </a:pPr>
            <a:r>
              <a:rPr lang="en-US" sz="1040" dirty="0">
                <a:solidFill>
                  <a:srgbClr val="CBD5E1"/>
                </a:solidFill>
              </a:rPr>
              <a:t>Define streaming with an analogy.</a:t>
            </a:r>
            <a:endParaRPr lang="en-US" sz="1040" dirty="0"/>
          </a:p>
        </p:txBody>
      </p:sp>
      <p:sp>
        <p:nvSpPr>
          <p:cNvPr id="9" name="Shape 7"/>
          <p:cNvSpPr/>
          <p:nvPr/>
        </p:nvSpPr>
        <p:spPr>
          <a:xfrm>
            <a:off x="868680" y="1856232"/>
            <a:ext cx="338328" cy="338328"/>
          </a:xfrm>
          <a:prstGeom prst="ellipse">
            <a:avLst/>
          </a:prstGeom>
          <a:solidFill>
            <a:srgbClr val="A78BFA"/>
          </a:solidFill>
          <a:ln w="12700">
            <a:solidFill>
              <a:srgbClr val="333333">
                <a:alpha val="0"/>
              </a:srgbClr>
            </a:solidFill>
            <a:prstDash val="solid"/>
          </a:ln>
        </p:spPr>
      </p:sp>
      <p:sp>
        <p:nvSpPr>
          <p:cNvPr id="10" name="Text 8"/>
          <p:cNvSpPr/>
          <p:nvPr/>
        </p:nvSpPr>
        <p:spPr>
          <a:xfrm>
            <a:off x="868680" y="1929384"/>
            <a:ext cx="338328" cy="109728"/>
          </a:xfrm>
          <a:prstGeom prst="rect">
            <a:avLst/>
          </a:prstGeom>
          <a:noFill/>
          <a:ln/>
        </p:spPr>
        <p:txBody>
          <a:bodyPr wrap="square" lIns="0" tIns="0" rIns="0" bIns="0" rtlCol="0" anchor="ctr"/>
          <a:lstStyle/>
          <a:p>
            <a:pPr marL="0" indent="0" algn="ctr">
              <a:buNone/>
            </a:pPr>
            <a:r>
              <a:rPr lang="en-US" sz="800" b="1" dirty="0">
                <a:solidFill>
                  <a:srgbClr val="071426"/>
                </a:solidFill>
              </a:rPr>
              <a:t>2</a:t>
            </a:r>
            <a:endParaRPr lang="en-US" sz="800" dirty="0"/>
          </a:p>
        </p:txBody>
      </p:sp>
      <p:sp>
        <p:nvSpPr>
          <p:cNvPr id="11" name="Text 9"/>
          <p:cNvSpPr/>
          <p:nvPr/>
        </p:nvSpPr>
        <p:spPr>
          <a:xfrm>
            <a:off x="1417320" y="1874520"/>
            <a:ext cx="1234440" cy="164592"/>
          </a:xfrm>
          <a:prstGeom prst="rect">
            <a:avLst/>
          </a:prstGeom>
          <a:noFill/>
          <a:ln/>
        </p:spPr>
        <p:txBody>
          <a:bodyPr wrap="square" lIns="0" tIns="0" rIns="0" bIns="0" rtlCol="0" anchor="ctr"/>
          <a:lstStyle/>
          <a:p>
            <a:pPr marL="0" indent="0">
              <a:buNone/>
            </a:pPr>
            <a:r>
              <a:rPr lang="en-US" sz="1220" b="1" dirty="0">
                <a:solidFill>
                  <a:srgbClr val="FFFFFF"/>
                </a:solidFill>
              </a:rPr>
              <a:t>Compare</a:t>
            </a:r>
            <a:endParaRPr lang="en-US" sz="1220" dirty="0"/>
          </a:p>
        </p:txBody>
      </p:sp>
      <p:sp>
        <p:nvSpPr>
          <p:cNvPr id="12" name="Text 10"/>
          <p:cNvSpPr/>
          <p:nvPr/>
        </p:nvSpPr>
        <p:spPr>
          <a:xfrm>
            <a:off x="2743200" y="1892808"/>
            <a:ext cx="5166360" cy="128016"/>
          </a:xfrm>
          <a:prstGeom prst="rect">
            <a:avLst/>
          </a:prstGeom>
          <a:noFill/>
          <a:ln/>
        </p:spPr>
        <p:txBody>
          <a:bodyPr wrap="square" lIns="0" tIns="0" rIns="0" bIns="0" rtlCol="0" anchor="ctr"/>
          <a:lstStyle/>
          <a:p>
            <a:pPr marL="0" indent="0">
              <a:buNone/>
            </a:pPr>
            <a:r>
              <a:rPr lang="en-US" sz="1040" dirty="0">
                <a:solidFill>
                  <a:srgbClr val="CBD5E1"/>
                </a:solidFill>
              </a:rPr>
              <a:t>Batch vs streaming: latency and use case.</a:t>
            </a:r>
            <a:endParaRPr lang="en-US" sz="1040" dirty="0"/>
          </a:p>
        </p:txBody>
      </p:sp>
      <p:sp>
        <p:nvSpPr>
          <p:cNvPr id="13" name="Shape 11"/>
          <p:cNvSpPr/>
          <p:nvPr/>
        </p:nvSpPr>
        <p:spPr>
          <a:xfrm>
            <a:off x="868680" y="2551176"/>
            <a:ext cx="338328" cy="338328"/>
          </a:xfrm>
          <a:prstGeom prst="ellipse">
            <a:avLst/>
          </a:prstGeom>
          <a:solidFill>
            <a:srgbClr val="22D3EE"/>
          </a:solidFill>
          <a:ln w="12700">
            <a:solidFill>
              <a:srgbClr val="333333">
                <a:alpha val="0"/>
              </a:srgbClr>
            </a:solidFill>
            <a:prstDash val="solid"/>
          </a:ln>
        </p:spPr>
      </p:sp>
      <p:sp>
        <p:nvSpPr>
          <p:cNvPr id="14" name="Text 12"/>
          <p:cNvSpPr/>
          <p:nvPr/>
        </p:nvSpPr>
        <p:spPr>
          <a:xfrm>
            <a:off x="868680" y="2624328"/>
            <a:ext cx="338328" cy="109728"/>
          </a:xfrm>
          <a:prstGeom prst="rect">
            <a:avLst/>
          </a:prstGeom>
          <a:noFill/>
          <a:ln/>
        </p:spPr>
        <p:txBody>
          <a:bodyPr wrap="square" lIns="0" tIns="0" rIns="0" bIns="0" rtlCol="0" anchor="ctr"/>
          <a:lstStyle/>
          <a:p>
            <a:pPr marL="0" indent="0" algn="ctr">
              <a:buNone/>
            </a:pPr>
            <a:r>
              <a:rPr lang="en-US" sz="800" b="1" dirty="0">
                <a:solidFill>
                  <a:srgbClr val="071426"/>
                </a:solidFill>
              </a:rPr>
              <a:t>3</a:t>
            </a:r>
            <a:endParaRPr lang="en-US" sz="800" dirty="0"/>
          </a:p>
        </p:txBody>
      </p:sp>
      <p:sp>
        <p:nvSpPr>
          <p:cNvPr id="15" name="Text 13"/>
          <p:cNvSpPr/>
          <p:nvPr/>
        </p:nvSpPr>
        <p:spPr>
          <a:xfrm>
            <a:off x="1417320" y="2569464"/>
            <a:ext cx="1234440" cy="164592"/>
          </a:xfrm>
          <a:prstGeom prst="rect">
            <a:avLst/>
          </a:prstGeom>
          <a:noFill/>
          <a:ln/>
        </p:spPr>
        <p:txBody>
          <a:bodyPr wrap="square" lIns="0" tIns="0" rIns="0" bIns="0" rtlCol="0" anchor="ctr"/>
          <a:lstStyle/>
          <a:p>
            <a:pPr marL="0" indent="0">
              <a:buNone/>
            </a:pPr>
            <a:r>
              <a:rPr lang="en-US" sz="1220" b="1" dirty="0">
                <a:solidFill>
                  <a:srgbClr val="FFFFFF"/>
                </a:solidFill>
              </a:rPr>
              <a:t>Use case</a:t>
            </a:r>
            <a:endParaRPr lang="en-US" sz="1220" dirty="0"/>
          </a:p>
        </p:txBody>
      </p:sp>
      <p:sp>
        <p:nvSpPr>
          <p:cNvPr id="16" name="Text 14"/>
          <p:cNvSpPr/>
          <p:nvPr/>
        </p:nvSpPr>
        <p:spPr>
          <a:xfrm>
            <a:off x="2743200" y="2587752"/>
            <a:ext cx="5166360" cy="128016"/>
          </a:xfrm>
          <a:prstGeom prst="rect">
            <a:avLst/>
          </a:prstGeom>
          <a:noFill/>
          <a:ln/>
        </p:spPr>
        <p:txBody>
          <a:bodyPr wrap="square" lIns="0" tIns="0" rIns="0" bIns="0" rtlCol="0" anchor="ctr"/>
          <a:lstStyle/>
          <a:p>
            <a:pPr marL="0" indent="0">
              <a:buNone/>
            </a:pPr>
            <a:r>
              <a:rPr lang="en-US" sz="1040" dirty="0">
                <a:solidFill>
                  <a:srgbClr val="CBD5E1"/>
                </a:solidFill>
              </a:rPr>
              <a:t>Food delivery live monitoring story.</a:t>
            </a:r>
            <a:endParaRPr lang="en-US" sz="1040" dirty="0"/>
          </a:p>
        </p:txBody>
      </p:sp>
      <p:sp>
        <p:nvSpPr>
          <p:cNvPr id="17" name="Shape 15"/>
          <p:cNvSpPr/>
          <p:nvPr/>
        </p:nvSpPr>
        <p:spPr>
          <a:xfrm>
            <a:off x="868680" y="3246120"/>
            <a:ext cx="338328" cy="338328"/>
          </a:xfrm>
          <a:prstGeom prst="ellipse">
            <a:avLst/>
          </a:prstGeom>
          <a:solidFill>
            <a:srgbClr val="A78BFA"/>
          </a:solidFill>
          <a:ln w="12700">
            <a:solidFill>
              <a:srgbClr val="333333">
                <a:alpha val="0"/>
              </a:srgbClr>
            </a:solidFill>
            <a:prstDash val="solid"/>
          </a:ln>
        </p:spPr>
      </p:sp>
      <p:sp>
        <p:nvSpPr>
          <p:cNvPr id="18" name="Text 16"/>
          <p:cNvSpPr/>
          <p:nvPr/>
        </p:nvSpPr>
        <p:spPr>
          <a:xfrm>
            <a:off x="868680" y="3319272"/>
            <a:ext cx="338328" cy="109728"/>
          </a:xfrm>
          <a:prstGeom prst="rect">
            <a:avLst/>
          </a:prstGeom>
          <a:noFill/>
          <a:ln/>
        </p:spPr>
        <p:txBody>
          <a:bodyPr wrap="square" lIns="0" tIns="0" rIns="0" bIns="0" rtlCol="0" anchor="ctr"/>
          <a:lstStyle/>
          <a:p>
            <a:pPr marL="0" indent="0" algn="ctr">
              <a:buNone/>
            </a:pPr>
            <a:r>
              <a:rPr lang="en-US" sz="800" b="1" dirty="0">
                <a:solidFill>
                  <a:srgbClr val="071426"/>
                </a:solidFill>
              </a:rPr>
              <a:t>4</a:t>
            </a:r>
            <a:endParaRPr lang="en-US" sz="800" dirty="0"/>
          </a:p>
        </p:txBody>
      </p:sp>
      <p:sp>
        <p:nvSpPr>
          <p:cNvPr id="19" name="Text 17"/>
          <p:cNvSpPr/>
          <p:nvPr/>
        </p:nvSpPr>
        <p:spPr>
          <a:xfrm>
            <a:off x="1417320" y="3264408"/>
            <a:ext cx="1234440" cy="164592"/>
          </a:xfrm>
          <a:prstGeom prst="rect">
            <a:avLst/>
          </a:prstGeom>
          <a:noFill/>
          <a:ln/>
        </p:spPr>
        <p:txBody>
          <a:bodyPr wrap="square" lIns="0" tIns="0" rIns="0" bIns="0" rtlCol="0" anchor="ctr"/>
          <a:lstStyle/>
          <a:p>
            <a:pPr marL="0" indent="0">
              <a:buNone/>
            </a:pPr>
            <a:r>
              <a:rPr lang="en-US" sz="1220" b="1" dirty="0">
                <a:solidFill>
                  <a:srgbClr val="FFFFFF"/>
                </a:solidFill>
              </a:rPr>
              <a:t>Architecture</a:t>
            </a:r>
            <a:endParaRPr lang="en-US" sz="1220" dirty="0"/>
          </a:p>
        </p:txBody>
      </p:sp>
      <p:sp>
        <p:nvSpPr>
          <p:cNvPr id="20" name="Text 18"/>
          <p:cNvSpPr/>
          <p:nvPr/>
        </p:nvSpPr>
        <p:spPr>
          <a:xfrm>
            <a:off x="2743200" y="3282696"/>
            <a:ext cx="5166360" cy="128016"/>
          </a:xfrm>
          <a:prstGeom prst="rect">
            <a:avLst/>
          </a:prstGeom>
          <a:noFill/>
          <a:ln/>
        </p:spPr>
        <p:txBody>
          <a:bodyPr wrap="square" lIns="0" tIns="0" rIns="0" bIns="0" rtlCol="0" anchor="ctr"/>
          <a:lstStyle/>
          <a:p>
            <a:pPr marL="0" indent="0">
              <a:buNone/>
            </a:pPr>
            <a:r>
              <a:rPr lang="en-US" sz="1040" dirty="0">
                <a:solidFill>
                  <a:srgbClr val="CBD5E1"/>
                </a:solidFill>
              </a:rPr>
              <a:t>Producer, broker, processor, sink, consumer.</a:t>
            </a:r>
            <a:endParaRPr lang="en-US" sz="1040" dirty="0"/>
          </a:p>
        </p:txBody>
      </p:sp>
      <p:sp>
        <p:nvSpPr>
          <p:cNvPr id="21" name="Shape 19"/>
          <p:cNvSpPr/>
          <p:nvPr/>
        </p:nvSpPr>
        <p:spPr>
          <a:xfrm>
            <a:off x="868680" y="3941064"/>
            <a:ext cx="338328" cy="338328"/>
          </a:xfrm>
          <a:prstGeom prst="ellipse">
            <a:avLst/>
          </a:prstGeom>
          <a:solidFill>
            <a:srgbClr val="22D3EE"/>
          </a:solidFill>
          <a:ln w="12700">
            <a:solidFill>
              <a:srgbClr val="333333">
                <a:alpha val="0"/>
              </a:srgbClr>
            </a:solidFill>
            <a:prstDash val="solid"/>
          </a:ln>
        </p:spPr>
      </p:sp>
      <p:sp>
        <p:nvSpPr>
          <p:cNvPr id="22" name="Text 20"/>
          <p:cNvSpPr/>
          <p:nvPr/>
        </p:nvSpPr>
        <p:spPr>
          <a:xfrm>
            <a:off x="868680" y="4014216"/>
            <a:ext cx="338328" cy="109728"/>
          </a:xfrm>
          <a:prstGeom prst="rect">
            <a:avLst/>
          </a:prstGeom>
          <a:noFill/>
          <a:ln/>
        </p:spPr>
        <p:txBody>
          <a:bodyPr wrap="square" lIns="0" tIns="0" rIns="0" bIns="0" rtlCol="0" anchor="ctr"/>
          <a:lstStyle/>
          <a:p>
            <a:pPr marL="0" indent="0" algn="ctr">
              <a:buNone/>
            </a:pPr>
            <a:r>
              <a:rPr lang="en-US" sz="800" b="1" dirty="0">
                <a:solidFill>
                  <a:srgbClr val="071426"/>
                </a:solidFill>
              </a:rPr>
              <a:t>5</a:t>
            </a:r>
            <a:endParaRPr lang="en-US" sz="800" dirty="0"/>
          </a:p>
        </p:txBody>
      </p:sp>
      <p:sp>
        <p:nvSpPr>
          <p:cNvPr id="23" name="Text 21"/>
          <p:cNvSpPr/>
          <p:nvPr/>
        </p:nvSpPr>
        <p:spPr>
          <a:xfrm>
            <a:off x="1417320" y="3959352"/>
            <a:ext cx="1234440" cy="164592"/>
          </a:xfrm>
          <a:prstGeom prst="rect">
            <a:avLst/>
          </a:prstGeom>
          <a:noFill/>
          <a:ln/>
        </p:spPr>
        <p:txBody>
          <a:bodyPr wrap="square" lIns="0" tIns="0" rIns="0" bIns="0" rtlCol="0" anchor="ctr"/>
          <a:lstStyle/>
          <a:p>
            <a:pPr marL="0" indent="0">
              <a:buNone/>
            </a:pPr>
            <a:r>
              <a:rPr lang="en-US" sz="1220" b="1" dirty="0">
                <a:solidFill>
                  <a:srgbClr val="FFFFFF"/>
                </a:solidFill>
              </a:rPr>
              <a:t>Concepts</a:t>
            </a:r>
            <a:endParaRPr lang="en-US" sz="1220" dirty="0"/>
          </a:p>
        </p:txBody>
      </p:sp>
      <p:sp>
        <p:nvSpPr>
          <p:cNvPr id="24" name="Text 22"/>
          <p:cNvSpPr/>
          <p:nvPr/>
        </p:nvSpPr>
        <p:spPr>
          <a:xfrm>
            <a:off x="2743200" y="3977640"/>
            <a:ext cx="5166360" cy="128016"/>
          </a:xfrm>
          <a:prstGeom prst="rect">
            <a:avLst/>
          </a:prstGeom>
          <a:noFill/>
          <a:ln/>
        </p:spPr>
        <p:txBody>
          <a:bodyPr wrap="square" lIns="0" tIns="0" rIns="0" bIns="0" rtlCol="0" anchor="ctr"/>
          <a:lstStyle/>
          <a:p>
            <a:pPr marL="0" indent="0">
              <a:buNone/>
            </a:pPr>
            <a:r>
              <a:rPr lang="en-US" sz="1040" dirty="0">
                <a:solidFill>
                  <a:srgbClr val="CBD5E1"/>
                </a:solidFill>
              </a:rPr>
              <a:t>Event time, window, watermark, checkpoint.</a:t>
            </a:r>
            <a:endParaRPr lang="en-US" sz="1040" dirty="0"/>
          </a:p>
        </p:txBody>
      </p:sp>
      <p:sp>
        <p:nvSpPr>
          <p:cNvPr id="25" name="Shape 23"/>
          <p:cNvSpPr/>
          <p:nvPr/>
        </p:nvSpPr>
        <p:spPr>
          <a:xfrm>
            <a:off x="868680" y="4636008"/>
            <a:ext cx="338328" cy="338328"/>
          </a:xfrm>
          <a:prstGeom prst="ellipse">
            <a:avLst/>
          </a:prstGeom>
          <a:solidFill>
            <a:srgbClr val="A78BFA"/>
          </a:solidFill>
          <a:ln w="12700">
            <a:solidFill>
              <a:srgbClr val="333333">
                <a:alpha val="0"/>
              </a:srgbClr>
            </a:solidFill>
            <a:prstDash val="solid"/>
          </a:ln>
        </p:spPr>
      </p:sp>
      <p:sp>
        <p:nvSpPr>
          <p:cNvPr id="26" name="Text 24"/>
          <p:cNvSpPr/>
          <p:nvPr/>
        </p:nvSpPr>
        <p:spPr>
          <a:xfrm>
            <a:off x="868680" y="4709160"/>
            <a:ext cx="338328" cy="109728"/>
          </a:xfrm>
          <a:prstGeom prst="rect">
            <a:avLst/>
          </a:prstGeom>
          <a:noFill/>
          <a:ln/>
        </p:spPr>
        <p:txBody>
          <a:bodyPr wrap="square" lIns="0" tIns="0" rIns="0" bIns="0" rtlCol="0" anchor="ctr"/>
          <a:lstStyle/>
          <a:p>
            <a:pPr marL="0" indent="0" algn="ctr">
              <a:buNone/>
            </a:pPr>
            <a:r>
              <a:rPr lang="en-US" sz="800" b="1" dirty="0">
                <a:solidFill>
                  <a:srgbClr val="071426"/>
                </a:solidFill>
              </a:rPr>
              <a:t>6</a:t>
            </a:r>
            <a:endParaRPr lang="en-US" sz="800" dirty="0"/>
          </a:p>
        </p:txBody>
      </p:sp>
      <p:sp>
        <p:nvSpPr>
          <p:cNvPr id="27" name="Text 25"/>
          <p:cNvSpPr/>
          <p:nvPr/>
        </p:nvSpPr>
        <p:spPr>
          <a:xfrm>
            <a:off x="1417320" y="4654296"/>
            <a:ext cx="1234440" cy="164592"/>
          </a:xfrm>
          <a:prstGeom prst="rect">
            <a:avLst/>
          </a:prstGeom>
          <a:noFill/>
          <a:ln/>
        </p:spPr>
        <p:txBody>
          <a:bodyPr wrap="square" lIns="0" tIns="0" rIns="0" bIns="0" rtlCol="0" anchor="ctr"/>
          <a:lstStyle/>
          <a:p>
            <a:pPr marL="0" indent="0">
              <a:buNone/>
            </a:pPr>
            <a:r>
              <a:rPr lang="en-US" sz="1220" b="1" dirty="0">
                <a:solidFill>
                  <a:srgbClr val="FFFFFF"/>
                </a:solidFill>
              </a:rPr>
              <a:t>Demo</a:t>
            </a:r>
            <a:endParaRPr lang="en-US" sz="1220" dirty="0"/>
          </a:p>
        </p:txBody>
      </p:sp>
      <p:sp>
        <p:nvSpPr>
          <p:cNvPr id="28" name="Text 26"/>
          <p:cNvSpPr/>
          <p:nvPr/>
        </p:nvSpPr>
        <p:spPr>
          <a:xfrm>
            <a:off x="2743200" y="4672584"/>
            <a:ext cx="5166360" cy="128016"/>
          </a:xfrm>
          <a:prstGeom prst="rect">
            <a:avLst/>
          </a:prstGeom>
          <a:noFill/>
          <a:ln/>
        </p:spPr>
        <p:txBody>
          <a:bodyPr wrap="square" lIns="0" tIns="0" rIns="0" bIns="0" rtlCol="0" anchor="ctr"/>
          <a:lstStyle/>
          <a:p>
            <a:pPr marL="0" indent="0">
              <a:buNone/>
            </a:pPr>
            <a:r>
              <a:rPr lang="en-US" sz="1040" dirty="0">
                <a:solidFill>
                  <a:srgbClr val="CBD5E1"/>
                </a:solidFill>
              </a:rPr>
              <a:t>Socket word count and file streaming.</a:t>
            </a:r>
            <a:endParaRPr lang="en-US" sz="1040" dirty="0"/>
          </a:p>
        </p:txBody>
      </p:sp>
      <p:sp>
        <p:nvSpPr>
          <p:cNvPr id="29" name="Shape 27"/>
          <p:cNvSpPr/>
          <p:nvPr/>
        </p:nvSpPr>
        <p:spPr>
          <a:xfrm>
            <a:off x="868680" y="5330952"/>
            <a:ext cx="338328" cy="338328"/>
          </a:xfrm>
          <a:prstGeom prst="ellipse">
            <a:avLst/>
          </a:prstGeom>
          <a:solidFill>
            <a:srgbClr val="22D3EE"/>
          </a:solidFill>
          <a:ln w="12700">
            <a:solidFill>
              <a:srgbClr val="333333">
                <a:alpha val="0"/>
              </a:srgbClr>
            </a:solidFill>
            <a:prstDash val="solid"/>
          </a:ln>
        </p:spPr>
      </p:sp>
      <p:sp>
        <p:nvSpPr>
          <p:cNvPr id="30" name="Text 28"/>
          <p:cNvSpPr/>
          <p:nvPr/>
        </p:nvSpPr>
        <p:spPr>
          <a:xfrm>
            <a:off x="868680" y="5404104"/>
            <a:ext cx="338328" cy="109728"/>
          </a:xfrm>
          <a:prstGeom prst="rect">
            <a:avLst/>
          </a:prstGeom>
          <a:noFill/>
          <a:ln/>
        </p:spPr>
        <p:txBody>
          <a:bodyPr wrap="square" lIns="0" tIns="0" rIns="0" bIns="0" rtlCol="0" anchor="ctr"/>
          <a:lstStyle/>
          <a:p>
            <a:pPr marL="0" indent="0" algn="ctr">
              <a:buNone/>
            </a:pPr>
            <a:r>
              <a:rPr lang="en-US" sz="800" b="1" dirty="0">
                <a:solidFill>
                  <a:srgbClr val="071426"/>
                </a:solidFill>
              </a:rPr>
              <a:t>7</a:t>
            </a:r>
            <a:endParaRPr lang="en-US" sz="800" dirty="0"/>
          </a:p>
        </p:txBody>
      </p:sp>
      <p:sp>
        <p:nvSpPr>
          <p:cNvPr id="31" name="Text 29"/>
          <p:cNvSpPr/>
          <p:nvPr/>
        </p:nvSpPr>
        <p:spPr>
          <a:xfrm>
            <a:off x="1417320" y="5349240"/>
            <a:ext cx="1234440" cy="164592"/>
          </a:xfrm>
          <a:prstGeom prst="rect">
            <a:avLst/>
          </a:prstGeom>
          <a:noFill/>
          <a:ln/>
        </p:spPr>
        <p:txBody>
          <a:bodyPr wrap="square" lIns="0" tIns="0" rIns="0" bIns="0" rtlCol="0" anchor="ctr"/>
          <a:lstStyle/>
          <a:p>
            <a:pPr marL="0" indent="0">
              <a:buNone/>
            </a:pPr>
            <a:r>
              <a:rPr lang="en-US" sz="1220" b="1" dirty="0">
                <a:solidFill>
                  <a:srgbClr val="FFFFFF"/>
                </a:solidFill>
              </a:rPr>
              <a:t>Operations</a:t>
            </a:r>
            <a:endParaRPr lang="en-US" sz="1220" dirty="0"/>
          </a:p>
        </p:txBody>
      </p:sp>
      <p:sp>
        <p:nvSpPr>
          <p:cNvPr id="32" name="Text 30"/>
          <p:cNvSpPr/>
          <p:nvPr/>
        </p:nvSpPr>
        <p:spPr>
          <a:xfrm>
            <a:off x="2743200" y="5367528"/>
            <a:ext cx="5166360" cy="128016"/>
          </a:xfrm>
          <a:prstGeom prst="rect">
            <a:avLst/>
          </a:prstGeom>
          <a:noFill/>
          <a:ln/>
        </p:spPr>
        <p:txBody>
          <a:bodyPr wrap="square" lIns="0" tIns="0" rIns="0" bIns="0" rtlCol="0" anchor="ctr"/>
          <a:lstStyle/>
          <a:p>
            <a:pPr marL="0" indent="0">
              <a:buNone/>
            </a:pPr>
            <a:r>
              <a:rPr lang="en-US" sz="1040" dirty="0">
                <a:solidFill>
                  <a:srgbClr val="CBD5E1"/>
                </a:solidFill>
              </a:rPr>
              <a:t>Metrics, troubleshooting and best practices.</a:t>
            </a:r>
            <a:endParaRPr lang="en-US" sz="1040" dirty="0"/>
          </a:p>
        </p:txBody>
      </p:sp>
      <p:sp>
        <p:nvSpPr>
          <p:cNvPr id="33" name="Shape 31"/>
          <p:cNvSpPr/>
          <p:nvPr/>
        </p:nvSpPr>
        <p:spPr>
          <a:xfrm>
            <a:off x="8183880" y="1188720"/>
            <a:ext cx="3246120" cy="4251960"/>
          </a:xfrm>
          <a:prstGeom prst="roundRect">
            <a:avLst>
              <a:gd name="adj" fmla="val 2817"/>
            </a:avLst>
          </a:prstGeom>
          <a:solidFill>
            <a:srgbClr val="081E2D"/>
          </a:solidFill>
          <a:ln w="15240">
            <a:solidFill>
              <a:srgbClr val="34D399"/>
            </a:solidFill>
            <a:prstDash val="solid"/>
          </a:ln>
        </p:spPr>
      </p:sp>
      <p:sp>
        <p:nvSpPr>
          <p:cNvPr id="34" name="Text 32"/>
          <p:cNvSpPr/>
          <p:nvPr/>
        </p:nvSpPr>
        <p:spPr>
          <a:xfrm>
            <a:off x="8485632" y="1481328"/>
            <a:ext cx="2651760" cy="219456"/>
          </a:xfrm>
          <a:prstGeom prst="rect">
            <a:avLst/>
          </a:prstGeom>
          <a:noFill/>
          <a:ln/>
        </p:spPr>
        <p:txBody>
          <a:bodyPr wrap="square" lIns="0" tIns="0" rIns="0" bIns="0" rtlCol="0" anchor="ctr"/>
          <a:lstStyle/>
          <a:p>
            <a:pPr marL="0" indent="0" algn="ctr">
              <a:buNone/>
            </a:pPr>
            <a:r>
              <a:rPr lang="en-US" sz="1700" b="1" dirty="0">
                <a:solidFill>
                  <a:srgbClr val="34D399"/>
                </a:solidFill>
              </a:rPr>
              <a:t>Final memory rule</a:t>
            </a:r>
            <a:endParaRPr lang="en-US" sz="1700" dirty="0"/>
          </a:p>
        </p:txBody>
      </p:sp>
      <p:sp>
        <p:nvSpPr>
          <p:cNvPr id="35" name="Text 33"/>
          <p:cNvSpPr/>
          <p:nvPr/>
        </p:nvSpPr>
        <p:spPr>
          <a:xfrm>
            <a:off x="8641080" y="1975104"/>
            <a:ext cx="2331720" cy="457200"/>
          </a:xfrm>
          <a:prstGeom prst="rect">
            <a:avLst/>
          </a:prstGeom>
          <a:noFill/>
          <a:ln/>
        </p:spPr>
        <p:txBody>
          <a:bodyPr wrap="square" lIns="0" tIns="0" rIns="0" bIns="0" rtlCol="0" anchor="ctr"/>
          <a:lstStyle/>
          <a:p>
            <a:pPr marL="0" indent="0" algn="ctr">
              <a:buNone/>
            </a:pPr>
            <a:r>
              <a:rPr lang="en-US" sz="3200" b="1" dirty="0">
                <a:solidFill>
                  <a:srgbClr val="22D3EE"/>
                </a:solidFill>
              </a:rPr>
              <a:t>L I V E</a:t>
            </a:r>
            <a:endParaRPr lang="en-US" sz="3200" dirty="0"/>
          </a:p>
        </p:txBody>
      </p:sp>
      <p:sp>
        <p:nvSpPr>
          <p:cNvPr id="36" name="Text 34"/>
          <p:cNvSpPr/>
          <p:nvPr/>
        </p:nvSpPr>
        <p:spPr>
          <a:xfrm>
            <a:off x="8485632" y="2706624"/>
            <a:ext cx="2697480" cy="1170432"/>
          </a:xfrm>
          <a:prstGeom prst="rect">
            <a:avLst/>
          </a:prstGeom>
          <a:noFill/>
          <a:ln/>
        </p:spPr>
        <p:txBody>
          <a:bodyPr wrap="square" lIns="254" tIns="254" rIns="254" bIns="254" rtlCol="0" anchor="ctr">
            <a:normAutofit/>
          </a:bodyPr>
          <a:lstStyle/>
          <a:p>
            <a:pPr marL="0" indent="0" algn="ctr">
              <a:buNone/>
            </a:pPr>
            <a:r>
              <a:rPr lang="en-US" sz="1250" dirty="0">
                <a:solidFill>
                  <a:srgbClr val="E0F2FE"/>
                </a:solidFill>
              </a:rPr>
              <a:t>Listen to incoming events</a:t>
            </a:r>
            <a:endParaRPr lang="en-US" sz="1250" dirty="0"/>
          </a:p>
          <a:p>
            <a:pPr marL="0" indent="0" algn="ctr">
              <a:buNone/>
            </a:pPr>
            <a:r>
              <a:rPr lang="en-US" sz="1250" dirty="0">
                <a:solidFill>
                  <a:srgbClr val="E0F2FE"/>
                </a:solidFill>
              </a:rPr>
              <a:t>Inspect and validate</a:t>
            </a:r>
            <a:endParaRPr lang="en-US" sz="1250" dirty="0"/>
          </a:p>
          <a:p>
            <a:pPr marL="0" indent="0" algn="ctr">
              <a:buNone/>
            </a:pPr>
            <a:r>
              <a:rPr lang="en-US" sz="1250" dirty="0">
                <a:solidFill>
                  <a:srgbClr val="E0F2FE"/>
                </a:solidFill>
              </a:rPr>
              <a:t>Value through transformations</a:t>
            </a:r>
            <a:endParaRPr lang="en-US" sz="1250" dirty="0"/>
          </a:p>
          <a:p>
            <a:pPr marL="0" indent="0" algn="ctr">
              <a:buNone/>
            </a:pPr>
            <a:r>
              <a:rPr lang="en-US" sz="1250" dirty="0">
                <a:solidFill>
                  <a:srgbClr val="E0F2FE"/>
                </a:solidFill>
              </a:rPr>
              <a:t>Emit dashboards, tables or alerts</a:t>
            </a:r>
            <a:endParaRPr lang="en-US" sz="1250" dirty="0"/>
          </a:p>
        </p:txBody>
      </p:sp>
      <p:sp>
        <p:nvSpPr>
          <p:cNvPr id="37" name="Shape 35"/>
          <p:cNvSpPr/>
          <p:nvPr/>
        </p:nvSpPr>
        <p:spPr>
          <a:xfrm>
            <a:off x="8641080" y="4315968"/>
            <a:ext cx="1188720" cy="292608"/>
          </a:xfrm>
          <a:prstGeom prst="roundRect">
            <a:avLst>
              <a:gd name="adj" fmla="val 25000"/>
            </a:avLst>
          </a:prstGeom>
          <a:solidFill>
            <a:srgbClr val="FB923C">
              <a:alpha val="12000"/>
            </a:srgbClr>
          </a:solidFill>
          <a:ln w="10160">
            <a:solidFill>
              <a:srgbClr val="FB923C">
                <a:alpha val="65000"/>
              </a:srgbClr>
            </a:solidFill>
            <a:prstDash val="solid"/>
          </a:ln>
        </p:spPr>
      </p:sp>
      <p:sp>
        <p:nvSpPr>
          <p:cNvPr id="38" name="Text 36"/>
          <p:cNvSpPr/>
          <p:nvPr/>
        </p:nvSpPr>
        <p:spPr>
          <a:xfrm>
            <a:off x="8714232" y="4389120"/>
            <a:ext cx="1042416" cy="109728"/>
          </a:xfrm>
          <a:prstGeom prst="rect">
            <a:avLst/>
          </a:prstGeom>
          <a:noFill/>
          <a:ln/>
        </p:spPr>
        <p:txBody>
          <a:bodyPr wrap="square" lIns="0" tIns="0" rIns="0" bIns="0" rtlCol="0" anchor="ctr"/>
          <a:lstStyle/>
          <a:p>
            <a:pPr marL="0" indent="0" algn="ctr">
              <a:buNone/>
            </a:pPr>
            <a:r>
              <a:rPr lang="en-US" sz="750" b="1" dirty="0">
                <a:solidFill>
                  <a:srgbClr val="FB923C"/>
                </a:solidFill>
              </a:rPr>
              <a:t>Batch = history</a:t>
            </a:r>
            <a:endParaRPr lang="en-US" sz="750" dirty="0"/>
          </a:p>
        </p:txBody>
      </p:sp>
      <p:sp>
        <p:nvSpPr>
          <p:cNvPr id="39" name="Shape 37"/>
          <p:cNvSpPr/>
          <p:nvPr/>
        </p:nvSpPr>
        <p:spPr>
          <a:xfrm>
            <a:off x="10012680" y="4315968"/>
            <a:ext cx="1188720" cy="292608"/>
          </a:xfrm>
          <a:prstGeom prst="roundRect">
            <a:avLst>
              <a:gd name="adj" fmla="val 25000"/>
            </a:avLst>
          </a:prstGeom>
          <a:solidFill>
            <a:srgbClr val="34D399">
              <a:alpha val="12000"/>
            </a:srgbClr>
          </a:solidFill>
          <a:ln w="10160">
            <a:solidFill>
              <a:srgbClr val="34D399">
                <a:alpha val="65000"/>
              </a:srgbClr>
            </a:solidFill>
            <a:prstDash val="solid"/>
          </a:ln>
        </p:spPr>
      </p:sp>
      <p:sp>
        <p:nvSpPr>
          <p:cNvPr id="40" name="Text 38"/>
          <p:cNvSpPr/>
          <p:nvPr/>
        </p:nvSpPr>
        <p:spPr>
          <a:xfrm>
            <a:off x="10085832" y="4389120"/>
            <a:ext cx="1042416" cy="109728"/>
          </a:xfrm>
          <a:prstGeom prst="rect">
            <a:avLst/>
          </a:prstGeom>
          <a:noFill/>
          <a:ln/>
        </p:spPr>
        <p:txBody>
          <a:bodyPr wrap="square" lIns="0" tIns="0" rIns="0" bIns="0" rtlCol="0" anchor="ctr"/>
          <a:lstStyle/>
          <a:p>
            <a:pPr marL="0" indent="0" algn="ctr">
              <a:buNone/>
            </a:pPr>
            <a:r>
              <a:rPr lang="en-US" sz="750" b="1" dirty="0">
                <a:solidFill>
                  <a:srgbClr val="34D399"/>
                </a:solidFill>
              </a:rPr>
              <a:t>Streaming = now</a:t>
            </a:r>
            <a:endParaRPr lang="en-US" sz="750" dirty="0"/>
          </a:p>
        </p:txBody>
      </p:sp>
      <p:sp>
        <p:nvSpPr>
          <p:cNvPr id="41" name="Slide Number Placeholder 0"/>
          <p:cNvSpPr>
            <a:spLocks noGrp="1"/>
          </p:cNvSpPr>
          <p:nvPr>
            <p:ph type="sldNum" sz="quarter" idx="4294967295"/>
          </p:nvPr>
        </p:nvSpPr>
        <p:spPr>
          <a:xfrm>
            <a:off x="11539728"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94A3B8"/>
                </a:solidFill>
                <a:latin typeface="Aptos"/>
                <a:ea typeface="Aptos"/>
                <a:cs typeface="Aptos"/>
              </a:defRPr>
            </a:lvl1pPr>
          </a:lstStyle>
          <a:p>
            <a:pPr algn="l"/>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1406</Words>
  <Application>Microsoft Office PowerPoint</Application>
  <PresentationFormat>Widescreen</PresentationFormat>
  <Paragraphs>211</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Streaming — Trainer Deck</dc:title>
  <dc:subject>Introduction to Streaming</dc:subject>
  <dc:creator>OpenAI</dc:creator>
  <cp:lastModifiedBy>Geetha eswaramurthi</cp:lastModifiedBy>
  <cp:revision>2</cp:revision>
  <dcterms:created xsi:type="dcterms:W3CDTF">2026-07-27T14:49:35Z</dcterms:created>
  <dcterms:modified xsi:type="dcterms:W3CDTF">2026-07-27T14:59:33Z</dcterms:modified>
</cp:coreProperties>
</file>