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Module focus: publish/subscribe messaging pattern, Google Cloud Pub/Sub topic-subscription model, delivery options, and Kafka comparison.
- Real-world anchor example: food delivery application.
- Event used throughout: order placed, payment completed, rider assigned, delivery location updated.
- Core idea: producer sends once; multiple downstream systems receive independently.
- Outcome for freshers: identify topic, subscription, publisher, subscriber, push, pull, Kafka topic, partition, broker, consumer group.
- Sources: Google Cloud Pub/Sub overview; Apache Kafka documentation and quickstart.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Problem: one application directly calling many services creates waiting, retries, failures, and tight dependency.
- Food delivery example: order placement should not wait for analytics, notification, loyalty, and reporting systems.
- Messaging layer receives an event and distributes it to interested systems.
- Producer does not need to know how many consumers exist.
- Consumers can be added later without changing the producer.
- Beginner takeaway: messaging reduces coupling and absorbs traffic bursts.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Example event: OrderPlaced.
- Event means something meaningful happened in the business.
- Publisher: food app or order service.
- Topic: order-events or food-orders.
- Subscribers: payment, kitchen, rider matching, notification, analytics.
- Every consumer focuses on its own responsibility.
- The producer does not directly call each consumer.
- This real-world example will be reused across Pub/Sub, push, pull, Kafka, and comparison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Pub/Sub = publish/subscribe messaging pattern.
- Publisher creates and publishes a message to a topic.
- Subscriber receives messages through a subscription.
- Communication is asynchronous: producer and consumer do not need to run at the same speed.
- Google Cloud Pub/Sub describes publishers and subscribers as communicating asynchronously by broadcasting events rather than synchronous remote procedure calls.
- Example: order service publishes OrderPlaced once; payment, kitchen, notification, and analytics consume independently.
- Good for event-driven systems, microservices integration, data pipelines, and real-time notifications.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Publisher: source application that sends messages.
- Topic: named channel or stream where messages are published.
- Subscription: independent delivery configuration attached to a topic.
- Subscriber: application that receives messages through the subscription.
- A topic can have multiple subscriptions.
- Each subscription receives its own copy of messages from the topic.
- Example subscriptions for food-orders: payment-sub, kitchen-sub, rider-sub, analytics-sub.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Topic stores the category of events: food-orders.
- Subscriptions are attached to the topic.
- A subscription represents one independent delivery path.
- If the same message must go to payment, kitchen, dispatch, and analytics, create separate subscriptions.
- Each subscription can have its own acknowledgment state.
- Slow analytics does not block kitchen processing.
- Google Cloud Pub/Sub supports topic and subscription resources as separate concepts.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Message example: OrderPlaced.
- Publish: producer sends message to topic.
- Store: messaging layer keeps message durably based on service configuration.
- Deliver: subscription exposes the message to a subscriber.
- Process: subscriber updates payment, kitchen status, analytics, or notification.
- Ack: subscriber confirms successful processing.
- Without ack, Pub/Sub-style systems can redeliver messages.
- Beginner point: acknowledgment is different from publishing; it belongs to consumption progress.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Push and pull are subscription delivery models.
- Push: Pub/Sub initiates the request to the subscriber application, commonly through an HTTPS endpoint or webhook.
- Pull: subscriber client initiates requests to Pub/Sub to fetch messages.
- Same topic can support different subscriptions with different delivery modes.
- Food delivery example: push for webhook notification service; pull for analytics worker that wants controlled batch processing.
- Google Cloud documentation defines push delivery as Pub/Sub initiating requests to the subscriber application.
- Google Cloud documentation defines pull delivery as subscriber client requesting messages from the Pub/Sub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Pull delivery: subscriber asks for available messages.
- Subscriber controls rate, batch size, worker scaling, and retry behavior more directly.
- Useful for background workers, analytics pipelines, batch processors, and systems without public HTTPS endpoints.
- Processing sequence: pull request, receive message and ack ID, process message, acknowledge.
- Example: analytics worker pulls food-order messages every few seconds and updates dashboards.
- Fresher comparison: pull is like collecting parcels from a pickup counter when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Push delivery: Pub/Sub sends each message to subscriber endpoint.
- Endpoint must be reachable by Pub/Sub, typically HTTPS.
- Subscriber acknowledges by returning a successful HTTP response.
- Useful for webhook-style integrations and serverless applications.
- Example: order-status topic pushes to notification service when rider is assigned.
- Freshers: push is like courier delivery to your door.
- Consider endpoint security, authentication, retry behavior, and idempotent processing.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Push and pull are both valid; choice depends on architecture.
- Push: best when application exposes a stable HTTPS endpoint and wants event delivery initiated by Pub/Sub.
- Pull: best when subscriber controls throughput, batching, worker concurrency, and timing.
- Food delivery push example: notification service receives status changes immediately.
- Food delivery pull example: data pipeline pulls order events in batches for reporting.
- Neither is universally better; the use case decides.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Ack confirms successful message processing.
- If subscriber crashes before ack, message can appear again.
- Duplicate handling is part of good consumer design.
- Idempotent processing means repeated event processing produces the same final result.
- Example: payment service checks order_id before charging; notification service checks message_id before sending duplicate SMS.
- Retry is useful but can amplify bugs if consumers are not safe for duplicates.
- Dead-letter queues are often used when messages repeatedly fail processing.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Kafka is a distributed event streaming platform.
- Producers write events to topics.
- Brokers store events and serve client requests.
- Topics are split into partitions.
- Consumers read events from topics, often in consumer groups.
- Kafka quickstart describes Kafka as letting applications read, write, store, and process events across machines.
- Food delivery example: order-service writes to food-orders topic; analytics and dispatch consumers read from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Kafka topic is divided into partitions.
- Partition is the unit of ordering and parallelism.
- Broker stores partitions and serves reads/writes.
- Consumer group divides partitions among group members.
- A consumer group allows parallel processing while preserving per-partition order.
- Apache Kafka documentation describes topics as partitioned across brokers.
- Food delivery example: REST-01 events can be keyed to a partition for ordered processing by restaurant.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Producer writes OrderPlaced events to Kafka topic food-orders.
- Kafka broker appends the event to a partition and assigns an offset.
- Multiple consumer groups can read the same topic independently.
- Analytics, dispatch, notification, and fraud can each keep their own offsets.
- Kafka is strong when applications need durable ordered streams and replay within retention.
- Example: analytics group can reprocess yesterday's order stream if messages are retained.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Kafka and Pub/Sub both support event-driven communication.
- Kafka model: producers, topics, partitions, brokers, consumer groups, offsets.
- Pub/Sub model: publishers, topics, subscriptions, subscribers, acknowledgments.
- Kafka gives more control over partitions, brokers, retention strategy, and stream-processing architecture.
- Pub/Sub reduces infrastructure operations because it is a cloud-managed service.
- Kafka often appears in platform engineering and self-managed or managed streaming ecosystems.
- Pub/Sub fits Google Cloud-native asynchronous application integration and event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Use Kafka when stream architecture needs partition control, offset management, replay patterns, ecosystem integrations, or self-managed platform control.
- Use Pub/Sub when building cloud-native event fanout with less operational setup, especially in Google Cloud.
- For freshers: Kafka feels like a durable event log; Pub/Sub feels like a managed delivery layer.
- Both can be correct for food delivery; decision depends on cloud platform, team skills, operations, integration needs, and retention/replay requirements.
- Avoid choosing only by popularity; choose by requirements.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Pub/Sub is a communication pattern that decouples producers and consumers.
- Topic is the place where events are published.
- Subscription is the independent route by which a subscriber receives messages.
- Push: messaging service calls the subscriber endpoint.
- Pull: subscriber requests messages from the messaging service.
- Kafka: event streaming platform based on topics, partitions, brokers, offsets, and consumer groups.
- Strong fresher explanation: order service publishes OrderPlaced; every downstream system receives through its own mechanism without changing the order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Sources used: Google Cloud Pub/Sub overview, Google Cloud Pub/Sub push subscription documentation, Google Cloud Pub/Sub pull subscription documentation, Apache Kafka documentation, Apache Kafka quickstart, Apache Kafka KRaft/design pages.
- Important source-backed points: Pub/Sub asynchronous publisher/subscriber communication; push delivery initiated by Pub/Sub; pull delivery initiated by subscriber client; Kafka topics are partitioned; Kafka brokers store events and consumers read them.
- Reference slide included for transparency.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519672"/>
            <a:ext cx="10972800" cy="0"/>
          </a:xfrm>
          <a:prstGeom prst="line">
            <a:avLst/>
          </a:prstGeom>
          <a:noFill/>
          <a:ln w="12700">
            <a:solidFill>
              <a:srgbClr val="D9E7F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A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A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isometric_vector_illustration_infographi_batch_1.png">    </p:cNvPr>
          <p:cNvPicPr>
            <a:picLocks noChangeAspect="1"/>
          </p:cNvPicPr>
          <p:nvPr/>
        </p:nvPicPr>
        <p:blipFill>
          <a:blip r:embed="rId1"/>
          <a:srcRect l="30000" r="23400" t="0" b="0"/>
          <a:stretch/>
        </p:blipFill>
        <p:spPr>
          <a:xfrm>
            <a:off x="6510528" y="0"/>
            <a:ext cx="567842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492240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685800"/>
            <a:ext cx="2971800" cy="310896"/>
          </a:xfrm>
          <a:prstGeom prst="rect">
            <a:avLst/>
          </a:prstGeom>
          <a:solidFill>
            <a:srgbClr val="06B6D4"/>
          </a:solidFill>
          <a:ln>
            <a:solidFill>
              <a:srgbClr val="06B6D4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BEGINNER-FRIENDLY DATA ENGINEERING</a:t>
            </a:r>
            <a:endParaRPr lang="en-US" sz="880" dirty="0"/>
          </a:p>
        </p:txBody>
      </p:sp>
      <p:sp>
        <p:nvSpPr>
          <p:cNvPr id="5" name="Text 2"/>
          <p:cNvSpPr/>
          <p:nvPr/>
        </p:nvSpPr>
        <p:spPr>
          <a:xfrm>
            <a:off x="685800" y="1417320"/>
            <a:ext cx="4754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Pub/Sub Messaging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Kafka vs Pub/Sub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713232" y="306324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8E6FF"/>
                </a:solidFill>
              </a:rPr>
              <a:t>Topics • Subscriptions • Push vs Pull • Real-world food delivery example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13232" y="4983480"/>
            <a:ext cx="4251960" cy="713232"/>
          </a:xfrm>
          <a:prstGeom prst="rect">
            <a:avLst/>
          </a:prstGeom>
          <a:solidFill>
            <a:srgbClr val="1E3A6A"/>
          </a:solidFill>
          <a:ln w="12700">
            <a:solidFill>
              <a:srgbClr val="36588D"/>
            </a:solidFill>
          </a:ln>
          <a:effectLst>
            <a:outerShdw sx="100000" sy="100000" kx="0" ky="0" algn="bl" rotWithShape="0" blurRad="25400" dist="12700" dir="2700000">
              <a:srgbClr val="6B7A99">
                <a:alpha val="12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event. Many consumers. Decoupled systems.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A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PROBLEM FIRST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8961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messaging is needed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21792" y="9875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Without messaging, one application waits for every other application.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15087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6F2"/>
            </a:solidFill>
          </a:ln>
          <a:effectLst>
            <a:outerShdw sx="100000" sy="100000" kx="0" ky="0" algn="bl" rotWithShape="0" blurRad="25400" dist="12700" dir="2700000">
              <a:srgbClr val="6B7A99">
                <a:alpha val="12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Food app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86000" y="2679192"/>
            <a:ext cx="1371600" cy="-1069848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657600" y="1280160"/>
            <a:ext cx="15727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0" y="2679192"/>
            <a:ext cx="1371600" cy="-109728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657600" y="2240280"/>
            <a:ext cx="15727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Restaurant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86000" y="2679192"/>
            <a:ext cx="1371600" cy="850392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657600" y="3200400"/>
            <a:ext cx="15727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Rider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286000" y="2679192"/>
            <a:ext cx="1371600" cy="1810512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657600" y="4160520"/>
            <a:ext cx="15727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4672" y="14813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Tightly coupled request chain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4672" y="36576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If any service is slow, the main app feels slow.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37960" y="2331720"/>
            <a:ext cx="2011680" cy="685800"/>
          </a:xfrm>
          <a:prstGeom prst="rect">
            <a:avLst/>
          </a:prstGeom>
          <a:solidFill>
            <a:srgbClr val="DDEBFF"/>
          </a:solidFill>
          <a:ln w="12700">
            <a:solidFill>
              <a:srgbClr val="2563EB"/>
            </a:solidFill>
          </a:ln>
          <a:effectLst>
            <a:outerShdw sx="100000" sy="100000" kx="0" ky="0" algn="bl" rotWithShape="0" blurRad="25400" dist="12700" dir="2700000">
              <a:srgbClr val="6B7A99">
                <a:alpha val="12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Messaging layer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052560" y="1188720"/>
            <a:ext cx="1554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6F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Food app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publishes event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006840" y="1627632"/>
            <a:ext cx="-448056" cy="886968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549640" y="2670048"/>
            <a:ext cx="822960" cy="374904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9372600" y="2743200"/>
            <a:ext cx="1371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549640" y="2670048"/>
            <a:ext cx="822960" cy="1161288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9372600" y="3529584"/>
            <a:ext cx="1371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Restaurant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549640" y="2670048"/>
            <a:ext cx="822960" cy="1947672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9372600" y="4315968"/>
            <a:ext cx="1371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Rider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549640" y="2670048"/>
            <a:ext cx="822960" cy="2734056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9372600" y="5102352"/>
            <a:ext cx="1371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10528" y="148132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Loosely coupled event flow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10528" y="36576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App publishes and moves on. Consumers process independently.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94360" y="654710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190AB"/>
                </a:solidFill>
              </a:rPr>
              <a:t>Pub/Sub Messaging • Kafka vs Pub/Sub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A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REAL-WORLD SCENARIO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8961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Food delivery event stream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21792" y="9875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One customer action triggers many downstream business actions.</a:t>
            </a:r>
            <a:endParaRPr lang="en-US" sz="1050" dirty="0"/>
          </a:p>
        </p:txBody>
      </p:sp>
      <p:pic>
        <p:nvPicPr>
          <p:cNvPr id="5" name="Image 0" descr="/mnt/data/a_clean_isometric_vector_illustration_infographi_batch_1.png">    </p:cNvPr>
          <p:cNvPicPr>
            <a:picLocks noChangeAspect="1"/>
          </p:cNvPicPr>
          <p:nvPr/>
        </p:nvPicPr>
        <p:blipFill>
          <a:blip r:embed="rId1"/>
          <a:srcRect l="0" r="47670" t="0" b="0"/>
          <a:stretch/>
        </p:blipFill>
        <p:spPr>
          <a:xfrm>
            <a:off x="502920" y="1005840"/>
            <a:ext cx="4846320" cy="5212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0" y="1417320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  <a:effectLst>
            <a:outerShdw sx="100000" sy="100000" kx="0" ky="0" algn="bl" rotWithShape="0" blurRad="25400" dist="12700" dir="2700000">
              <a:srgbClr val="6B7A99">
                <a:alpha val="12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OrderPlaced event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772400" y="1755648"/>
            <a:ext cx="685800" cy="-36576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8" name="Text 5"/>
          <p:cNvSpPr/>
          <p:nvPr/>
        </p:nvSpPr>
        <p:spPr>
          <a:xfrm>
            <a:off x="8595360" y="1097280"/>
            <a:ext cx="566928" cy="566928"/>
          </a:xfrm>
          <a:prstGeom prst="rect">
            <a:avLst/>
          </a:prstGeom>
          <a:solidFill>
            <a:srgbClr val="10B981"/>
          </a:solidFill>
          <a:ln>
            <a:solidFill>
              <a:srgbClr val="10B981">
                <a:alpha val="0"/>
              </a:srgbClr>
            </a:solidFill>
          </a:ln>
          <a:effectLst>
            <a:outerShdw sx="100000" sy="100000" kx="0" ky="0" algn="bl" rotWithShape="0" blurRad="12700" dist="12700" dir="2700000">
              <a:srgbClr val="6B7A99">
                <a:alpha val="8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💳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345168" y="12618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Payment checks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72400" y="1755648"/>
            <a:ext cx="685800" cy="54864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8595360" y="2011680"/>
            <a:ext cx="566928" cy="566928"/>
          </a:xfrm>
          <a:prstGeom prst="rect">
            <a:avLst/>
          </a:prstGeom>
          <a:solidFill>
            <a:srgbClr val="F59E0B"/>
          </a:solidFill>
          <a:ln>
            <a:solidFill>
              <a:srgbClr val="F59E0B">
                <a:alpha val="0"/>
              </a:srgbClr>
            </a:solidFill>
          </a:ln>
          <a:effectLst>
            <a:outerShdw sx="100000" sy="100000" kx="0" ky="0" algn="bl" rotWithShape="0" blurRad="12700" dist="12700" dir="2700000">
              <a:srgbClr val="6B7A99">
                <a:alpha val="8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🍳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345168" y="21762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Kitchen screen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772400" y="1755648"/>
            <a:ext cx="685800" cy="146304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4" name="Text 11"/>
          <p:cNvSpPr/>
          <p:nvPr/>
        </p:nvSpPr>
        <p:spPr>
          <a:xfrm>
            <a:off x="8595360" y="2926080"/>
            <a:ext cx="566928" cy="566928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  <a:effectLst>
            <a:outerShdw sx="100000" sy="100000" kx="0" ky="0" algn="bl" rotWithShape="0" blurRad="12700" dist="12700" dir="2700000">
              <a:srgbClr val="6B7A99">
                <a:alpha val="8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🛵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345168" y="30906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Rider matching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772400" y="1755648"/>
            <a:ext cx="685800" cy="237744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8595360" y="3840480"/>
            <a:ext cx="566928" cy="566928"/>
          </a:xfrm>
          <a:prstGeom prst="rect">
            <a:avLst/>
          </a:prstGeom>
          <a:solidFill>
            <a:srgbClr val="7C3AED"/>
          </a:solidFill>
          <a:ln>
            <a:solidFill>
              <a:srgbClr val="7C3AED">
                <a:alpha val="0"/>
              </a:srgbClr>
            </a:solidFill>
          </a:ln>
          <a:effectLst>
            <a:outerShdw sx="100000" sy="100000" kx="0" ky="0" algn="bl" rotWithShape="0" blurRad="12700" dist="12700" dir="2700000">
              <a:srgbClr val="6B7A99">
                <a:alpha val="8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🔔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345168" y="40050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Customer notification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772400" y="1755648"/>
            <a:ext cx="685800" cy="3291840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  <a:tailEnd type="triangle"/>
          </a:ln>
        </p:spPr>
      </p:sp>
      <p:sp>
        <p:nvSpPr>
          <p:cNvPr id="20" name="Text 17"/>
          <p:cNvSpPr/>
          <p:nvPr/>
        </p:nvSpPr>
        <p:spPr>
          <a:xfrm>
            <a:off x="8595360" y="4754880"/>
            <a:ext cx="566928" cy="566928"/>
          </a:xfrm>
          <a:prstGeom prst="rect">
            <a:avLst/>
          </a:prstGeom>
          <a:solidFill>
            <a:srgbClr val="EC4899"/>
          </a:solidFill>
          <a:ln>
            <a:solidFill>
              <a:srgbClr val="EC4899">
                <a:alpha val="0"/>
              </a:srgbClr>
            </a:solidFill>
          </a:ln>
          <a:effectLst>
            <a:outerShdw sx="100000" sy="100000" kx="0" ky="0" algn="bl" rotWithShape="0" blurRad="12700" dist="12700" dir="2700000">
              <a:srgbClr val="6B7A99">
                <a:alpha val="8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📊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345168" y="49194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Analytics dashboard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852160" y="57150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A"/>
                </a:solidFill>
              </a:rPr>
              <a:t>The same event feeds multiple independent business flows.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594360" y="654710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190AB"/>
                </a:solidFill>
              </a:rPr>
              <a:t>Pub/Sub Messaging • Kafka vs Pub/Sub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A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DEFINITION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8961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Pub/Sub messaging in simple words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21792" y="9875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Publishers broadcast messages; subscribers receive messages asynchronously.</a:t>
            </a:r>
            <a:endParaRPr lang="en-US" sz="1050" dirty="0"/>
          </a:p>
        </p:txBody>
      </p:sp>
      <p:pic>
        <p:nvPicPr>
          <p:cNvPr id="5" name="Image 0" descr="/mnt/data/wide_clean_high_quality_3d_soft_3d_vector_illust_batch_2.png">    </p:cNvPr>
          <p:cNvPicPr>
            <a:picLocks noChangeAspect="1"/>
          </p:cNvPicPr>
          <p:nvPr/>
        </p:nvPicPr>
        <p:blipFill>
          <a:blip r:embed="rId1"/>
          <a:srcRect l="0" r="-9942" t="8000" b="22000"/>
          <a:stretch/>
        </p:blipFill>
        <p:spPr>
          <a:xfrm>
            <a:off x="594360" y="1143000"/>
            <a:ext cx="10972800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5303520"/>
            <a:ext cx="21945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  <a:effectLst>
            <a:outerShdw sx="100000" sy="100000" kx="0" ky="0" algn="bl" rotWithShape="0" blurRad="25400" dist="12700" dir="2700000">
              <a:srgbClr val="6B7A99">
                <a:alpha val="12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983480" y="5303520"/>
            <a:ext cx="21945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  <a:effectLst>
            <a:outerShdw sx="100000" sy="100000" kx="0" ky="0" algn="bl" rotWithShape="0" blurRad="25400" dist="12700" dir="2700000">
              <a:srgbClr val="6B7A99">
                <a:alpha val="12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Broker / Service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915400" y="5303520"/>
            <a:ext cx="21945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  <a:effectLst>
            <a:outerShdw sx="100000" sy="100000" kx="0" ky="0" algn="bl" rotWithShape="0" blurRad="25400" dist="12700" dir="2700000">
              <a:srgbClr val="6B7A99">
                <a:alpha val="12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Subscribe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291840" y="6062472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Publisher does not wait for subscriber processing.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" y="654710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190AB"/>
                </a:solidFill>
              </a:rPr>
              <a:t>Pub/Sub Messaging • Kafka vs Pub/Sub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A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BUILDING BLOCKS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8961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roles in Pub/Sub messaging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21792" y="9875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Four simple parts explain most systems.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77240" y="2011680"/>
            <a:ext cx="1874520" cy="105156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</a:ln>
          <a:effectLst>
            <a:outerShdw sx="100000" sy="100000" kx="0" ky="0" algn="bl" rotWithShape="0" blurRad="25400" dist="12700" dir="2700000">
              <a:srgbClr val="6B7A99">
                <a:alpha val="12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creates event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651760" y="2542032"/>
            <a:ext cx="105156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749040" y="2011680"/>
            <a:ext cx="1874520" cy="105156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>
            <a:outerShdw sx="100000" sy="100000" kx="0" ky="0" algn="bl" rotWithShape="0" blurRad="25400" dist="12700" dir="2700000">
              <a:srgbClr val="6B7A99">
                <a:alpha val="12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Topic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named stream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623560" y="2542032"/>
            <a:ext cx="105156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720840" y="2011680"/>
            <a:ext cx="1874520" cy="105156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  <a:effectLst>
            <a:outerShdw sx="100000" sy="100000" kx="0" ky="0" algn="bl" rotWithShape="0" blurRad="25400" dist="12700" dir="2700000">
              <a:srgbClr val="6B7A99">
                <a:alpha val="12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Subscription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path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595360" y="2542032"/>
            <a:ext cx="1051560" cy="0"/>
          </a:xfrm>
          <a:prstGeom prst="line">
            <a:avLst/>
          </a:prstGeom>
          <a:noFill/>
          <a:ln w="317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692640" y="2011680"/>
            <a:ext cx="1874520" cy="105156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  <a:effectLst>
            <a:outerShdw sx="100000" sy="100000" kx="0" ky="0" algn="bl" rotWithShape="0" blurRad="25400" dist="12700" dir="2700000">
              <a:srgbClr val="6B7A99">
                <a:alpha val="12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Subscriber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processes event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51560" y="4206240"/>
            <a:ext cx="117043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2F7"/>
            </a:solidFill>
          </a:ln>
          <a:effectLst>
            <a:outerShdw sx="100000" sy="100000" kx="0" ky="0" algn="bl" rotWithShape="0" blurRad="25400" dist="12700" dir="2700000">
              <a:srgbClr val="6B7A99">
                <a:alpha val="12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07008" y="4736592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F2A44"/>
                </a:solidFill>
              </a:rPr>
              <a:t>Food app publishes OrderPlaced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794760" y="4206240"/>
            <a:ext cx="117043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2F7"/>
            </a:solidFill>
          </a:ln>
          <a:effectLst>
            <a:outerShdw sx="100000" sy="100000" kx="0" ky="0" algn="bl" rotWithShape="0" blurRad="25400" dist="12700" dir="2700000">
              <a:srgbClr val="6B7A99">
                <a:alpha val="12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50208" y="4736592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F2A44"/>
                </a:solidFill>
              </a:rPr>
              <a:t>food-orders collects related events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37960" y="4206240"/>
            <a:ext cx="117043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2F7"/>
            </a:solidFill>
          </a:ln>
          <a:effectLst>
            <a:outerShdw sx="100000" sy="100000" kx="0" ky="0" algn="bl" rotWithShape="0" blurRad="25400" dist="12700" dir="2700000">
              <a:srgbClr val="6B7A99">
                <a:alpha val="12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Subscription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93408" y="4736592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F2A44"/>
                </a:solidFill>
              </a:rPr>
              <a:t>analytics-sub or notification-sub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281160" y="4206240"/>
            <a:ext cx="117043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2F7"/>
            </a:solidFill>
          </a:ln>
          <a:effectLst>
            <a:outerShdw sx="100000" sy="100000" kx="0" ky="0" algn="bl" rotWithShape="0" blurRad="25400" dist="12700" dir="2700000">
              <a:srgbClr val="6B7A99">
                <a:alpha val="12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Subscriber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436608" y="4736592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F2A44"/>
                </a:solidFill>
              </a:rPr>
              <a:t>analytics service, email service, mobile app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94360" y="654710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190AB"/>
                </a:solidFill>
              </a:rPr>
              <a:t>Pub/Sub Messaging • Kafka vs Pub/Sub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A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TOPIC &amp; SUBSCRIPTION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8961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topic, many subscriptions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21792" y="9875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Each subscription is a separate read path from the same topic.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983480" y="2240280"/>
            <a:ext cx="2103120" cy="1005840"/>
          </a:xfrm>
          <a:prstGeom prst="rect">
            <a:avLst/>
          </a:prstGeom>
          <a:solidFill>
            <a:srgbClr val="DDEBFF"/>
          </a:solidFill>
          <a:ln w="12700">
            <a:solidFill>
              <a:srgbClr val="2563EB"/>
            </a:solidFill>
          </a:ln>
          <a:effectLst>
            <a:outerShdw sx="100000" sy="100000" kx="0" ky="0" algn="bl" rotWithShape="0" blurRad="25400" dist="12700" dir="2700000">
              <a:srgbClr val="6B7A99">
                <a:alpha val="12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food-orders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TOPIC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59152"/>
            <a:ext cx="1828800" cy="77724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</a:ln>
          <a:effectLst>
            <a:outerShdw sx="100000" sy="100000" kx="0" ky="0" algn="bl" rotWithShape="0" blurRad="25400" dist="12700" dir="2700000">
              <a:srgbClr val="6B7A99">
                <a:alpha val="12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service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0" y="2743200"/>
            <a:ext cx="224028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086600" y="2743200"/>
            <a:ext cx="1371600" cy="-1252728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8595360" y="1143000"/>
            <a:ext cx="1691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payment-sub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314432" y="126187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0B1F3A"/>
                </a:solidFill>
              </a:rPr>
              <a:t>Payment worker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7086600" y="2743200"/>
            <a:ext cx="1371600" cy="-246888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595360" y="2148840"/>
            <a:ext cx="1691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kitchen-sub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314432" y="226771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0B1F3A"/>
                </a:solidFill>
              </a:rPr>
              <a:t>Kitchen display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7086600" y="2743200"/>
            <a:ext cx="1371600" cy="758952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595360" y="3154680"/>
            <a:ext cx="1691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rider-sub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314432" y="327355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0B1F3A"/>
                </a:solidFill>
              </a:rPr>
              <a:t>Dispatch engine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7086600" y="2743200"/>
            <a:ext cx="1371600" cy="1764792"/>
          </a:xfrm>
          <a:prstGeom prst="line">
            <a:avLst/>
          </a:prstGeom>
          <a:noFill/>
          <a:ln w="317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8595360" y="4160520"/>
            <a:ext cx="1691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analytics-sub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314432" y="427939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0B1F3A"/>
                </a:solidFill>
              </a:rPr>
              <a:t>Dashboard job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914400" y="56692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1F3A"/>
                </a:solidFill>
              </a:rPr>
              <a:t>Important: subscriptions are not consumers. They are delivery paths consumed by subscriber applications.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594360" y="654710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190AB"/>
                </a:solidFill>
              </a:rPr>
              <a:t>Pub/Sub Messaging • Kafka vs Pub/Sub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A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MESSAGE LIFECYCLE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8961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happens to one message?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21792" y="9875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Publish → store → deliver → process → acknowledge.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640080" cy="640080"/>
          </a:xfrm>
          <a:prstGeom prst="rect">
            <a:avLst/>
          </a:prstGeom>
          <a:solidFill>
            <a:srgbClr val="F59E0B"/>
          </a:solidFill>
          <a:ln>
            <a:solidFill>
              <a:srgbClr val="F59E0B">
                <a:alpha val="0"/>
              </a:srgbClr>
            </a:solidFill>
          </a:ln>
          <a:effectLst>
            <a:outerShdw sx="100000" sy="100000" kx="0" ky="0" algn="bl" rotWithShape="0" blurRad="12700" dist="12700" dir="2700000">
              <a:srgbClr val="6B7A99">
                <a:alpha val="8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2697480"/>
            <a:ext cx="1005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3401568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44"/>
                </a:solidFill>
              </a:rPr>
              <a:t>Order service sends JSON event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435608" y="2148840"/>
            <a:ext cx="941832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017520" y="1828800"/>
            <a:ext cx="640080" cy="640080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  <a:effectLst>
            <a:outerShdw sx="100000" sy="100000" kx="0" ky="0" algn="bl" rotWithShape="0" blurRad="12700" dist="12700" dir="2700000">
              <a:srgbClr val="6B7A99">
                <a:alpha val="8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834640" y="2697480"/>
            <a:ext cx="1005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06040" y="3401568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44"/>
                </a:solidFill>
              </a:rPr>
              <a:t>Messaging service records the message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75888" y="2148840"/>
            <a:ext cx="941832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257800" y="1828800"/>
            <a:ext cx="640080" cy="640080"/>
          </a:xfrm>
          <a:prstGeom prst="rect">
            <a:avLst/>
          </a:prstGeom>
          <a:solidFill>
            <a:srgbClr val="7C3AED"/>
          </a:solidFill>
          <a:ln>
            <a:solidFill>
              <a:srgbClr val="7C3AED">
                <a:alpha val="0"/>
              </a:srgbClr>
            </a:solidFill>
          </a:ln>
          <a:effectLst>
            <a:outerShdw sx="100000" sy="100000" kx="0" ky="0" algn="bl" rotWithShape="0" blurRad="12700" dist="12700" dir="2700000">
              <a:srgbClr val="6B7A99">
                <a:alpha val="8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74920" y="2697480"/>
            <a:ext cx="1005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3401568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44"/>
                </a:solidFill>
              </a:rPr>
              <a:t>Subscription makes it available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16168" y="2148840"/>
            <a:ext cx="941832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7498080" y="1828800"/>
            <a:ext cx="640080" cy="640080"/>
          </a:xfrm>
          <a:prstGeom prst="rect">
            <a:avLst/>
          </a:prstGeom>
          <a:solidFill>
            <a:srgbClr val="10B981"/>
          </a:solidFill>
          <a:ln>
            <a:solidFill>
              <a:srgbClr val="10B981">
                <a:alpha val="0"/>
              </a:srgbClr>
            </a:solidFill>
          </a:ln>
          <a:effectLst>
            <a:outerShdw sx="100000" sy="100000" kx="0" ky="0" algn="bl" rotWithShape="0" blurRad="12700" dist="12700" dir="2700000">
              <a:srgbClr val="6B7A99">
                <a:alpha val="8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0" y="2697480"/>
            <a:ext cx="1005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86600" y="3401568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44"/>
                </a:solidFill>
              </a:rPr>
              <a:t>Subscriber runs business logic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56448" y="2148840"/>
            <a:ext cx="941832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9738360" y="1828800"/>
            <a:ext cx="640080" cy="640080"/>
          </a:xfrm>
          <a:prstGeom prst="rect">
            <a:avLst/>
          </a:prstGeom>
          <a:solidFill>
            <a:srgbClr val="06B6D4"/>
          </a:solidFill>
          <a:ln>
            <a:solidFill>
              <a:srgbClr val="06B6D4">
                <a:alpha val="0"/>
              </a:srgbClr>
            </a:solidFill>
          </a:ln>
          <a:effectLst>
            <a:outerShdw sx="100000" sy="100000" kx="0" ky="0" algn="bl" rotWithShape="0" blurRad="12700" dist="12700" dir="2700000">
              <a:srgbClr val="6B7A99">
                <a:alpha val="8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555480" y="2697480"/>
            <a:ext cx="1005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326880" y="3401568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44"/>
                </a:solidFill>
              </a:rPr>
              <a:t>Successful processing is confirmed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3000" y="5074920"/>
            <a:ext cx="9921240" cy="68580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</a:ln>
          <a:effectLst>
            <a:outerShdw sx="100000" sy="100000" kx="0" ky="0" algn="bl" rotWithShape="0" blurRad="25400" dist="12700" dir="2700000">
              <a:srgbClr val="6B7A99">
                <a:alpha val="12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no ack arrives, the system can redeliver according to delivery settings.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94360" y="654710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190AB"/>
                </a:solidFill>
              </a:rPr>
              <a:t>Pub/Sub Messaging • Kafka vs Pub/Sub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A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DELIVERY STYLES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8961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Push vs pull delivery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21792" y="9875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The difference is who starts the delivery interaction.</a:t>
            </a:r>
            <a:endParaRPr lang="en-US" sz="1050" dirty="0"/>
          </a:p>
        </p:txBody>
      </p:sp>
      <p:pic>
        <p:nvPicPr>
          <p:cNvPr id="5" name="Image 0" descr="/mnt/data/a_clean_colorful_split_screen_vector_3d_illustra_batch_3.png">    </p:cNvPr>
          <p:cNvPicPr>
            <a:picLocks noChangeAspect="1"/>
          </p:cNvPicPr>
          <p:nvPr/>
        </p:nvPicPr>
        <p:blipFill>
          <a:blip r:embed="rId1"/>
          <a:srcRect l="0" r="-15174" t="2000" b="20000"/>
          <a:stretch/>
        </p:blipFill>
        <p:spPr>
          <a:xfrm>
            <a:off x="502920" y="1188720"/>
            <a:ext cx="11155680" cy="4251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5623560"/>
            <a:ext cx="4754880" cy="530352"/>
          </a:xfrm>
          <a:prstGeom prst="rect">
            <a:avLst/>
          </a:prstGeom>
          <a:solidFill>
            <a:srgbClr val="EAF3FF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Push: Pub/Sub calls subscriber endpoint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601968" y="5623560"/>
            <a:ext cx="4754880" cy="530352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Pull: subscriber requests messages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94360" y="654710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190AB"/>
                </a:solidFill>
              </a:rPr>
              <a:t>Pub/Sub Messaging • Kafka vs Pub/Sub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A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PULL DELIVERY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8961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Pull delivery: consumer controls the pace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21792" y="9875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Subscriber asks for messages when it is ready.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68680" y="2103120"/>
            <a:ext cx="2423160" cy="1005840"/>
          </a:xfrm>
          <a:prstGeom prst="rect">
            <a:avLst/>
          </a:prstGeom>
          <a:solidFill>
            <a:srgbClr val="DDEBFF"/>
          </a:solidFill>
          <a:ln w="12700">
            <a:solidFill>
              <a:srgbClr val="2563EB"/>
            </a:solidFill>
          </a:ln>
          <a:effectLst>
            <a:outerShdw sx="100000" sy="100000" kx="0" ky="0" algn="bl" rotWithShape="0" blurRad="25400" dist="12700" dir="2700000">
              <a:srgbClr val="6B7A99">
                <a:alpha val="12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Pub/Sub service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food-orders topic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595360" y="2103120"/>
            <a:ext cx="2423160" cy="100584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  <a:effectLst>
            <a:outerShdw sx="100000" sy="100000" kx="0" ky="0" algn="bl" rotWithShape="0" blurRad="25400" dist="12700" dir="2700000">
              <a:srgbClr val="6B7A99">
                <a:alpha val="12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worker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subscriber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595360" y="2395728"/>
            <a:ext cx="-5303520" cy="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5349240" y="204825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Pull request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2816352"/>
            <a:ext cx="530352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4937760" y="29443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Messages + ack IDs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3337560"/>
            <a:ext cx="-530352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892040" y="34930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Ack after processing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4846320"/>
            <a:ext cx="12344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1F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fit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53949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F2A44"/>
                </a:solidFill>
              </a:rPr>
              <a:t>Batch jobs, analytics, workers, controlled throughput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54880" y="4846320"/>
            <a:ext cx="12344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1F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benefit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53949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F2A44"/>
                </a:solidFill>
              </a:rPr>
              <a:t>Subscriber can slow down or speed up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412480" y="4846320"/>
            <a:ext cx="12344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1F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0" y="53949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F2A44"/>
                </a:solidFill>
              </a:rPr>
              <a:t>Dashboard job pulls 100 order events at a time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94360" y="654710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190AB"/>
                </a:solidFill>
              </a:rPr>
              <a:t>Pub/Sub Messaging • Kafka vs Pub/Sub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A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PUSH DELIVERY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8961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Push delivery: service calls your endpoint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21792" y="9875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Pub/Sub sends messages to a reachable HTTPS endpoint.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68680" y="2057400"/>
            <a:ext cx="2423160" cy="1005840"/>
          </a:xfrm>
          <a:prstGeom prst="rect">
            <a:avLst/>
          </a:prstGeom>
          <a:solidFill>
            <a:srgbClr val="DDEBFF"/>
          </a:solidFill>
          <a:ln w="12700">
            <a:solidFill>
              <a:srgbClr val="2563EB"/>
            </a:solidFill>
          </a:ln>
          <a:effectLst>
            <a:outerShdw sx="100000" sy="100000" kx="0" ky="0" algn="bl" rotWithShape="0" blurRad="25400" dist="12700" dir="2700000">
              <a:srgbClr val="6B7A99">
                <a:alpha val="12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Pub/Sub service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food-orders topic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503920" y="2057400"/>
            <a:ext cx="2606040" cy="100584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  <a:effectLst>
            <a:outerShdw sx="100000" sy="100000" kx="0" ky="0" algn="bl" rotWithShape="0" blurRad="25400" dist="12700" dir="2700000">
              <a:srgbClr val="6B7A99">
                <a:alpha val="12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Webhook / Cloud Run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 API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91840" y="2560320"/>
            <a:ext cx="5212080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4846320" y="22585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HTTPS POST with message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503920" y="3200400"/>
            <a:ext cx="-5212080" cy="0"/>
          </a:xfrm>
          <a:prstGeom prst="line">
            <a:avLst/>
          </a:prstGeom>
          <a:noFill/>
          <a:ln w="2921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029200" y="334670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2xx response = success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4800600"/>
            <a:ext cx="12344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1F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53492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F2A44"/>
                </a:solidFill>
              </a:rPr>
              <a:t>Webhooks, serverless APIs, low-latency notification flow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754880" y="4800600"/>
            <a:ext cx="12344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1F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benefit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53492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F2A44"/>
                </a:solidFill>
              </a:rPr>
              <a:t>Less polling code inside subscriber application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12480" y="4800600"/>
            <a:ext cx="12344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1F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0" y="53492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F2A44"/>
                </a:solidFill>
              </a:rPr>
              <a:t>Send mobile notification after order status changes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94360" y="654710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190AB"/>
                </a:solidFill>
              </a:rPr>
              <a:t>Pub/Sub Messaging • Kafka vs Pub/Sub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A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CHOOSING DELIVERY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8961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Push vs pull: quick decision guide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21792" y="9875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Choose based on who should control timing and scaling.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261872"/>
            <a:ext cx="3383280" cy="713232"/>
          </a:xfrm>
          <a:prstGeom prst="rect">
            <a:avLst/>
          </a:prstGeom>
          <a:solidFill>
            <a:srgbClr val="0B1F3A"/>
          </a:solidFill>
          <a:ln w="12700">
            <a:solidFill>
              <a:srgbClr val="D2DE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35608"/>
            <a:ext cx="31455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Question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041648" y="1261872"/>
            <a:ext cx="3840480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D2DE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60520" y="1435608"/>
            <a:ext cx="36027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Push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82128" y="1261872"/>
            <a:ext cx="3840480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D2DE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01000" y="1435608"/>
            <a:ext cx="36027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Pull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" y="1975104"/>
            <a:ext cx="33832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E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148840"/>
            <a:ext cx="31455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0B1F3A"/>
                </a:solidFill>
              </a:rPr>
              <a:t>Who starts delivery?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4041648" y="1975104"/>
            <a:ext cx="3840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E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60520" y="2148840"/>
            <a:ext cx="36027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F2A44"/>
                </a:solidFill>
              </a:rPr>
              <a:t>Pub/Sub service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7882128" y="1975104"/>
            <a:ext cx="3840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E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2148840"/>
            <a:ext cx="36027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F2A44"/>
                </a:solidFill>
              </a:rPr>
              <a:t>Subscriber application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658368" y="2688336"/>
            <a:ext cx="33832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E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2862072"/>
            <a:ext cx="31455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0B1F3A"/>
                </a:solidFill>
              </a:rPr>
              <a:t>Subscriber endpoint?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4041648" y="2688336"/>
            <a:ext cx="3840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E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520" y="2862072"/>
            <a:ext cx="36027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F2A44"/>
                </a:solidFill>
              </a:rPr>
              <a:t>Public/reachable HTTPS endpoint needed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7882128" y="2688336"/>
            <a:ext cx="3840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E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01000" y="2862072"/>
            <a:ext cx="36027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F2A44"/>
                </a:solidFill>
              </a:rPr>
              <a:t>No public endpoint required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658368" y="3401568"/>
            <a:ext cx="33832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E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575304"/>
            <a:ext cx="31455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0B1F3A"/>
                </a:solidFill>
              </a:rPr>
              <a:t>Good example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4041648" y="3401568"/>
            <a:ext cx="3840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E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60520" y="3575304"/>
            <a:ext cx="36027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F2A44"/>
                </a:solidFill>
              </a:rPr>
              <a:t>Order notification webhook</a:t>
            </a:r>
            <a:endParaRPr lang="en-US" sz="1180" dirty="0"/>
          </a:p>
        </p:txBody>
      </p:sp>
      <p:sp>
        <p:nvSpPr>
          <p:cNvPr id="27" name="Shape 25"/>
          <p:cNvSpPr/>
          <p:nvPr/>
        </p:nvSpPr>
        <p:spPr>
          <a:xfrm>
            <a:off x="7882128" y="3401568"/>
            <a:ext cx="3840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E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01000" y="3575304"/>
            <a:ext cx="36027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F2A44"/>
                </a:solidFill>
              </a:rPr>
              <a:t>Analytics batch worker</a:t>
            </a:r>
            <a:endParaRPr lang="en-US" sz="1180" dirty="0"/>
          </a:p>
        </p:txBody>
      </p:sp>
      <p:sp>
        <p:nvSpPr>
          <p:cNvPr id="29" name="Shape 27"/>
          <p:cNvSpPr/>
          <p:nvPr/>
        </p:nvSpPr>
        <p:spPr>
          <a:xfrm>
            <a:off x="658368" y="4114800"/>
            <a:ext cx="33832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E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288536"/>
            <a:ext cx="31455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0B1F3A"/>
                </a:solidFill>
              </a:rPr>
              <a:t>Control over pace</a:t>
            </a:r>
            <a:endParaRPr lang="en-US" sz="1180" dirty="0"/>
          </a:p>
        </p:txBody>
      </p:sp>
      <p:sp>
        <p:nvSpPr>
          <p:cNvPr id="31" name="Shape 29"/>
          <p:cNvSpPr/>
          <p:nvPr/>
        </p:nvSpPr>
        <p:spPr>
          <a:xfrm>
            <a:off x="4041648" y="4114800"/>
            <a:ext cx="3840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E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60520" y="4288536"/>
            <a:ext cx="36027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F2A44"/>
                </a:solidFill>
              </a:rPr>
              <a:t>Service pushes to endpoint</a:t>
            </a:r>
            <a:endParaRPr lang="en-US" sz="1180" dirty="0"/>
          </a:p>
        </p:txBody>
      </p:sp>
      <p:sp>
        <p:nvSpPr>
          <p:cNvPr id="33" name="Shape 31"/>
          <p:cNvSpPr/>
          <p:nvPr/>
        </p:nvSpPr>
        <p:spPr>
          <a:xfrm>
            <a:off x="7882128" y="4114800"/>
            <a:ext cx="3840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E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01000" y="4288536"/>
            <a:ext cx="36027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F2A44"/>
                </a:solidFill>
              </a:rPr>
              <a:t>Worker controls request rate</a:t>
            </a:r>
            <a:endParaRPr lang="en-US" sz="1180" dirty="0"/>
          </a:p>
        </p:txBody>
      </p:sp>
      <p:sp>
        <p:nvSpPr>
          <p:cNvPr id="35" name="Shape 33"/>
          <p:cNvSpPr/>
          <p:nvPr/>
        </p:nvSpPr>
        <p:spPr>
          <a:xfrm>
            <a:off x="658368" y="4828032"/>
            <a:ext cx="33832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E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5001768"/>
            <a:ext cx="31455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0B1F3A"/>
                </a:solidFill>
              </a:rPr>
              <a:t>Fresh analogy</a:t>
            </a:r>
            <a:endParaRPr lang="en-US" sz="1180" dirty="0"/>
          </a:p>
        </p:txBody>
      </p:sp>
      <p:sp>
        <p:nvSpPr>
          <p:cNvPr id="37" name="Shape 35"/>
          <p:cNvSpPr/>
          <p:nvPr/>
        </p:nvSpPr>
        <p:spPr>
          <a:xfrm>
            <a:off x="4041648" y="4828032"/>
            <a:ext cx="3840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E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60520" y="5001768"/>
            <a:ext cx="36027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F2A44"/>
                </a:solidFill>
              </a:rPr>
              <a:t>Courier comes to door</a:t>
            </a:r>
            <a:endParaRPr lang="en-US" sz="1180" dirty="0"/>
          </a:p>
        </p:txBody>
      </p:sp>
      <p:sp>
        <p:nvSpPr>
          <p:cNvPr id="39" name="Shape 37"/>
          <p:cNvSpPr/>
          <p:nvPr/>
        </p:nvSpPr>
        <p:spPr>
          <a:xfrm>
            <a:off x="7882128" y="4828032"/>
            <a:ext cx="3840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E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01000" y="5001768"/>
            <a:ext cx="36027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F2A44"/>
                </a:solidFill>
              </a:rPr>
              <a:t>You collect from counter</a:t>
            </a:r>
            <a:endParaRPr lang="en-US" sz="1180" dirty="0"/>
          </a:p>
        </p:txBody>
      </p:sp>
      <p:sp>
        <p:nvSpPr>
          <p:cNvPr id="41" name="Text 39"/>
          <p:cNvSpPr/>
          <p:nvPr/>
        </p:nvSpPr>
        <p:spPr>
          <a:xfrm>
            <a:off x="594360" y="654710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190AB"/>
                </a:solidFill>
              </a:rPr>
              <a:t>Pub/Sub Messaging • Kafka vs Pub/Sub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A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RELIABILITY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8961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Acknowledgment, retry, and duplicates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21792" y="9875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Messaging systems aim for reliable delivery; applications must handle repeats.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21945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  <a:effectLst>
            <a:outerShdw sx="100000" sy="100000" kx="0" ky="0" algn="bl" rotWithShape="0" blurRad="25400" dist="12700" dir="2700000">
              <a:srgbClr val="6B7A99">
                <a:alpha val="12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 received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017520" y="2542032"/>
            <a:ext cx="1051560" cy="0"/>
          </a:xfrm>
          <a:prstGeom prst="line">
            <a:avLst/>
          </a:prstGeom>
          <a:noFill/>
          <a:ln w="3048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4069080" y="2148840"/>
            <a:ext cx="2286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  <a:effectLst>
            <a:outerShdw sx="100000" sy="100000" kx="0" ky="0" algn="bl" rotWithShape="0" blurRad="25400" dist="12700" dir="2700000">
              <a:srgbClr val="6B7A99">
                <a:alpha val="12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business logic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55080" y="2542032"/>
            <a:ext cx="1051560" cy="0"/>
          </a:xfrm>
          <a:prstGeom prst="line">
            <a:avLst/>
          </a:prstGeom>
          <a:noFill/>
          <a:ln w="3048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7406640" y="2148840"/>
            <a:ext cx="1874520" cy="77724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  <a:effectLst>
            <a:outerShdw sx="100000" sy="100000" kx="0" ky="0" algn="bl" rotWithShape="0" blurRad="25400" dist="12700" dir="2700000">
              <a:srgbClr val="6B7A99">
                <a:alpha val="12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Ack success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55080" y="3246120"/>
            <a:ext cx="1051560" cy="1005840"/>
          </a:xfrm>
          <a:prstGeom prst="line">
            <a:avLst/>
          </a:prstGeom>
          <a:noFill/>
          <a:ln w="3048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406640" y="3886200"/>
            <a:ext cx="2240280" cy="96012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</a:ln>
          <a:effectLst>
            <a:outerShdw sx="100000" sy="100000" kx="0" ky="0" algn="bl" rotWithShape="0" blurRad="25400" dist="12700" dir="2700000">
              <a:srgbClr val="6B7A99">
                <a:alpha val="12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ack / error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redelivery possible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541324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</a:rPr>
              <a:t>Design subscribers to be idempotent: processing the same order event twice should not double-charge or double-notify.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94360" y="654710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190AB"/>
                </a:solidFill>
              </a:rPr>
              <a:t>Pub/Sub Messaging • Kafka vs Pub/Sub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A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KAFKA FOUNDATION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8961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Kafka as an event streaming platform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21792" y="9875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Kafka stores event streams durably and lets consumers read them.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68680" y="2606040"/>
            <a:ext cx="1600200" cy="73152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</a:ln>
          <a:effectLst>
            <a:outerShdw sx="100000" sy="100000" kx="0" ky="0" algn="bl" rotWithShape="0" blurRad="25400" dist="12700" dir="2700000">
              <a:srgbClr val="6B7A99">
                <a:alpha val="12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0" y="1325880"/>
            <a:ext cx="2834640" cy="2926080"/>
          </a:xfrm>
          <a:prstGeom prst="rect">
            <a:avLst/>
          </a:prstGeom>
          <a:solidFill>
            <a:srgbClr val="F2F6FF"/>
          </a:solidFill>
          <a:ln w="12700">
            <a:solidFill>
              <a:srgbClr val="2563EB"/>
            </a:solidFill>
          </a:ln>
          <a:effectLst>
            <a:outerShdw sx="100000" sy="100000" kx="0" ky="0" algn="bl" rotWithShape="0" blurRad="25400" dist="12700" dir="2700000">
              <a:srgbClr val="6B7A99">
                <a:alpha val="12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Kafka broker cluster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983480" y="1920240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0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Partition 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83480" y="2606040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0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Partition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83480" y="3291840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0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Partition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0" y="2423160"/>
            <a:ext cx="2011680" cy="109728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  <a:effectLst>
            <a:outerShdw sx="100000" sy="100000" kx="0" ky="0" algn="bl" rotWithShape="0" blurRad="25400" dist="12700" dir="2700000">
              <a:srgbClr val="6B7A99">
                <a:alpha val="12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Consumer group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468880" y="2971800"/>
            <a:ext cx="210312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406640" y="2971800"/>
            <a:ext cx="1737360" cy="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097280" y="507492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</a:rPr>
              <a:t>Kafka clients communicate with brokers over the network. Brokers store events in topics for the configured retention period.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94360" y="654710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190AB"/>
                </a:solidFill>
              </a:rPr>
              <a:t>Pub/Sub Messaging • Kafka vs Pub/Sub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A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KAFKA INTERNALS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8961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Topic, partition, broker, consumer group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21792" y="9875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Kafka scales by splitting topics into partitions and assigning them to consumers.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68680" y="1508760"/>
            <a:ext cx="2194560" cy="548640"/>
          </a:xfrm>
          <a:prstGeom prst="rect">
            <a:avLst/>
          </a:prstGeom>
          <a:solidFill>
            <a:srgbClr val="DDEBFF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food-orders topic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2331720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P0 offsets 0,1,2...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43000" y="3154680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 offsets 0,1,2...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43000" y="3977640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P2 offsets 0,1,2...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0" y="1645920"/>
            <a:ext cx="1417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Broker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2560320"/>
            <a:ext cx="1417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Broker 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3474720"/>
            <a:ext cx="1417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Broker 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46120" y="2587752"/>
            <a:ext cx="1325880" cy="-667512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246120" y="3154680"/>
            <a:ext cx="1325880" cy="-32004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246120" y="3712464"/>
            <a:ext cx="1325880" cy="36576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543800" y="1508760"/>
            <a:ext cx="2926080" cy="54864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Consumer group: analytics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35240" y="2331720"/>
            <a:ext cx="1051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Consumer 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reads P0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915400" y="2999232"/>
            <a:ext cx="1051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Consumer B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reads P1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635240" y="3675888"/>
            <a:ext cx="1051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Consumer C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reads P2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89320" y="1920240"/>
            <a:ext cx="1645920" cy="68580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989320" y="2834640"/>
            <a:ext cx="2926080" cy="448056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989320" y="3749040"/>
            <a:ext cx="1645920" cy="210312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005840" y="5715000"/>
            <a:ext cx="10149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One partition is processed by one consumer inside the same group at a time.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4360" y="654710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190AB"/>
                </a:solidFill>
              </a:rPr>
              <a:t>Pub/Sub Messaging • Kafka vs Pub/Sub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A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SAME EXAMPLE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8961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Kafka flow for food orders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21792" y="9875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Producer writes events; broker stores them; consumers read at their own pace.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1737360" cy="86868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</a:ln>
          <a:effectLst>
            <a:outerShdw sx="100000" sy="100000" kx="0" ky="0" algn="bl" rotWithShape="0" blurRad="25400" dist="12700" dir="2700000">
              <a:srgbClr val="6B7A99">
                <a:alpha val="12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service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892040" y="1874520"/>
            <a:ext cx="2194560" cy="2423160"/>
          </a:xfrm>
          <a:prstGeom prst="rect">
            <a:avLst/>
          </a:prstGeom>
          <a:solidFill>
            <a:srgbClr val="DDEBFF"/>
          </a:solidFill>
          <a:ln w="12700">
            <a:solidFill>
              <a:srgbClr val="2563EB"/>
            </a:solidFill>
          </a:ln>
          <a:effectLst>
            <a:outerShdw sx="100000" sy="100000" kx="0" ky="0" algn="bl" rotWithShape="0" blurRad="25400" dist="12700" dir="2700000">
              <a:srgbClr val="6B7A99">
                <a:alpha val="12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Kafka topic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food-orders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257800" y="2514600"/>
            <a:ext cx="1463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0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P0: OrderPlaced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offset 0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5257800" y="2999232"/>
            <a:ext cx="1463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0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P1: OrderPlaced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offset 1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5257800" y="3483864"/>
            <a:ext cx="1463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0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P2: OrderPlaced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offset 2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2468880" y="3090672"/>
            <a:ext cx="242316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086600" y="3090672"/>
            <a:ext cx="1261872" cy="-1472184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458200" y="1234440"/>
            <a:ext cx="2148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>
            <a:outerShdw sx="100000" sy="100000" kx="0" ky="0" algn="bl" rotWithShape="0" blurRad="25400" dist="12700" dir="2700000">
              <a:srgbClr val="6B7A99">
                <a:alpha val="12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group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086600" y="3090672"/>
            <a:ext cx="1261872" cy="-283464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8458200" y="2423160"/>
            <a:ext cx="2148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  <a:effectLst>
            <a:outerShdw sx="100000" sy="100000" kx="0" ky="0" algn="bl" rotWithShape="0" blurRad="25400" dist="12700" dir="2700000">
              <a:srgbClr val="6B7A99">
                <a:alpha val="12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Dispatch group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086600" y="3090672"/>
            <a:ext cx="1261872" cy="905256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8458200" y="3611880"/>
            <a:ext cx="2148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  <a:effectLst>
            <a:outerShdw sx="100000" sy="100000" kx="0" ky="0" algn="bl" rotWithShape="0" blurRad="25400" dist="12700" dir="2700000">
              <a:srgbClr val="6B7A99">
                <a:alpha val="12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 group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086600" y="3090672"/>
            <a:ext cx="1261872" cy="2093976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8458200" y="4800600"/>
            <a:ext cx="2148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  <a:effectLst>
            <a:outerShdw sx="100000" sy="100000" kx="0" ky="0" algn="bl" rotWithShape="0" blurRad="25400" dist="12700" dir="2700000">
              <a:srgbClr val="6B7A99">
                <a:alpha val="12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 group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589788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1F3A"/>
                </a:solidFill>
              </a:rPr>
              <a:t>Kafka retains events; new consumers can read historical data if retention allows.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94360" y="654710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190AB"/>
                </a:solidFill>
              </a:rPr>
              <a:t>Pub/Sub Messaging • Kafka vs Pub/Sub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A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COMPARISON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8961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Kafka vs Pub/Sub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21792" y="9875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Both move events, but the operating model is different.</a:t>
            </a:r>
            <a:endParaRPr lang="en-US" sz="1050" dirty="0"/>
          </a:p>
        </p:txBody>
      </p:sp>
      <p:pic>
        <p:nvPicPr>
          <p:cNvPr id="5" name="Image 0" descr="/mnt/data/a_clean_detailed_isometric_infographic_style_illu_batch_4.png">    </p:cNvPr>
          <p:cNvPicPr>
            <a:picLocks noChangeAspect="1"/>
          </p:cNvPicPr>
          <p:nvPr/>
        </p:nvPicPr>
        <p:blipFill>
          <a:blip r:embed="rId1"/>
          <a:srcRect l="0" r="-37323" t="8000" b="20000"/>
          <a:stretch/>
        </p:blipFill>
        <p:spPr>
          <a:xfrm>
            <a:off x="502920" y="1143000"/>
            <a:ext cx="11155680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4754880"/>
            <a:ext cx="1280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B1F3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Kafka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53949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F2A44"/>
                </a:solidFill>
              </a:rPr>
              <a:t>Self-managed or managed clusters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F2A44"/>
                </a:solidFill>
              </a:rPr>
              <a:t>Topics + partitions + brokers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F2A44"/>
                </a:solidFill>
              </a:rPr>
              <a:t>Strong stream processing ecosystem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00800" y="4754880"/>
            <a:ext cx="1417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Pub/Sub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0" y="539496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F2A44"/>
                </a:solidFill>
              </a:rPr>
              <a:t>Cloud-managed messaging service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F2A44"/>
                </a:solidFill>
              </a:rPr>
              <a:t>Topics + subscriptions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F2A44"/>
                </a:solidFill>
              </a:rPr>
              <a:t>Push/pull delivery options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94360" y="654710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190AB"/>
                </a:solidFill>
              </a:rPr>
              <a:t>Pub/Sub Messaging • Kafka vs Pub/Sub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A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DECISION MATRIX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8961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choose: Kafka or Pub/Sub?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21792" y="9875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Map the tool to the responsibility your team wants to own.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1170432"/>
            <a:ext cx="3657600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D0DE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1316736"/>
            <a:ext cx="3438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Need / Question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24528" y="1170432"/>
            <a:ext cx="374904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D0DE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34256" y="1316736"/>
            <a:ext cx="3529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Kafka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973568" y="1170432"/>
            <a:ext cx="3749040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D0DE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83296" y="1316736"/>
            <a:ext cx="3529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Pub/Sub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1828800"/>
            <a:ext cx="3657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" y="1975104"/>
            <a:ext cx="3438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0B1F3A"/>
                </a:solidFill>
              </a:rPr>
              <a:t>Team wants deep control over partitions, brokers, retention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4224528" y="1828800"/>
            <a:ext cx="3749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34256" y="1975104"/>
            <a:ext cx="3529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F2A44"/>
                </a:solidFill>
              </a:rPr>
              <a:t>Strong fit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7973568" y="1828800"/>
            <a:ext cx="3749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83296" y="1975104"/>
            <a:ext cx="3529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F2A44"/>
                </a:solidFill>
              </a:rPr>
              <a:t>Less direct control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566928" y="2487168"/>
            <a:ext cx="3657600" cy="658368"/>
          </a:xfrm>
          <a:prstGeom prst="rect">
            <a:avLst/>
          </a:prstGeom>
          <a:solidFill>
            <a:srgbClr val="F8FBFF"/>
          </a:solidFill>
          <a:ln w="12700">
            <a:solidFill>
              <a:srgbClr val="D0DE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" y="2633472"/>
            <a:ext cx="3438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0B1F3A"/>
                </a:solidFill>
              </a:rPr>
              <a:t>Google Cloud-native app integration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4224528" y="2487168"/>
            <a:ext cx="3749040" cy="658368"/>
          </a:xfrm>
          <a:prstGeom prst="rect">
            <a:avLst/>
          </a:prstGeom>
          <a:solidFill>
            <a:srgbClr val="F8FBFF"/>
          </a:solidFill>
          <a:ln w="12700">
            <a:solidFill>
              <a:srgbClr val="D0DE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34256" y="2633472"/>
            <a:ext cx="3529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F2A44"/>
                </a:solidFill>
              </a:rPr>
              <a:t>Possible with managed options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7973568" y="2487168"/>
            <a:ext cx="3749040" cy="658368"/>
          </a:xfrm>
          <a:prstGeom prst="rect">
            <a:avLst/>
          </a:prstGeom>
          <a:solidFill>
            <a:srgbClr val="F8FBFF"/>
          </a:solidFill>
          <a:ln w="12700">
            <a:solidFill>
              <a:srgbClr val="D0DE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83296" y="2633472"/>
            <a:ext cx="3529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F2A44"/>
                </a:solidFill>
              </a:rPr>
              <a:t>Strong fit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566928" y="3145536"/>
            <a:ext cx="3657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" y="3291840"/>
            <a:ext cx="3438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0B1F3A"/>
                </a:solidFill>
              </a:rPr>
              <a:t>Webhook push delivery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4224528" y="3145536"/>
            <a:ext cx="3749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34256" y="3291840"/>
            <a:ext cx="3529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F2A44"/>
                </a:solidFill>
              </a:rPr>
              <a:t>Needs extra services/connectors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7973568" y="3145536"/>
            <a:ext cx="3749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83296" y="3291840"/>
            <a:ext cx="3529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F2A44"/>
                </a:solidFill>
              </a:rPr>
              <a:t>Built-in push subscription</a:t>
            </a:r>
            <a:endParaRPr lang="en-US" sz="1060" dirty="0"/>
          </a:p>
        </p:txBody>
      </p:sp>
      <p:sp>
        <p:nvSpPr>
          <p:cNvPr id="29" name="Shape 27"/>
          <p:cNvSpPr/>
          <p:nvPr/>
        </p:nvSpPr>
        <p:spPr>
          <a:xfrm>
            <a:off x="566928" y="3803904"/>
            <a:ext cx="3657600" cy="658368"/>
          </a:xfrm>
          <a:prstGeom prst="rect">
            <a:avLst/>
          </a:prstGeom>
          <a:solidFill>
            <a:srgbClr val="F8FBFF"/>
          </a:solidFill>
          <a:ln w="12700">
            <a:solidFill>
              <a:srgbClr val="D0DE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" y="3950208"/>
            <a:ext cx="3438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0B1F3A"/>
                </a:solidFill>
              </a:rPr>
              <a:t>Simple event fanout with low ops</a:t>
            </a:r>
            <a:endParaRPr lang="en-US" sz="1060" dirty="0"/>
          </a:p>
        </p:txBody>
      </p:sp>
      <p:sp>
        <p:nvSpPr>
          <p:cNvPr id="31" name="Shape 29"/>
          <p:cNvSpPr/>
          <p:nvPr/>
        </p:nvSpPr>
        <p:spPr>
          <a:xfrm>
            <a:off x="4224528" y="3803904"/>
            <a:ext cx="3749040" cy="658368"/>
          </a:xfrm>
          <a:prstGeom prst="rect">
            <a:avLst/>
          </a:prstGeom>
          <a:solidFill>
            <a:srgbClr val="F8FBFF"/>
          </a:solidFill>
          <a:ln w="12700">
            <a:solidFill>
              <a:srgbClr val="D0DE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34256" y="3950208"/>
            <a:ext cx="3529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F2A44"/>
                </a:solidFill>
              </a:rPr>
              <a:t>More operational responsibility</a:t>
            </a:r>
            <a:endParaRPr lang="en-US" sz="1060" dirty="0"/>
          </a:p>
        </p:txBody>
      </p:sp>
      <p:sp>
        <p:nvSpPr>
          <p:cNvPr id="33" name="Shape 31"/>
          <p:cNvSpPr/>
          <p:nvPr/>
        </p:nvSpPr>
        <p:spPr>
          <a:xfrm>
            <a:off x="7973568" y="3803904"/>
            <a:ext cx="3749040" cy="658368"/>
          </a:xfrm>
          <a:prstGeom prst="rect">
            <a:avLst/>
          </a:prstGeom>
          <a:solidFill>
            <a:srgbClr val="F8FBFF"/>
          </a:solidFill>
          <a:ln w="12700">
            <a:solidFill>
              <a:srgbClr val="D0DE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83296" y="3950208"/>
            <a:ext cx="3529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F2A44"/>
                </a:solidFill>
              </a:rPr>
              <a:t>Strong fit</a:t>
            </a:r>
            <a:endParaRPr lang="en-US" sz="1060" dirty="0"/>
          </a:p>
        </p:txBody>
      </p:sp>
      <p:sp>
        <p:nvSpPr>
          <p:cNvPr id="35" name="Shape 33"/>
          <p:cNvSpPr/>
          <p:nvPr/>
        </p:nvSpPr>
        <p:spPr>
          <a:xfrm>
            <a:off x="566928" y="4462272"/>
            <a:ext cx="3657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" y="4608576"/>
            <a:ext cx="3438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0B1F3A"/>
                </a:solidFill>
              </a:rPr>
              <a:t>Stream processing ecosystem</a:t>
            </a:r>
            <a:endParaRPr lang="en-US" sz="1060" dirty="0"/>
          </a:p>
        </p:txBody>
      </p:sp>
      <p:sp>
        <p:nvSpPr>
          <p:cNvPr id="37" name="Shape 35"/>
          <p:cNvSpPr/>
          <p:nvPr/>
        </p:nvSpPr>
        <p:spPr>
          <a:xfrm>
            <a:off x="4224528" y="4462272"/>
            <a:ext cx="3749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4256" y="4608576"/>
            <a:ext cx="3529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F2A44"/>
                </a:solidFill>
              </a:rPr>
              <a:t>Very strong ecosystem</a:t>
            </a:r>
            <a:endParaRPr lang="en-US" sz="1060" dirty="0"/>
          </a:p>
        </p:txBody>
      </p:sp>
      <p:sp>
        <p:nvSpPr>
          <p:cNvPr id="39" name="Shape 37"/>
          <p:cNvSpPr/>
          <p:nvPr/>
        </p:nvSpPr>
        <p:spPr>
          <a:xfrm>
            <a:off x="7973568" y="4462272"/>
            <a:ext cx="3749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83296" y="4608576"/>
            <a:ext cx="3529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F2A44"/>
                </a:solidFill>
              </a:rPr>
              <a:t>Works with cloud data services</a:t>
            </a:r>
            <a:endParaRPr lang="en-US" sz="1060" dirty="0"/>
          </a:p>
        </p:txBody>
      </p:sp>
      <p:sp>
        <p:nvSpPr>
          <p:cNvPr id="41" name="Shape 39"/>
          <p:cNvSpPr/>
          <p:nvPr/>
        </p:nvSpPr>
        <p:spPr>
          <a:xfrm>
            <a:off x="566928" y="5120640"/>
            <a:ext cx="3657600" cy="658368"/>
          </a:xfrm>
          <a:prstGeom prst="rect">
            <a:avLst/>
          </a:prstGeom>
          <a:solidFill>
            <a:srgbClr val="F8FBFF"/>
          </a:solidFill>
          <a:ln w="12700">
            <a:solidFill>
              <a:srgbClr val="D0DE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6656" y="5266944"/>
            <a:ext cx="3438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0B1F3A"/>
                </a:solidFill>
              </a:rPr>
              <a:t>Beginner mental model</a:t>
            </a:r>
            <a:endParaRPr lang="en-US" sz="1060" dirty="0"/>
          </a:p>
        </p:txBody>
      </p:sp>
      <p:sp>
        <p:nvSpPr>
          <p:cNvPr id="43" name="Shape 41"/>
          <p:cNvSpPr/>
          <p:nvPr/>
        </p:nvSpPr>
        <p:spPr>
          <a:xfrm>
            <a:off x="4224528" y="5120640"/>
            <a:ext cx="3749040" cy="658368"/>
          </a:xfrm>
          <a:prstGeom prst="rect">
            <a:avLst/>
          </a:prstGeom>
          <a:solidFill>
            <a:srgbClr val="F8FBFF"/>
          </a:solidFill>
          <a:ln w="12700">
            <a:solidFill>
              <a:srgbClr val="D0DE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34256" y="5266944"/>
            <a:ext cx="3529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F2A44"/>
                </a:solidFill>
              </a:rPr>
              <a:t>Distributed commit log</a:t>
            </a:r>
            <a:endParaRPr lang="en-US" sz="1060" dirty="0"/>
          </a:p>
        </p:txBody>
      </p:sp>
      <p:sp>
        <p:nvSpPr>
          <p:cNvPr id="45" name="Shape 43"/>
          <p:cNvSpPr/>
          <p:nvPr/>
        </p:nvSpPr>
        <p:spPr>
          <a:xfrm>
            <a:off x="7973568" y="5120640"/>
            <a:ext cx="3749040" cy="658368"/>
          </a:xfrm>
          <a:prstGeom prst="rect">
            <a:avLst/>
          </a:prstGeom>
          <a:solidFill>
            <a:srgbClr val="F8FBFF"/>
          </a:solidFill>
          <a:ln w="12700">
            <a:solidFill>
              <a:srgbClr val="D0DE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83296" y="5266944"/>
            <a:ext cx="3529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F2A44"/>
                </a:solidFill>
              </a:rPr>
              <a:t>Managed message delivery service</a:t>
            </a:r>
            <a:endParaRPr lang="en-US" sz="1060" dirty="0"/>
          </a:p>
        </p:txBody>
      </p:sp>
      <p:sp>
        <p:nvSpPr>
          <p:cNvPr id="47" name="Text 45"/>
          <p:cNvSpPr/>
          <p:nvPr/>
        </p:nvSpPr>
        <p:spPr>
          <a:xfrm>
            <a:off x="594360" y="654710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190AB"/>
                </a:solidFill>
              </a:rPr>
              <a:t>Pub/Sub Messaging • Kafka vs Pub/Sub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A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TRAINER RECAP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8961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Interview-ready recap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21792" y="9875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The minimum vocabulary every fresher should remember.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22960" y="1298448"/>
            <a:ext cx="502920" cy="502920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  <a:effectLst>
            <a:outerShdw sx="100000" sy="100000" kx="0" ky="0" algn="bl" rotWithShape="0" blurRad="12700" dist="12700" dir="2700000">
              <a:srgbClr val="6B7A99">
                <a:alpha val="8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508760" y="1344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Pub/Sub messaging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16824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F2A44"/>
                </a:solidFill>
              </a:rPr>
              <a:t>Producer publishes once; many subscribers can receive independently.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355080" y="1298448"/>
            <a:ext cx="502920" cy="502920"/>
          </a:xfrm>
          <a:prstGeom prst="rect">
            <a:avLst/>
          </a:prstGeom>
          <a:solidFill>
            <a:srgbClr val="F59E0B"/>
          </a:solidFill>
          <a:ln>
            <a:solidFill>
              <a:srgbClr val="F59E0B">
                <a:alpha val="0"/>
              </a:srgbClr>
            </a:solidFill>
          </a:ln>
          <a:effectLst>
            <a:outerShdw sx="100000" sy="100000" kx="0" ky="0" algn="bl" rotWithShape="0" blurRad="12700" dist="12700" dir="2700000">
              <a:srgbClr val="6B7A99">
                <a:alpha val="8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040880" y="1344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Topic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040880" y="168249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F2A44"/>
                </a:solidFill>
              </a:rPr>
              <a:t>Named stream/channel for related messages.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2807208"/>
            <a:ext cx="502920" cy="502920"/>
          </a:xfrm>
          <a:prstGeom prst="rect">
            <a:avLst/>
          </a:prstGeom>
          <a:solidFill>
            <a:srgbClr val="7C3AED"/>
          </a:solidFill>
          <a:ln>
            <a:solidFill>
              <a:srgbClr val="7C3AED">
                <a:alpha val="0"/>
              </a:srgbClr>
            </a:solidFill>
          </a:ln>
          <a:effectLst>
            <a:outerShdw sx="100000" sy="100000" kx="0" ky="0" algn="bl" rotWithShape="0" blurRad="12700" dist="12700" dir="2700000">
              <a:srgbClr val="6B7A99">
                <a:alpha val="8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08760" y="28529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Subscription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19125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F2A44"/>
                </a:solidFill>
              </a:rPr>
              <a:t>Independent delivery path from a topic to a subscriber.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55080" y="2807208"/>
            <a:ext cx="502920" cy="502920"/>
          </a:xfrm>
          <a:prstGeom prst="rect">
            <a:avLst/>
          </a:prstGeom>
          <a:solidFill>
            <a:srgbClr val="10B981"/>
          </a:solidFill>
          <a:ln>
            <a:solidFill>
              <a:srgbClr val="10B981">
                <a:alpha val="0"/>
              </a:srgbClr>
            </a:solidFill>
          </a:ln>
          <a:effectLst>
            <a:outerShdw sx="100000" sy="100000" kx="0" ky="0" algn="bl" rotWithShape="0" blurRad="12700" dist="12700" dir="2700000">
              <a:srgbClr val="6B7A99">
                <a:alpha val="8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040880" y="28529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Push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040880" y="319125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F2A44"/>
                </a:solidFill>
              </a:rPr>
              <a:t>Service delivers to subscriber endpoint.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4315968"/>
            <a:ext cx="502920" cy="502920"/>
          </a:xfrm>
          <a:prstGeom prst="rect">
            <a:avLst/>
          </a:prstGeom>
          <a:solidFill>
            <a:srgbClr val="06B6D4"/>
          </a:solidFill>
          <a:ln>
            <a:solidFill>
              <a:srgbClr val="06B6D4">
                <a:alpha val="0"/>
              </a:srgbClr>
            </a:solidFill>
          </a:ln>
          <a:effectLst>
            <a:outerShdw sx="100000" sy="100000" kx="0" ky="0" algn="bl" rotWithShape="0" blurRad="12700" dist="12700" dir="2700000">
              <a:srgbClr val="6B7A99">
                <a:alpha val="8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08760" y="43616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Pull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08760" y="470001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F2A44"/>
                </a:solidFill>
              </a:rPr>
              <a:t>Subscriber asks for messages when ready.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355080" y="4315968"/>
            <a:ext cx="502920" cy="502920"/>
          </a:xfrm>
          <a:prstGeom prst="rect">
            <a:avLst/>
          </a:prstGeom>
          <a:solidFill>
            <a:srgbClr val="0B1F3A"/>
          </a:solidFill>
          <a:ln>
            <a:solidFill>
              <a:srgbClr val="0B1F3A">
                <a:alpha val="0"/>
              </a:srgbClr>
            </a:solidFill>
          </a:ln>
          <a:effectLst>
            <a:outerShdw sx="100000" sy="100000" kx="0" ky="0" algn="bl" rotWithShape="0" blurRad="12700" dist="12700" dir="2700000">
              <a:srgbClr val="6B7A99">
                <a:alpha val="8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40880" y="43616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Kafka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40880" y="470001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F2A44"/>
                </a:solidFill>
              </a:rPr>
              <a:t>Distributed event log with topics, partitions, brokers, and consumer groups.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97280" y="5833872"/>
            <a:ext cx="10012680" cy="530352"/>
          </a:xfrm>
          <a:prstGeom prst="rect">
            <a:avLst/>
          </a:prstGeom>
          <a:solidFill>
            <a:srgbClr val="DDEBFF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food-order event can trigger payment, kitchen, dispatch, notification, and analytics without direct service-to-service dependency.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94360" y="654710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190AB"/>
                </a:solidFill>
              </a:rPr>
              <a:t>Pub/Sub Messaging • Kafka vs Pub/Sub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A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REFERENCES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8961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 sources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21792" y="9875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Official sources used for presenter notes and terminology.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68680" y="1417320"/>
            <a:ext cx="384048" cy="384048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  <a:effectLst>
            <a:outerShdw sx="100000" sy="100000" kx="0" ky="0" algn="bl" rotWithShape="0" blurRad="12700" dist="12700" dir="2700000">
              <a:srgbClr val="6B7A99">
                <a:alpha val="8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17320" y="143560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Google Cloud Pub/Sub overview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596128" y="1444752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F2A44"/>
                </a:solidFill>
              </a:rPr>
              <a:t>Publishers and subscribers communicate asynchronously through events.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384048" cy="384048"/>
          </a:xfrm>
          <a:prstGeom prst="rect">
            <a:avLst/>
          </a:prstGeom>
          <a:solidFill>
            <a:srgbClr val="10B981"/>
          </a:solidFill>
          <a:ln>
            <a:solidFill>
              <a:srgbClr val="10B981">
                <a:alpha val="0"/>
              </a:srgbClr>
            </a:solidFill>
          </a:ln>
          <a:effectLst>
            <a:outerShdw sx="100000" sy="100000" kx="0" ky="0" algn="bl" rotWithShape="0" blurRad="12700" dist="12700" dir="2700000">
              <a:srgbClr val="6B7A99">
                <a:alpha val="8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17320" y="22128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Google Cloud Pub/Sub push subscriptions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596128" y="2221992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F2A44"/>
                </a:solidFill>
              </a:rPr>
              <a:t>Push delivery initiates requests to subscriber application endpoints.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2971800"/>
            <a:ext cx="384048" cy="384048"/>
          </a:xfrm>
          <a:prstGeom prst="rect">
            <a:avLst/>
          </a:prstGeom>
          <a:solidFill>
            <a:srgbClr val="F59E0B"/>
          </a:solidFill>
          <a:ln>
            <a:solidFill>
              <a:srgbClr val="F59E0B">
                <a:alpha val="0"/>
              </a:srgbClr>
            </a:solidFill>
          </a:ln>
          <a:effectLst>
            <a:outerShdw sx="100000" sy="100000" kx="0" ky="0" algn="bl" rotWithShape="0" blurRad="12700" dist="12700" dir="2700000">
              <a:srgbClr val="6B7A99">
                <a:alpha val="8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17320" y="299008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Google Cloud Pub/Sub pull subscriptions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96128" y="2999232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F2A44"/>
                </a:solidFill>
              </a:rPr>
              <a:t>Pull delivery lets subscriber clients request messages from Pub/Sub.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68680" y="3749040"/>
            <a:ext cx="384048" cy="384048"/>
          </a:xfrm>
          <a:prstGeom prst="rect">
            <a:avLst/>
          </a:prstGeom>
          <a:solidFill>
            <a:srgbClr val="7C3AED"/>
          </a:solidFill>
          <a:ln>
            <a:solidFill>
              <a:srgbClr val="7C3AED">
                <a:alpha val="0"/>
              </a:srgbClr>
            </a:solidFill>
          </a:ln>
          <a:effectLst>
            <a:outerShdw sx="100000" sy="100000" kx="0" ky="0" algn="bl" rotWithShape="0" blurRad="12700" dist="12700" dir="2700000">
              <a:srgbClr val="6B7A99">
                <a:alpha val="8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17320" y="376732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Apache Kafka documentation and quickstart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596128" y="3776472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F2A44"/>
                </a:solidFill>
              </a:rPr>
              <a:t>Kafka reads, writes, stores, and processes events; topics are partitioned.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68680" y="4526280"/>
            <a:ext cx="384048" cy="384048"/>
          </a:xfrm>
          <a:prstGeom prst="rect">
            <a:avLst/>
          </a:prstGeom>
          <a:solidFill>
            <a:srgbClr val="0B1F3A"/>
          </a:solidFill>
          <a:ln>
            <a:solidFill>
              <a:srgbClr val="0B1F3A">
                <a:alpha val="0"/>
              </a:srgbClr>
            </a:solidFill>
          </a:ln>
          <a:effectLst>
            <a:outerShdw sx="100000" sy="100000" kx="0" ky="0" algn="bl" rotWithShape="0" blurRad="12700" dist="12700" dir="2700000">
              <a:srgbClr val="6B7A99">
                <a:alpha val="8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17320" y="454456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Apache Kafka KRaft and design documentation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96128" y="4553712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F2A44"/>
                </a:solidFill>
              </a:rPr>
              <a:t>Broker/controller roles, partitions, offsets, and consumer groups.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14400" y="58521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67085"/>
                </a:solidFill>
              </a:rPr>
              <a:t>Deck designed for fresher-level explanation using the food delivery event-stream scenario.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94360" y="654710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190AB"/>
                </a:solidFill>
              </a:rPr>
              <a:t>Pub/Sub Messaging • Kafka vs Pub/Sub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AA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Pub/Sub Messaging and Kafka vs Pub/Sub</dc:title>
  <dc:subject>Pub/Sub Messaging, Pub/Sub Topics &amp; Subscriptions, Push vs Pull, Kafka vs Pub/Sub</dc:subject>
  <dc:creator>OpenAI</dc:creator>
  <cp:lastModifiedBy>OpenAI</cp:lastModifiedBy>
  <cp:revision>1</cp:revision>
  <dcterms:created xsi:type="dcterms:W3CDTF">2026-07-28T20:38:43Z</dcterms:created>
  <dcterms:modified xsi:type="dcterms:W3CDTF">2026-07-28T20:38:43Z</dcterms:modified>
</cp:coreProperties>
</file>