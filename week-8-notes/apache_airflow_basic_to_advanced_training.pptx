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9499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opening slide to position Airflow as workflow orchestration, not only scheduling. The complete deck uses one food-delivery analytics pipeline and keeps extending it: first manual scripts, then cron, then Airflow DAG, operators, scheduler, monitoring, incremental loads, sensors, backfills, scaling, and best practices.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expectations. The deck starts with the problem: scripts are easy at first but hard to operate at scale. Then it introduces Airflow as a way to author workflows as Python code. The same food delivery analytics use case grows step by step so learners can connect every component to one practical pipeline.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Airflow documentation describes Airflow as a platform to build and run workflows. A workflow is represented as a Dag containing tasks with dependencies. Emphasize that Airflow does not replace Spark, SQL, dbt, Python, APIs, or warehouses. It coordinates those tools, gives visibility, retries, scheduling, and operational control.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connect Airflow with a problem learners already understand. Cron can start a command at 1 AM, but it does not naturally understand that “transform should run only after extract and quality checks are successful”. Shell scripts can chain commands, but failures, retries, logs, reprocessing, and visibility become difficult as the pipeline grows.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Airflow exists. A cron job is not bad for one simple job. The problem appears with 20, 50, or 500 jobs across teams. Data pipelines need dependency management, retries, auditability, historical reruns, logs, ownership, notifications, and predictable operations.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Airflow overcomes the traditional drawbacks by making the workflow declarative and observable. The DAG file becomes the single place where schedule, task definitions, dependencies, retries, owners, and operational settings are visible. Airflow also gives task-level state, so the team can see exactly where a run failed and recover with precision.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running scenario. Every concept in the deck maps back to this pipeline. The company wants a daily business report. Raw data comes from an orders API, payment database, rider CSV files, and restaurant master data. The pipeline produces bronze, silver, and gold data, then refreshes the dashboard and sends a notification.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baseline learners can understand. A developer chains scripts using shell commands. This is acceptable for a proof of concept. The drawback is not code execution; the drawback is reliable operation. If validation fails, the team needs to know what failed, whether extraction should be rerun, and whether load already happened.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DAG is the main Airflow object. It contains the pipeline schedule, tasks, task dependencies, and operational settings. Directed means there is a clear direction of execution. Acyclic means the workflow cannot loop back forever. Airflow uses the DAG to understand what should run first and what should wait.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common DAG attributes through the food-delivery pipeline. The dag_id is the identity visible in the UI. The schedule tells Airflow when to create DAG runs. The start date and catchup settings define how historical intervals are handled. Default arguments reduce repetition by applying common retries, owner, and timeout settings to tasks.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are where execution becomes observable. The DAG is the plan; tasks are the steps. A task instance is a specific execution of a task for a specific data interval or DAG run. This distinction matters when learners view the Airflow grid, where the same task appears across many daily runs.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operator is a reusable template for work. When you define an operator inside a DAG with a task_id, you create a task. For freshers, use a recipe analogy: the operator is the recipe type; the task is the specific dish being prepared today. In the food-delivery pipeline, extraction could be Python, warehouse loading could be SQL, and alerting could be Email or Slack provider operator.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Airflow scheduler monitors tasks and DAGs and triggers task instances when dependencies are complete. It is a persistent service in production. It checks the DAG schedule, dependency state, retries, and resource limits before handing ready work to the executor. Explain that the scheduler is not the task worker; it decides and queues.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main architecture diagram. DAG files are Python workflow definitions. The DAG processor parses them. The metadata database stores DAG runs, task instances, states, users, variables, connections, and history. The scheduler makes decisions. The executor and workers run tasks. The UI/API server gives monitoring and manual operations. The triggerer is important for deferrable tasks that wait without occupying a worker slot.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prepares learners for troubleshooting. In Airflow, the unit of historical tracking is a DAG run, and the unit of task execution is a task instance. When a task finishes, Airflow updates metadata. The scheduler uses that metadata to decide whether downstream tasks can run.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implementation step is extraction. This should be small and repeatable. In production, this could call a REST API, read a database, or copy files from object storage. In training, it can simply generate or read a sample CSV. Teach idempotency here: rerunning the task for the same date should produce the same result or safely overwrite a partition.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checks are a common industry activity in Airflow pipelines. The validation task should run before transformations. If validation fails, downstream transformation and loading should not run. This makes data issues visible early and protects reporting tables from incorrect data. Tools can be Python, SQL, Great Expectations, Soda, Deequ, or warehouse-native checks.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Airflow should orchestrate the right engine. Small demo transformations can be Python functions. In real data engineering, transformations may run in Spark, Databricks, Snowflake, BigQuery, PostgreSQL, or dbt. Reinforce the division of responsibility: Airflow coordinates; compute engines process the data.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completes the business flow. In real projects, the technical pipeline is not considered complete until consumers can use the data. Loading the final table, refreshing reports, sending notifications, and writing audit records are all common Airflow tasks.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control flow. The simplest dependency is a straight chain. Real pipelines also fan out to parallel tasks, fan in before final loads, or branch based on conditions. For the food-delivery pipeline, if data quality fails, the correct behavior may be quarantine and alert, not transform and load.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Scheduling is a common confusion point. Explain that Airflow schedules for data intervals. A daily pipeline generally runs after the day ends so the data for that day is complete. Manual runs are useful for testing. Catchup and backfill are important when building historical data or rerunning a range after fixing a bug.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prevent a common anti-pattern: pushing large datasets through Airflow. Airflow metadata DB is not a data lake. Use XCom for small metadata such as file path, row count, or status. Use connections and secrets backends instead of hardcoding credentials inside DAG code.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Sensors are useful when a pipeline should start or continue only after external data arrives. In older scripts, waiting is often implemented as sleep loops. Airflow sensors make waiting visible. Deferrable sensors improve resource usage by handing the wait to the triggerer instead of occupying a worker slot.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is one of Airflow’s biggest practical benefits. A failed validation task should not force the team to manually rerun the full pipeline. Instead, fix the issue, clear or rerun the failed task, and continue safely. Emphasize idempotency: recovery is only safe when tasks can rerun without duplicate outputs.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task mapping is an advanced feature where the number of task instances is not known at DAG parse time. For example, today 80 restaurant partner files may arrive; tomorrow only 75 arrive. The upstream task can list files, and Airflow can dynamically create one mapped validation task per file. This keeps code flexible while preserving task-level visibility.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production, Airflow is part of a larger platform. Executors and workers determine how tasks run. Pools protect downstream systems from overload. Parallelism and concurrency settings control throughput. Multiple schedulers can improve resiliency and scheduling throughput, but the metadata database becomes critical infrastructure.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examples beyond one food delivery pipeline. Airflow is commonly used for daily ELT, data quality, warehouse maintenance, ML workflows, compliance jobs, and cross-system automation. It is best for finite workflows with clear dependencies, not for processing every streaming event directly.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practical setup direction. Airflow’s official quick start notes that Windows users should use WSL2. For beginner training, standalone mode is useful because it initializes the database, creates an admin user/password, and starts components in one command. For Docker-based exploration, the official Docker Compose guide is available, but it is not a production recipe.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is intentionally minimal. Explain only the essential concepts. The with DAG block defines the workflow. Each @task function becomes a task. Calling validate_orders(extract_orders()) creates a dependency because validate_orders needs the output metadata from extract_orders. The example passes small metadata, not dataframes. Heavy data processing should happen outside the Airflow metadata database.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a live demo, avoid only showing code. Show the DAG in the UI. Trigger it manually. Open graph view to connect the code dependencies to the visual flow. Open grid view to show run history. Then open task logs to show how troubleshooting happens task by task.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implementation section by emphasizing operating discipline. The best DAG is not the cleverest DAG. It is predictable, readable, observable, and safe to rerun. This is especially important for freshers because they may focus only on making the code run once instead of making it reliable every day.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recap. Airflow is not simply a scheduler and not simply a UI. It is a workflow orchestration platform. The most important mental model is: DAG defines the plan, scheduler decides readiness, executor/workers run tasks, metadata DB records state, UI helps teams monitor and recover.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reference slide for learners who want to verify or continue studying. The deck follows Apache Airflow 3.x documentation concepts, while simplifying implementation examples for classroom teaching.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827"/>
        </a:solidFill>
        <a:effectLst/>
      </p:bgPr>
    </p:bg>
    <p:spTree>
      <p:nvGrpSpPr>
        <p:cNvPr id="1" name=""/>
        <p:cNvGrpSpPr/>
        <p:nvPr/>
      </p:nvGrpSpPr>
      <p:grpSpPr>
        <a:xfrm>
          <a:off x="0" y="0"/>
          <a:ext cx="0" cy="0"/>
          <a:chOff x="0" y="0"/>
          <a:chExt cx="0" cy="0"/>
        </a:xfrm>
      </p:grpSpPr>
      <p:sp>
        <p:nvSpPr>
          <p:cNvPr id="3" name="Shape 1"/>
          <p:cNvSpPr/>
          <p:nvPr/>
        </p:nvSpPr>
        <p:spPr>
          <a:xfrm>
            <a:off x="0" y="0"/>
            <a:ext cx="256032" cy="6858000"/>
          </a:xfrm>
          <a:prstGeom prst="rect">
            <a:avLst/>
          </a:prstGeom>
          <a:solidFill>
            <a:srgbClr val="38D9FF"/>
          </a:solidFill>
          <a:ln w="12700">
            <a:solidFill>
              <a:srgbClr val="38D9FF">
                <a:alpha val="0"/>
              </a:srgbClr>
            </a:solidFill>
            <a:prstDash val="solid"/>
          </a:ln>
        </p:spPr>
      </p:sp>
      <p:sp>
        <p:nvSpPr>
          <p:cNvPr id="4" name="Shape 2"/>
          <p:cNvSpPr/>
          <p:nvPr/>
        </p:nvSpPr>
        <p:spPr>
          <a:xfrm>
            <a:off x="256032" y="0"/>
            <a:ext cx="109728" cy="6858000"/>
          </a:xfrm>
          <a:prstGeom prst="rect">
            <a:avLst/>
          </a:prstGeom>
          <a:solidFill>
            <a:srgbClr val="46E6A9"/>
          </a:solidFill>
          <a:ln w="12700">
            <a:solidFill>
              <a:srgbClr val="46E6A9">
                <a:alpha val="0"/>
              </a:srgbClr>
            </a:solidFill>
            <a:prstDash val="solid"/>
          </a:ln>
        </p:spPr>
      </p:sp>
      <p:sp>
        <p:nvSpPr>
          <p:cNvPr id="5" name="Text 3"/>
          <p:cNvSpPr/>
          <p:nvPr/>
        </p:nvSpPr>
        <p:spPr>
          <a:xfrm>
            <a:off x="9875520" y="640080"/>
            <a:ext cx="1280160" cy="914400"/>
          </a:xfrm>
          <a:prstGeom prst="rect">
            <a:avLst/>
          </a:prstGeom>
          <a:noFill/>
          <a:ln/>
        </p:spPr>
        <p:txBody>
          <a:bodyPr wrap="square" lIns="0" tIns="0" rIns="0" bIns="0" rtlCol="0" anchor="ctr"/>
          <a:lstStyle/>
          <a:p>
            <a:pPr marL="0" indent="0" algn="ctr">
              <a:buNone/>
            </a:pPr>
            <a:r>
              <a:rPr lang="en-US" sz="5400" dirty="0">
                <a:solidFill>
                  <a:srgbClr val="38D9FF"/>
                </a:solidFill>
                <a:latin typeface="Aptos Display" pitchFamily="34" charset="0"/>
                <a:ea typeface="Aptos Display" pitchFamily="34" charset="-122"/>
                <a:cs typeface="Aptos Display" pitchFamily="34" charset="-120"/>
              </a:rPr>
              <a:t>✦</a:t>
            </a:r>
            <a:endParaRPr lang="en-US" sz="5400" dirty="0"/>
          </a:p>
        </p:txBody>
      </p:sp>
      <p:sp>
        <p:nvSpPr>
          <p:cNvPr id="6" name="Text 4"/>
          <p:cNvSpPr/>
          <p:nvPr/>
        </p:nvSpPr>
        <p:spPr>
          <a:xfrm>
            <a:off x="9052560" y="4480560"/>
            <a:ext cx="914400" cy="731520"/>
          </a:xfrm>
          <a:prstGeom prst="rect">
            <a:avLst/>
          </a:prstGeom>
          <a:noFill/>
          <a:ln/>
        </p:spPr>
        <p:txBody>
          <a:bodyPr wrap="square" lIns="0" tIns="0" rIns="0" bIns="0" rtlCol="0" anchor="ctr"/>
          <a:lstStyle/>
          <a:p>
            <a:pPr marL="0" indent="0" algn="ctr">
              <a:buNone/>
            </a:pPr>
            <a:r>
              <a:rPr lang="en-US" sz="3800" dirty="0">
                <a:solidFill>
                  <a:srgbClr val="FFD166"/>
                </a:solidFill>
                <a:latin typeface="Aptos Display" pitchFamily="34" charset="0"/>
                <a:ea typeface="Aptos Display" pitchFamily="34" charset="-122"/>
                <a:cs typeface="Aptos Display" pitchFamily="34" charset="-120"/>
              </a:rPr>
              <a:t>⚙</a:t>
            </a:r>
            <a:endParaRPr lang="en-US" sz="3800" dirty="0"/>
          </a:p>
        </p:txBody>
      </p:sp>
      <p:sp>
        <p:nvSpPr>
          <p:cNvPr id="7" name="Text 5"/>
          <p:cNvSpPr/>
          <p:nvPr/>
        </p:nvSpPr>
        <p:spPr>
          <a:xfrm>
            <a:off x="10241280" y="5074920"/>
            <a:ext cx="914400" cy="731520"/>
          </a:xfrm>
          <a:prstGeom prst="rect">
            <a:avLst/>
          </a:prstGeom>
          <a:noFill/>
          <a:ln/>
        </p:spPr>
        <p:txBody>
          <a:bodyPr wrap="square" lIns="0" tIns="0" rIns="0" bIns="0" rtlCol="0" anchor="ctr"/>
          <a:lstStyle/>
          <a:p>
            <a:pPr marL="0" indent="0" algn="ctr">
              <a:buNone/>
            </a:pPr>
            <a:r>
              <a:rPr lang="en-US" sz="4400" dirty="0">
                <a:solidFill>
                  <a:srgbClr val="46E6A9"/>
                </a:solidFill>
                <a:latin typeface="Aptos Display" pitchFamily="34" charset="0"/>
                <a:ea typeface="Aptos Display" pitchFamily="34" charset="-122"/>
                <a:cs typeface="Aptos Display" pitchFamily="34" charset="-120"/>
              </a:rPr>
              <a:t>↗</a:t>
            </a:r>
            <a:endParaRPr lang="en-US" sz="4400" dirty="0"/>
          </a:p>
        </p:txBody>
      </p:sp>
      <p:sp>
        <p:nvSpPr>
          <p:cNvPr id="8" name="Text 6"/>
          <p:cNvSpPr/>
          <p:nvPr/>
        </p:nvSpPr>
        <p:spPr>
          <a:xfrm>
            <a:off x="658368" y="1051560"/>
            <a:ext cx="8046720" cy="1417320"/>
          </a:xfrm>
          <a:prstGeom prst="rect">
            <a:avLst/>
          </a:prstGeom>
          <a:noFill/>
          <a:ln/>
        </p:spPr>
        <p:txBody>
          <a:bodyPr wrap="square" lIns="254" tIns="254" rIns="254" bIns="254" rtlCol="0" anchor="ctr">
            <a:normAutofit/>
          </a:bodyPr>
          <a:lstStyle/>
          <a:p>
            <a:pPr marL="0" indent="0">
              <a:buNone/>
            </a:pPr>
            <a:r>
              <a:rPr lang="en-US" sz="4600" b="1" dirty="0">
                <a:solidFill>
                  <a:srgbClr val="F8FAFC"/>
                </a:solidFill>
                <a:latin typeface="Aptos Display" pitchFamily="34" charset="0"/>
                <a:ea typeface="Aptos Display" pitchFamily="34" charset="-122"/>
                <a:cs typeface="Aptos Display" pitchFamily="34" charset="-120"/>
              </a:rPr>
              <a:t>Apache Airflow</a:t>
            </a:r>
            <a:endParaRPr lang="en-US" sz="4600" dirty="0"/>
          </a:p>
        </p:txBody>
      </p:sp>
      <p:sp>
        <p:nvSpPr>
          <p:cNvPr id="9" name="Text 7"/>
          <p:cNvSpPr/>
          <p:nvPr/>
        </p:nvSpPr>
        <p:spPr>
          <a:xfrm>
            <a:off x="713232" y="2761488"/>
            <a:ext cx="7498080" cy="502920"/>
          </a:xfrm>
          <a:prstGeom prst="rect">
            <a:avLst/>
          </a:prstGeom>
          <a:noFill/>
          <a:ln/>
        </p:spPr>
        <p:txBody>
          <a:bodyPr wrap="square" lIns="0" tIns="0" rIns="0" bIns="0" rtlCol="0" anchor="ctr"/>
          <a:lstStyle/>
          <a:p>
            <a:pPr marL="0" indent="0">
              <a:buNone/>
            </a:pPr>
            <a:r>
              <a:rPr lang="en-US" sz="1900" b="1" dirty="0">
                <a:solidFill>
                  <a:srgbClr val="38D9FF"/>
                </a:solidFill>
                <a:latin typeface="Aptos" pitchFamily="34" charset="0"/>
                <a:ea typeface="Aptos" pitchFamily="34" charset="-122"/>
                <a:cs typeface="Aptos" pitchFamily="34" charset="-120"/>
              </a:rPr>
              <a:t>Workflow orchestration from basics to production</a:t>
            </a:r>
            <a:endParaRPr lang="en-US" sz="1900" dirty="0"/>
          </a:p>
        </p:txBody>
      </p:sp>
      <p:sp>
        <p:nvSpPr>
          <p:cNvPr id="11" name="Text 9"/>
          <p:cNvSpPr/>
          <p:nvPr/>
        </p:nvSpPr>
        <p:spPr>
          <a:xfrm>
            <a:off x="713232" y="5943600"/>
            <a:ext cx="9509760" cy="301752"/>
          </a:xfrm>
          <a:prstGeom prst="rect">
            <a:avLst/>
          </a:prstGeom>
          <a:noFill/>
          <a:ln/>
        </p:spPr>
        <p:txBody>
          <a:bodyPr wrap="square" lIns="0" tIns="0" rIns="0" bIns="0" rtlCol="0" anchor="ctr"/>
          <a:lstStyle/>
          <a:p>
            <a:pPr marL="0" indent="0">
              <a:buNone/>
            </a:pPr>
            <a:r>
              <a:rPr lang="en-US" sz="1300" dirty="0">
                <a:solidFill>
                  <a:srgbClr val="FFD166"/>
                </a:solidFill>
                <a:latin typeface="Aptos" pitchFamily="34" charset="0"/>
                <a:ea typeface="Aptos" pitchFamily="34" charset="-122"/>
                <a:cs typeface="Aptos" pitchFamily="34" charset="-120"/>
              </a:rPr>
              <a:t>Real-world incremental use case: Food delivery daily analytics pipeline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Roadmap</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Learning roadmap</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From “why Airflow?” to production-ready pipeline thinking</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31520" y="2148840"/>
            <a:ext cx="1792224" cy="1143000"/>
          </a:xfrm>
          <a:prstGeom prst="roundRect">
            <a:avLst>
              <a:gd name="adj" fmla="val 6400"/>
            </a:avLst>
          </a:prstGeom>
          <a:solidFill>
            <a:srgbClr val="FF6B6B"/>
          </a:solidFill>
          <a:ln w="12700">
            <a:solidFill>
              <a:srgbClr val="FF6B6B">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Problem</a:t>
            </a:r>
            <a:endParaRPr lang="en-US" sz="1250" dirty="0"/>
          </a:p>
          <a:p>
            <a:pPr marL="0" indent="0" algn="ctr">
              <a:buNone/>
            </a:pPr>
            <a:r>
              <a:rPr lang="en-US" sz="1250" b="1" dirty="0">
                <a:solidFill>
                  <a:srgbClr val="F8FAFC"/>
                </a:solidFill>
              </a:rPr>
              <a:t>manual + cron</a:t>
            </a:r>
            <a:endParaRPr lang="en-US" sz="1250" dirty="0"/>
          </a:p>
        </p:txBody>
      </p:sp>
      <p:sp>
        <p:nvSpPr>
          <p:cNvPr id="11" name="Text 9"/>
          <p:cNvSpPr/>
          <p:nvPr/>
        </p:nvSpPr>
        <p:spPr>
          <a:xfrm>
            <a:off x="2624328" y="25831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80944" y="2148840"/>
            <a:ext cx="1792224" cy="1143000"/>
          </a:xfrm>
          <a:prstGeom prst="roundRect">
            <a:avLst>
              <a:gd name="adj" fmla="val 6400"/>
            </a:avLst>
          </a:prstGeom>
          <a:solidFill>
            <a:srgbClr val="00A9E0"/>
          </a:solidFill>
          <a:ln w="12700">
            <a:solidFill>
              <a:srgbClr val="00A9E0">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Airflow idea</a:t>
            </a:r>
            <a:endParaRPr lang="en-US" sz="1250" dirty="0"/>
          </a:p>
          <a:p>
            <a:pPr marL="0" indent="0" algn="ctr">
              <a:buNone/>
            </a:pPr>
            <a:r>
              <a:rPr lang="en-US" sz="1250" b="1" dirty="0">
                <a:solidFill>
                  <a:srgbClr val="F8FAFC"/>
                </a:solidFill>
              </a:rPr>
              <a:t>workflows as code</a:t>
            </a:r>
            <a:endParaRPr lang="en-US" sz="1250" dirty="0"/>
          </a:p>
        </p:txBody>
      </p:sp>
      <p:sp>
        <p:nvSpPr>
          <p:cNvPr id="13" name="Text 11"/>
          <p:cNvSpPr/>
          <p:nvPr/>
        </p:nvSpPr>
        <p:spPr>
          <a:xfrm>
            <a:off x="4873752" y="25831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230368" y="2148840"/>
            <a:ext cx="1792224" cy="1143000"/>
          </a:xfrm>
          <a:prstGeom prst="roundRect">
            <a:avLst>
              <a:gd name="adj" fmla="val 6400"/>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Core parts</a:t>
            </a:r>
            <a:endParaRPr lang="en-US" sz="1250" dirty="0"/>
          </a:p>
          <a:p>
            <a:pPr marL="0" indent="0" algn="ctr">
              <a:buNone/>
            </a:pPr>
            <a:r>
              <a:rPr lang="en-US" sz="1250" b="1" dirty="0">
                <a:solidFill>
                  <a:srgbClr val="F8FAFC"/>
                </a:solidFill>
              </a:rPr>
              <a:t>DAG • Task • Operator • Scheduler</a:t>
            </a:r>
            <a:endParaRPr lang="en-US" sz="1250" dirty="0"/>
          </a:p>
        </p:txBody>
      </p:sp>
      <p:sp>
        <p:nvSpPr>
          <p:cNvPr id="15" name="Text 13"/>
          <p:cNvSpPr/>
          <p:nvPr/>
        </p:nvSpPr>
        <p:spPr>
          <a:xfrm>
            <a:off x="7123176" y="25831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479792" y="2148840"/>
            <a:ext cx="1792224" cy="1143000"/>
          </a:xfrm>
          <a:prstGeom prst="roundRect">
            <a:avLst>
              <a:gd name="adj" fmla="val 6400"/>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Food pipeline</a:t>
            </a:r>
            <a:endParaRPr lang="en-US" sz="1250" dirty="0"/>
          </a:p>
          <a:p>
            <a:pPr marL="0" indent="0" algn="ctr">
              <a:buNone/>
            </a:pPr>
            <a:r>
              <a:rPr lang="en-US" sz="1250" b="1" dirty="0">
                <a:solidFill>
                  <a:srgbClr val="F8FAFC"/>
                </a:solidFill>
              </a:rPr>
              <a:t>incremental build</a:t>
            </a:r>
            <a:endParaRPr lang="en-US" sz="1250" dirty="0"/>
          </a:p>
        </p:txBody>
      </p:sp>
      <p:sp>
        <p:nvSpPr>
          <p:cNvPr id="17" name="Text 15"/>
          <p:cNvSpPr/>
          <p:nvPr/>
        </p:nvSpPr>
        <p:spPr>
          <a:xfrm>
            <a:off x="9372600" y="25831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729216" y="2148840"/>
            <a:ext cx="1792224" cy="1143000"/>
          </a:xfrm>
          <a:prstGeom prst="roundRect">
            <a:avLst>
              <a:gd name="adj" fmla="val 6400"/>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Production</a:t>
            </a:r>
            <a:endParaRPr lang="en-US" sz="1250" dirty="0"/>
          </a:p>
          <a:p>
            <a:pPr marL="0" indent="0" algn="ctr">
              <a:buNone/>
            </a:pPr>
            <a:r>
              <a:rPr lang="en-US" sz="1250" b="1" dirty="0">
                <a:solidFill>
                  <a:srgbClr val="F8FAFC"/>
                </a:solidFill>
              </a:rPr>
              <a:t>patterns + best practices</a:t>
            </a:r>
            <a:endParaRPr lang="en-US" sz="1250" dirty="0"/>
          </a:p>
        </p:txBody>
      </p:sp>
      <p:sp>
        <p:nvSpPr>
          <p:cNvPr id="19" name="Text 17"/>
          <p:cNvSpPr/>
          <p:nvPr/>
        </p:nvSpPr>
        <p:spPr>
          <a:xfrm>
            <a:off x="868680" y="3977640"/>
            <a:ext cx="2482596" cy="1417320"/>
          </a:xfrm>
          <a:prstGeom prst="roundRect">
            <a:avLst>
              <a:gd name="adj" fmla="val 516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Basic: terminology and mental model</a:t>
            </a:r>
            <a:endParaRPr lang="en-US" sz="1300" dirty="0"/>
          </a:p>
        </p:txBody>
      </p:sp>
      <p:sp>
        <p:nvSpPr>
          <p:cNvPr id="20" name="Text 18"/>
          <p:cNvSpPr/>
          <p:nvPr/>
        </p:nvSpPr>
        <p:spPr>
          <a:xfrm>
            <a:off x="3515868" y="3977640"/>
            <a:ext cx="2482596" cy="1417320"/>
          </a:xfrm>
          <a:prstGeom prst="roundRect">
            <a:avLst>
              <a:gd name="adj" fmla="val 516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Intermediate: DAG authoring and scheduling</a:t>
            </a:r>
            <a:endParaRPr lang="en-US" sz="1300" dirty="0"/>
          </a:p>
        </p:txBody>
      </p:sp>
      <p:sp>
        <p:nvSpPr>
          <p:cNvPr id="21" name="Text 19"/>
          <p:cNvSpPr/>
          <p:nvPr/>
        </p:nvSpPr>
        <p:spPr>
          <a:xfrm>
            <a:off x="6163056" y="3977640"/>
            <a:ext cx="2482596" cy="1417320"/>
          </a:xfrm>
          <a:prstGeom prst="roundRect">
            <a:avLst>
              <a:gd name="adj" fmla="val 516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Advanced: sensors, backfills, dynamic mapping</a:t>
            </a:r>
            <a:endParaRPr lang="en-US" sz="1300" dirty="0"/>
          </a:p>
        </p:txBody>
      </p:sp>
      <p:sp>
        <p:nvSpPr>
          <p:cNvPr id="22" name="Text 20"/>
          <p:cNvSpPr/>
          <p:nvPr/>
        </p:nvSpPr>
        <p:spPr>
          <a:xfrm>
            <a:off x="8810244" y="3977640"/>
            <a:ext cx="2482596" cy="1417320"/>
          </a:xfrm>
          <a:prstGeom prst="roundRect">
            <a:avLst>
              <a:gd name="adj" fmla="val 516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Industry: monitoring, retries, pools, deployments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Introduction</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What is Apache Airflow?</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A platform for building, scheduling, running, and monitoring workflows</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31520" y="1554480"/>
            <a:ext cx="3200400" cy="914400"/>
          </a:xfrm>
          <a:prstGeom prst="roundRect">
            <a:avLst>
              <a:gd name="adj" fmla="val 8000"/>
            </a:avLst>
          </a:prstGeom>
          <a:solidFill>
            <a:srgbClr val="38D9FF"/>
          </a:solidFill>
          <a:ln w="12700">
            <a:solidFill>
              <a:srgbClr val="38D9FF">
                <a:alpha val="0"/>
              </a:srgbClr>
            </a:solidFill>
          </a:ln>
        </p:spPr>
        <p:txBody>
          <a:bodyPr wrap="square" lIns="1016" tIns="1016" rIns="1016" bIns="1016" rtlCol="0" anchor="ctr">
            <a:normAutofit/>
          </a:bodyPr>
          <a:lstStyle/>
          <a:p>
            <a:pPr marL="0" indent="0" algn="ctr">
              <a:buNone/>
            </a:pPr>
            <a:r>
              <a:rPr lang="en-US" sz="2000" b="1" dirty="0">
                <a:solidFill>
                  <a:srgbClr val="071827"/>
                </a:solidFill>
              </a:rPr>
              <a:t>Airflow = Workflow Orchestrator</a:t>
            </a:r>
            <a:endParaRPr lang="en-US" sz="2000" dirty="0"/>
          </a:p>
        </p:txBody>
      </p:sp>
      <p:sp>
        <p:nvSpPr>
          <p:cNvPr id="11" name="Text 9"/>
          <p:cNvSpPr/>
          <p:nvPr/>
        </p:nvSpPr>
        <p:spPr>
          <a:xfrm>
            <a:off x="777240" y="2651760"/>
            <a:ext cx="3657600" cy="914400"/>
          </a:xfrm>
          <a:prstGeom prst="rect">
            <a:avLst/>
          </a:prstGeom>
          <a:noFill/>
          <a:ln/>
        </p:spPr>
        <p:txBody>
          <a:bodyPr wrap="square" lIns="381" tIns="381" rIns="381" bIns="381" rtlCol="0" anchor="t">
            <a:normAutofit/>
          </a:bodyPr>
          <a:lstStyle/>
          <a:p>
            <a:pPr marL="0" indent="0" algn="l">
              <a:buNone/>
            </a:pPr>
            <a:r>
              <a:rPr lang="en-US" sz="1500" b="1" dirty="0">
                <a:solidFill>
                  <a:srgbClr val="F8FAFC"/>
                </a:solidFill>
                <a:latin typeface="Aptos" pitchFamily="34" charset="0"/>
                <a:ea typeface="Aptos" pitchFamily="34" charset="-122"/>
                <a:cs typeface="Aptos" pitchFamily="34" charset="-120"/>
              </a:rPr>
              <a:t>It coordinates many steps in the right order, at the right time, with visibility and recovery.</a:t>
            </a:r>
            <a:endParaRPr lang="en-US" sz="1500" dirty="0"/>
          </a:p>
        </p:txBody>
      </p:sp>
      <p:sp>
        <p:nvSpPr>
          <p:cNvPr id="12" name="Text 10"/>
          <p:cNvSpPr/>
          <p:nvPr/>
        </p:nvSpPr>
        <p:spPr>
          <a:xfrm>
            <a:off x="4617720" y="1572768"/>
            <a:ext cx="969264" cy="960120"/>
          </a:xfrm>
          <a:prstGeom prst="roundRect">
            <a:avLst>
              <a:gd name="adj" fmla="val 761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Define</a:t>
            </a:r>
            <a:endParaRPr lang="en-US" sz="1250" dirty="0"/>
          </a:p>
          <a:p>
            <a:pPr marL="0" indent="0" algn="ctr">
              <a:buNone/>
            </a:pPr>
            <a:r>
              <a:rPr lang="en-US" sz="1250" b="1" dirty="0">
                <a:solidFill>
                  <a:srgbClr val="F8FAFC"/>
                </a:solidFill>
              </a:rPr>
              <a:t>in Python</a:t>
            </a:r>
            <a:endParaRPr lang="en-US" sz="1250" dirty="0"/>
          </a:p>
        </p:txBody>
      </p:sp>
      <p:sp>
        <p:nvSpPr>
          <p:cNvPr id="13" name="Text 11"/>
          <p:cNvSpPr/>
          <p:nvPr/>
        </p:nvSpPr>
        <p:spPr>
          <a:xfrm>
            <a:off x="5687568" y="1915668"/>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6044184" y="1572768"/>
            <a:ext cx="969264" cy="960120"/>
          </a:xfrm>
          <a:prstGeom prst="roundRect">
            <a:avLst>
              <a:gd name="adj" fmla="val 7619"/>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Schedule</a:t>
            </a:r>
            <a:endParaRPr lang="en-US" sz="1250" dirty="0"/>
          </a:p>
          <a:p>
            <a:pPr marL="0" indent="0" algn="ctr">
              <a:buNone/>
            </a:pPr>
            <a:r>
              <a:rPr lang="en-US" sz="1250" b="1" dirty="0">
                <a:solidFill>
                  <a:srgbClr val="F8FAFC"/>
                </a:solidFill>
              </a:rPr>
              <a:t>calendar/event</a:t>
            </a:r>
            <a:endParaRPr lang="en-US" sz="1250" dirty="0"/>
          </a:p>
        </p:txBody>
      </p:sp>
      <p:sp>
        <p:nvSpPr>
          <p:cNvPr id="15" name="Text 13"/>
          <p:cNvSpPr/>
          <p:nvPr/>
        </p:nvSpPr>
        <p:spPr>
          <a:xfrm>
            <a:off x="7114032" y="1915668"/>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470648" y="1572768"/>
            <a:ext cx="969264" cy="960120"/>
          </a:xfrm>
          <a:prstGeom prst="roundRect">
            <a:avLst>
              <a:gd name="adj" fmla="val 7619"/>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Execute</a:t>
            </a:r>
            <a:endParaRPr lang="en-US" sz="1250" dirty="0"/>
          </a:p>
          <a:p>
            <a:pPr marL="0" indent="0" algn="ctr">
              <a:buNone/>
            </a:pPr>
            <a:r>
              <a:rPr lang="en-US" sz="1250" b="1" dirty="0">
                <a:solidFill>
                  <a:srgbClr val="F8FAFC"/>
                </a:solidFill>
              </a:rPr>
              <a:t>on workers</a:t>
            </a:r>
            <a:endParaRPr lang="en-US" sz="1250" dirty="0"/>
          </a:p>
        </p:txBody>
      </p:sp>
      <p:sp>
        <p:nvSpPr>
          <p:cNvPr id="17" name="Text 15"/>
          <p:cNvSpPr/>
          <p:nvPr/>
        </p:nvSpPr>
        <p:spPr>
          <a:xfrm>
            <a:off x="8540496" y="1915668"/>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8897112" y="1572768"/>
            <a:ext cx="969264" cy="960120"/>
          </a:xfrm>
          <a:prstGeom prst="roundRect">
            <a:avLst>
              <a:gd name="adj" fmla="val 7619"/>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Monitor</a:t>
            </a:r>
            <a:endParaRPr lang="en-US" sz="1250" dirty="0"/>
          </a:p>
          <a:p>
            <a:pPr marL="0" indent="0" algn="ctr">
              <a:buNone/>
            </a:pPr>
            <a:r>
              <a:rPr lang="en-US" sz="1250" b="1" dirty="0">
                <a:solidFill>
                  <a:srgbClr val="F8FAFC"/>
                </a:solidFill>
              </a:rPr>
              <a:t>UI/logs</a:t>
            </a:r>
            <a:endParaRPr lang="en-US" sz="1250" dirty="0"/>
          </a:p>
        </p:txBody>
      </p:sp>
      <p:sp>
        <p:nvSpPr>
          <p:cNvPr id="19" name="Text 17"/>
          <p:cNvSpPr/>
          <p:nvPr/>
        </p:nvSpPr>
        <p:spPr>
          <a:xfrm>
            <a:off x="9966960" y="1915668"/>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20" name="Text 18"/>
          <p:cNvSpPr/>
          <p:nvPr/>
        </p:nvSpPr>
        <p:spPr>
          <a:xfrm>
            <a:off x="10323576" y="1572768"/>
            <a:ext cx="969264" cy="960120"/>
          </a:xfrm>
          <a:prstGeom prst="roundRect">
            <a:avLst>
              <a:gd name="adj" fmla="val 7619"/>
            </a:avLst>
          </a:prstGeom>
          <a:solidFill>
            <a:srgbClr val="FF9F43"/>
          </a:solidFill>
          <a:ln w="12700">
            <a:solidFill>
              <a:srgbClr val="FF9F43">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Recover</a:t>
            </a:r>
            <a:endParaRPr lang="en-US" sz="1250" dirty="0"/>
          </a:p>
          <a:p>
            <a:pPr marL="0" indent="0" algn="ctr">
              <a:buNone/>
            </a:pPr>
            <a:r>
              <a:rPr lang="en-US" sz="1250" b="1" dirty="0">
                <a:solidFill>
                  <a:srgbClr val="F8FAFC"/>
                </a:solidFill>
              </a:rPr>
              <a:t>retry/backfill</a:t>
            </a:r>
            <a:endParaRPr lang="en-US" sz="1250" dirty="0"/>
          </a:p>
        </p:txBody>
      </p:sp>
      <p:sp>
        <p:nvSpPr>
          <p:cNvPr id="21" name="Text 19"/>
          <p:cNvSpPr/>
          <p:nvPr/>
        </p:nvSpPr>
        <p:spPr>
          <a:xfrm>
            <a:off x="4709160" y="3108960"/>
            <a:ext cx="3118104" cy="786384"/>
          </a:xfrm>
          <a:prstGeom prst="roundRect">
            <a:avLst>
              <a:gd name="adj" fmla="val 9302"/>
            </a:avLst>
          </a:prstGeom>
          <a:solidFill>
            <a:srgbClr val="1E4A68"/>
          </a:solidFill>
          <a:ln w="12700">
            <a:solidFill>
              <a:srgbClr val="1E4A68">
                <a:alpha val="0"/>
              </a:srgbClr>
            </a:solidFill>
          </a:ln>
        </p:spPr>
        <p:txBody>
          <a:bodyPr wrap="square" lIns="1397" tIns="1397" rIns="1397" bIns="1397" rtlCol="0" anchor="ctr">
            <a:normAutofit/>
          </a:bodyPr>
          <a:lstStyle/>
          <a:p>
            <a:pPr marL="0" indent="0" algn="l">
              <a:buNone/>
            </a:pPr>
            <a:r>
              <a:rPr lang="en-US" sz="1300" b="1" dirty="0">
                <a:solidFill>
                  <a:srgbClr val="F8FAFC"/>
                </a:solidFill>
              </a:rPr>
              <a:t>Not a database</a:t>
            </a:r>
            <a:endParaRPr lang="en-US" sz="1300" dirty="0"/>
          </a:p>
        </p:txBody>
      </p:sp>
      <p:sp>
        <p:nvSpPr>
          <p:cNvPr id="22" name="Text 20"/>
          <p:cNvSpPr/>
          <p:nvPr/>
        </p:nvSpPr>
        <p:spPr>
          <a:xfrm>
            <a:off x="7991856" y="3108960"/>
            <a:ext cx="3118104" cy="786384"/>
          </a:xfrm>
          <a:prstGeom prst="roundRect">
            <a:avLst>
              <a:gd name="adj" fmla="val 9302"/>
            </a:avLst>
          </a:prstGeom>
          <a:solidFill>
            <a:srgbClr val="1E4A68"/>
          </a:solidFill>
          <a:ln w="12700">
            <a:solidFill>
              <a:srgbClr val="1E4A68">
                <a:alpha val="0"/>
              </a:srgbClr>
            </a:solidFill>
          </a:ln>
        </p:spPr>
        <p:txBody>
          <a:bodyPr wrap="square" lIns="1397" tIns="1397" rIns="1397" bIns="1397" rtlCol="0" anchor="ctr">
            <a:normAutofit/>
          </a:bodyPr>
          <a:lstStyle/>
          <a:p>
            <a:pPr marL="0" indent="0" algn="l">
              <a:buNone/>
            </a:pPr>
            <a:r>
              <a:rPr lang="en-US" sz="1300" b="1" dirty="0">
                <a:solidFill>
                  <a:srgbClr val="F8FAFC"/>
                </a:solidFill>
              </a:rPr>
              <a:t>Not an ETL engine by itself</a:t>
            </a:r>
            <a:endParaRPr lang="en-US" sz="1300" dirty="0"/>
          </a:p>
        </p:txBody>
      </p:sp>
      <p:sp>
        <p:nvSpPr>
          <p:cNvPr id="23" name="Text 21"/>
          <p:cNvSpPr/>
          <p:nvPr/>
        </p:nvSpPr>
        <p:spPr>
          <a:xfrm>
            <a:off x="4709160" y="4059936"/>
            <a:ext cx="3118104" cy="786384"/>
          </a:xfrm>
          <a:prstGeom prst="roundRect">
            <a:avLst>
              <a:gd name="adj" fmla="val 9302"/>
            </a:avLst>
          </a:prstGeom>
          <a:solidFill>
            <a:srgbClr val="1E4A68"/>
          </a:solidFill>
          <a:ln w="12700">
            <a:solidFill>
              <a:srgbClr val="1E4A68">
                <a:alpha val="0"/>
              </a:srgbClr>
            </a:solidFill>
          </a:ln>
        </p:spPr>
        <p:txBody>
          <a:bodyPr wrap="square" lIns="1397" tIns="1397" rIns="1397" bIns="1397" rtlCol="0" anchor="ctr">
            <a:normAutofit/>
          </a:bodyPr>
          <a:lstStyle/>
          <a:p>
            <a:pPr marL="0" indent="0" algn="l">
              <a:buNone/>
            </a:pPr>
            <a:r>
              <a:rPr lang="en-US" sz="1300" b="1" dirty="0">
                <a:solidFill>
                  <a:srgbClr val="F8FAFC"/>
                </a:solidFill>
              </a:rPr>
              <a:t>Not a streaming engine</a:t>
            </a:r>
            <a:endParaRPr lang="en-US" sz="1300" dirty="0"/>
          </a:p>
        </p:txBody>
      </p:sp>
      <p:sp>
        <p:nvSpPr>
          <p:cNvPr id="24" name="Text 22"/>
          <p:cNvSpPr/>
          <p:nvPr/>
        </p:nvSpPr>
        <p:spPr>
          <a:xfrm>
            <a:off x="7991856" y="4059936"/>
            <a:ext cx="3118104" cy="786384"/>
          </a:xfrm>
          <a:prstGeom prst="roundRect">
            <a:avLst>
              <a:gd name="adj" fmla="val 9302"/>
            </a:avLst>
          </a:prstGeom>
          <a:solidFill>
            <a:srgbClr val="1E4A68"/>
          </a:solidFill>
          <a:ln w="12700">
            <a:solidFill>
              <a:srgbClr val="1E4A68">
                <a:alpha val="0"/>
              </a:srgbClr>
            </a:solidFill>
          </a:ln>
        </p:spPr>
        <p:txBody>
          <a:bodyPr wrap="square" lIns="1397" tIns="1397" rIns="1397" bIns="1397" rtlCol="0" anchor="ctr">
            <a:normAutofit/>
          </a:bodyPr>
          <a:lstStyle/>
          <a:p>
            <a:pPr marL="0" indent="0" algn="l">
              <a:buNone/>
            </a:pPr>
            <a:r>
              <a:rPr lang="en-US" sz="1300" b="1" dirty="0">
                <a:solidFill>
                  <a:srgbClr val="F8FAFC"/>
                </a:solidFill>
              </a:rPr>
              <a:t>It orchestrates tools that do the work</a:t>
            </a:r>
            <a:endParaRPr lang="en-US" sz="1300" dirty="0"/>
          </a:p>
        </p:txBody>
      </p:sp>
      <p:sp>
        <p:nvSpPr>
          <p:cNvPr id="25" name="Text 23"/>
          <p:cNvSpPr/>
          <p:nvPr/>
        </p:nvSpPr>
        <p:spPr>
          <a:xfrm>
            <a:off x="4800600" y="5486400"/>
            <a:ext cx="6217920" cy="320040"/>
          </a:xfrm>
          <a:prstGeom prst="rect">
            <a:avLst/>
          </a:prstGeom>
          <a:noFill/>
          <a:ln/>
        </p:spPr>
        <p:txBody>
          <a:bodyPr wrap="square" lIns="381" tIns="381" rIns="381" bIns="381" rtlCol="0" anchor="t">
            <a:normAutofit/>
          </a:bodyPr>
          <a:lstStyle/>
          <a:p>
            <a:pPr marL="0" indent="0" algn="l">
              <a:buNone/>
            </a:pPr>
            <a:r>
              <a:rPr lang="en-US" sz="1600" b="1" dirty="0">
                <a:solidFill>
                  <a:srgbClr val="38D9FF"/>
                </a:solidFill>
                <a:latin typeface="Aptos" pitchFamily="34" charset="0"/>
                <a:ea typeface="Aptos" pitchFamily="34" charset="-122"/>
                <a:cs typeface="Aptos" pitchFamily="34" charset="-120"/>
              </a:rPr>
              <a:t>Industry mindset: Airflow is the control room for data pipelines.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Why Airflow</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Traditional approach before Airflow</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How teams commonly scheduled pipelines earlier</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31520" y="1645920"/>
            <a:ext cx="1773936" cy="960120"/>
          </a:xfrm>
          <a:prstGeom prst="roundRect">
            <a:avLst>
              <a:gd name="adj" fmla="val 7619"/>
            </a:avLst>
          </a:prstGeom>
          <a:solidFill>
            <a:srgbClr val="FF6B6B"/>
          </a:solidFill>
          <a:ln w="12700">
            <a:solidFill>
              <a:srgbClr val="FF6B6B">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Developer</a:t>
            </a:r>
            <a:endParaRPr lang="en-US" sz="1250" dirty="0"/>
          </a:p>
          <a:p>
            <a:pPr marL="0" indent="0" algn="ctr">
              <a:buNone/>
            </a:pPr>
            <a:r>
              <a:rPr lang="en-US" sz="1250" b="1" dirty="0">
                <a:solidFill>
                  <a:srgbClr val="F8FAFC"/>
                </a:solidFill>
              </a:rPr>
              <a:t>runs script</a:t>
            </a:r>
            <a:endParaRPr lang="en-US" sz="1250" dirty="0"/>
          </a:p>
        </p:txBody>
      </p:sp>
      <p:sp>
        <p:nvSpPr>
          <p:cNvPr id="11" name="Text 9"/>
          <p:cNvSpPr/>
          <p:nvPr/>
        </p:nvSpPr>
        <p:spPr>
          <a:xfrm>
            <a:off x="2606040" y="19888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62656" y="1645920"/>
            <a:ext cx="1773936" cy="960120"/>
          </a:xfrm>
          <a:prstGeom prst="roundRect">
            <a:avLst>
              <a:gd name="adj" fmla="val 7619"/>
            </a:avLst>
          </a:prstGeom>
          <a:solidFill>
            <a:srgbClr val="FF9F43"/>
          </a:solidFill>
          <a:ln w="12700">
            <a:solidFill>
              <a:srgbClr val="FF9F43">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OS cron</a:t>
            </a:r>
            <a:endParaRPr lang="en-US" sz="1250" dirty="0"/>
          </a:p>
          <a:p>
            <a:pPr marL="0" indent="0" algn="ctr">
              <a:buNone/>
            </a:pPr>
            <a:r>
              <a:rPr lang="en-US" sz="1250" b="1" dirty="0">
                <a:solidFill>
                  <a:srgbClr val="F8FAFC"/>
                </a:solidFill>
              </a:rPr>
              <a:t>schedule</a:t>
            </a:r>
            <a:endParaRPr lang="en-US" sz="1250" dirty="0"/>
          </a:p>
        </p:txBody>
      </p:sp>
      <p:sp>
        <p:nvSpPr>
          <p:cNvPr id="13" name="Text 11"/>
          <p:cNvSpPr/>
          <p:nvPr/>
        </p:nvSpPr>
        <p:spPr>
          <a:xfrm>
            <a:off x="4837176" y="19888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193792" y="1645920"/>
            <a:ext cx="1773936" cy="960120"/>
          </a:xfrm>
          <a:prstGeom prst="roundRect">
            <a:avLst>
              <a:gd name="adj" fmla="val 7619"/>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Shell script</a:t>
            </a:r>
            <a:endParaRPr lang="en-US" sz="1250" dirty="0"/>
          </a:p>
          <a:p>
            <a:pPr marL="0" indent="0" algn="ctr">
              <a:buNone/>
            </a:pPr>
            <a:r>
              <a:rPr lang="en-US" sz="1250" b="1" dirty="0">
                <a:solidFill>
                  <a:srgbClr val="F8FAFC"/>
                </a:solidFill>
              </a:rPr>
              <a:t>chains steps</a:t>
            </a:r>
            <a:endParaRPr lang="en-US" sz="1250" dirty="0"/>
          </a:p>
        </p:txBody>
      </p:sp>
      <p:sp>
        <p:nvSpPr>
          <p:cNvPr id="15" name="Text 13"/>
          <p:cNvSpPr/>
          <p:nvPr/>
        </p:nvSpPr>
        <p:spPr>
          <a:xfrm>
            <a:off x="7068312" y="19888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424928" y="1645920"/>
            <a:ext cx="1773936" cy="960120"/>
          </a:xfrm>
          <a:prstGeom prst="roundRect">
            <a:avLst>
              <a:gd name="adj" fmla="val 7619"/>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Manual log</a:t>
            </a:r>
            <a:endParaRPr lang="en-US" sz="1250" dirty="0"/>
          </a:p>
          <a:p>
            <a:pPr marL="0" indent="0" algn="ctr">
              <a:buNone/>
            </a:pPr>
            <a:r>
              <a:rPr lang="en-US" sz="1250" b="1" dirty="0">
                <a:solidFill>
                  <a:srgbClr val="F8FAFC"/>
                </a:solidFill>
              </a:rPr>
              <a:t>checking</a:t>
            </a:r>
            <a:endParaRPr lang="en-US" sz="1250" dirty="0"/>
          </a:p>
        </p:txBody>
      </p:sp>
      <p:sp>
        <p:nvSpPr>
          <p:cNvPr id="17" name="Text 15"/>
          <p:cNvSpPr/>
          <p:nvPr/>
        </p:nvSpPr>
        <p:spPr>
          <a:xfrm>
            <a:off x="9299448" y="19888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656064" y="1645920"/>
            <a:ext cx="1773936" cy="960120"/>
          </a:xfrm>
          <a:prstGeom prst="roundRect">
            <a:avLst>
              <a:gd name="adj" fmla="val 761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Email/Excel</a:t>
            </a:r>
            <a:endParaRPr lang="en-US" sz="1250" dirty="0"/>
          </a:p>
          <a:p>
            <a:pPr marL="0" indent="0" algn="ctr">
              <a:buNone/>
            </a:pPr>
            <a:r>
              <a:rPr lang="en-US" sz="1250" b="1" dirty="0">
                <a:solidFill>
                  <a:srgbClr val="F8FAFC"/>
                </a:solidFill>
              </a:rPr>
              <a:t>report</a:t>
            </a:r>
            <a:endParaRPr lang="en-US" sz="1250" dirty="0"/>
          </a:p>
        </p:txBody>
      </p:sp>
      <p:sp>
        <p:nvSpPr>
          <p:cNvPr id="19" name="Text 17"/>
          <p:cNvSpPr/>
          <p:nvPr/>
        </p:nvSpPr>
        <p:spPr>
          <a:xfrm>
            <a:off x="731520" y="3063240"/>
            <a:ext cx="5193792" cy="475488"/>
          </a:xfrm>
          <a:prstGeom prst="roundRect">
            <a:avLst>
              <a:gd name="adj" fmla="val 15385"/>
            </a:avLst>
          </a:prstGeom>
          <a:solidFill>
            <a:srgbClr val="FF6B6B"/>
          </a:solidFill>
          <a:ln w="12700">
            <a:solidFill>
              <a:srgbClr val="FF6B6B">
                <a:alpha val="0"/>
              </a:srgbClr>
            </a:solidFill>
          </a:ln>
        </p:spPr>
        <p:txBody>
          <a:bodyPr wrap="square" lIns="1016" tIns="1016" rIns="1016" bIns="1016" rtlCol="0" anchor="ctr">
            <a:normAutofit/>
          </a:bodyPr>
          <a:lstStyle/>
          <a:p>
            <a:pPr marL="0" indent="0" algn="ctr">
              <a:buNone/>
            </a:pPr>
            <a:r>
              <a:rPr lang="en-US" sz="1700" b="1" dirty="0">
                <a:solidFill>
                  <a:srgbClr val="F8FAFC"/>
                </a:solidFill>
              </a:rPr>
              <a:t>Traditional setup</a:t>
            </a:r>
            <a:endParaRPr lang="en-US" sz="1700" dirty="0"/>
          </a:p>
        </p:txBody>
      </p:sp>
      <p:sp>
        <p:nvSpPr>
          <p:cNvPr id="20" name="Text 18"/>
          <p:cNvSpPr/>
          <p:nvPr/>
        </p:nvSpPr>
        <p:spPr>
          <a:xfrm>
            <a:off x="6236208" y="3063240"/>
            <a:ext cx="5193792" cy="475488"/>
          </a:xfrm>
          <a:prstGeom prst="roundRect">
            <a:avLst>
              <a:gd name="adj" fmla="val 15385"/>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700" b="1" dirty="0">
                <a:solidFill>
                  <a:srgbClr val="071827"/>
                </a:solidFill>
              </a:rPr>
              <a:t>Airflow setup</a:t>
            </a:r>
            <a:endParaRPr lang="en-US" sz="1700" dirty="0"/>
          </a:p>
        </p:txBody>
      </p:sp>
      <p:sp>
        <p:nvSpPr>
          <p:cNvPr id="21" name="Text 19"/>
          <p:cNvSpPr/>
          <p:nvPr/>
        </p:nvSpPr>
        <p:spPr>
          <a:xfrm>
            <a:off x="841248" y="3840480"/>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Cron knows time, not data dependencies</a:t>
            </a:r>
            <a:endParaRPr lang="en-US" sz="1350" dirty="0"/>
          </a:p>
        </p:txBody>
      </p:sp>
      <p:sp>
        <p:nvSpPr>
          <p:cNvPr id="22" name="Text 20"/>
          <p:cNvSpPr/>
          <p:nvPr/>
        </p:nvSpPr>
        <p:spPr>
          <a:xfrm>
            <a:off x="841248" y="4370832"/>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Scripts hide failure location</a:t>
            </a:r>
            <a:endParaRPr lang="en-US" sz="1350" dirty="0"/>
          </a:p>
        </p:txBody>
      </p:sp>
      <p:sp>
        <p:nvSpPr>
          <p:cNvPr id="23" name="Text 21"/>
          <p:cNvSpPr/>
          <p:nvPr/>
        </p:nvSpPr>
        <p:spPr>
          <a:xfrm>
            <a:off x="841248" y="4901184"/>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Retry logic is custom and inconsistent</a:t>
            </a:r>
            <a:endParaRPr lang="en-US" sz="1350" dirty="0"/>
          </a:p>
        </p:txBody>
      </p:sp>
      <p:sp>
        <p:nvSpPr>
          <p:cNvPr id="24" name="Text 22"/>
          <p:cNvSpPr/>
          <p:nvPr/>
        </p:nvSpPr>
        <p:spPr>
          <a:xfrm>
            <a:off x="841248" y="5431536"/>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No DAG graph or centralized pipeline view</a:t>
            </a:r>
            <a:endParaRPr lang="en-US" sz="1350" dirty="0"/>
          </a:p>
        </p:txBody>
      </p:sp>
      <p:sp>
        <p:nvSpPr>
          <p:cNvPr id="25" name="Text 23"/>
          <p:cNvSpPr/>
          <p:nvPr/>
        </p:nvSpPr>
        <p:spPr>
          <a:xfrm>
            <a:off x="841248" y="5961888"/>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Backfill historical dates is risky and manual</a:t>
            </a:r>
            <a:endParaRPr lang="en-US" sz="1350" dirty="0"/>
          </a:p>
        </p:txBody>
      </p:sp>
      <p:sp>
        <p:nvSpPr>
          <p:cNvPr id="26" name="Text 24"/>
          <p:cNvSpPr/>
          <p:nvPr/>
        </p:nvSpPr>
        <p:spPr>
          <a:xfrm>
            <a:off x="6345936" y="3840480"/>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Dependencies are explicit in DAG</a:t>
            </a:r>
            <a:endParaRPr lang="en-US" sz="1350" dirty="0"/>
          </a:p>
        </p:txBody>
      </p:sp>
      <p:sp>
        <p:nvSpPr>
          <p:cNvPr id="27" name="Text 25"/>
          <p:cNvSpPr/>
          <p:nvPr/>
        </p:nvSpPr>
        <p:spPr>
          <a:xfrm>
            <a:off x="6345936" y="4370832"/>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Each task has logs, states, retries</a:t>
            </a:r>
            <a:endParaRPr lang="en-US" sz="1350" dirty="0"/>
          </a:p>
        </p:txBody>
      </p:sp>
      <p:sp>
        <p:nvSpPr>
          <p:cNvPr id="28" name="Text 26"/>
          <p:cNvSpPr/>
          <p:nvPr/>
        </p:nvSpPr>
        <p:spPr>
          <a:xfrm>
            <a:off x="6345936" y="4901184"/>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Scheduler handles task readiness</a:t>
            </a:r>
            <a:endParaRPr lang="en-US" sz="1350" dirty="0"/>
          </a:p>
        </p:txBody>
      </p:sp>
      <p:sp>
        <p:nvSpPr>
          <p:cNvPr id="29" name="Text 27"/>
          <p:cNvSpPr/>
          <p:nvPr/>
        </p:nvSpPr>
        <p:spPr>
          <a:xfrm>
            <a:off x="6345936" y="5431536"/>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UI shows graph, grid, history, failures</a:t>
            </a:r>
            <a:endParaRPr lang="en-US" sz="1350" dirty="0"/>
          </a:p>
        </p:txBody>
      </p:sp>
      <p:sp>
        <p:nvSpPr>
          <p:cNvPr id="30" name="Text 28"/>
          <p:cNvSpPr/>
          <p:nvPr/>
        </p:nvSpPr>
        <p:spPr>
          <a:xfrm>
            <a:off x="6345936" y="5961888"/>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Backfills and reruns are controlled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Why Airflow</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Drawbacks of manual / cron pipelines</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The pain becomes visible when pipelines become business-critical</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417320"/>
            <a:ext cx="3425952" cy="2066544"/>
          </a:xfrm>
          <a:prstGeom prst="roundRect">
            <a:avLst>
              <a:gd name="adj" fmla="val 354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Hidden dependencies</a:t>
            </a:r>
            <a:endParaRPr lang="en-US" sz="1300" dirty="0"/>
          </a:p>
          <a:p>
            <a:pPr marL="0" indent="0" algn="l">
              <a:buNone/>
            </a:pPr>
            <a:r>
              <a:rPr lang="en-US" sz="1300" b="1" dirty="0">
                <a:solidFill>
                  <a:srgbClr val="F8FAFC"/>
                </a:solidFill>
              </a:rPr>
              <a:t>“Script B must run after Script A” lives in someone’s head</a:t>
            </a:r>
            <a:endParaRPr lang="en-US" sz="1300" dirty="0"/>
          </a:p>
        </p:txBody>
      </p:sp>
      <p:sp>
        <p:nvSpPr>
          <p:cNvPr id="11" name="Text 9"/>
          <p:cNvSpPr/>
          <p:nvPr/>
        </p:nvSpPr>
        <p:spPr>
          <a:xfrm>
            <a:off x="4367784" y="1417320"/>
            <a:ext cx="3425952" cy="2066544"/>
          </a:xfrm>
          <a:prstGeom prst="roundRect">
            <a:avLst>
              <a:gd name="adj" fmla="val 3540"/>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Poor observability</a:t>
            </a:r>
            <a:endParaRPr lang="en-US" sz="1300" dirty="0"/>
          </a:p>
          <a:p>
            <a:pPr marL="0" indent="0" algn="l">
              <a:buNone/>
            </a:pPr>
            <a:r>
              <a:rPr lang="en-US" sz="1300" b="1" dirty="0">
                <a:solidFill>
                  <a:srgbClr val="F8FAFC"/>
                </a:solidFill>
              </a:rPr>
              <a:t>Logs are scattered across machines and folders</a:t>
            </a:r>
            <a:endParaRPr lang="en-US" sz="1300" dirty="0"/>
          </a:p>
        </p:txBody>
      </p:sp>
      <p:sp>
        <p:nvSpPr>
          <p:cNvPr id="12" name="Text 10"/>
          <p:cNvSpPr/>
          <p:nvPr/>
        </p:nvSpPr>
        <p:spPr>
          <a:xfrm>
            <a:off x="7958328" y="1417320"/>
            <a:ext cx="3425952" cy="2066544"/>
          </a:xfrm>
          <a:prstGeom prst="roundRect">
            <a:avLst>
              <a:gd name="adj" fmla="val 354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Weak recovery</a:t>
            </a:r>
            <a:endParaRPr lang="en-US" sz="1300" dirty="0"/>
          </a:p>
          <a:p>
            <a:pPr marL="0" indent="0" algn="l">
              <a:buNone/>
            </a:pPr>
            <a:r>
              <a:rPr lang="en-US" sz="1300" b="1" dirty="0">
                <a:solidFill>
                  <a:srgbClr val="F8FAFC"/>
                </a:solidFill>
              </a:rPr>
              <a:t>Failures need manual reruns and custom retry code</a:t>
            </a:r>
            <a:endParaRPr lang="en-US" sz="1300" dirty="0"/>
          </a:p>
        </p:txBody>
      </p:sp>
      <p:sp>
        <p:nvSpPr>
          <p:cNvPr id="13" name="Text 11"/>
          <p:cNvSpPr/>
          <p:nvPr/>
        </p:nvSpPr>
        <p:spPr>
          <a:xfrm>
            <a:off x="777240" y="3648456"/>
            <a:ext cx="3425952" cy="2066544"/>
          </a:xfrm>
          <a:prstGeom prst="roundRect">
            <a:avLst>
              <a:gd name="adj" fmla="val 3540"/>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Difficult scaling</a:t>
            </a:r>
            <a:endParaRPr lang="en-US" sz="1300" dirty="0"/>
          </a:p>
          <a:p>
            <a:pPr marL="0" indent="0" algn="l">
              <a:buNone/>
            </a:pPr>
            <a:r>
              <a:rPr lang="en-US" sz="1300" b="1" dirty="0">
                <a:solidFill>
                  <a:srgbClr val="F8FAFC"/>
                </a:solidFill>
              </a:rPr>
              <a:t>More jobs means more cron entries and more confusion</a:t>
            </a:r>
            <a:endParaRPr lang="en-US" sz="1300" dirty="0"/>
          </a:p>
        </p:txBody>
      </p:sp>
      <p:sp>
        <p:nvSpPr>
          <p:cNvPr id="14" name="Text 12"/>
          <p:cNvSpPr/>
          <p:nvPr/>
        </p:nvSpPr>
        <p:spPr>
          <a:xfrm>
            <a:off x="4367784" y="3648456"/>
            <a:ext cx="3425952" cy="2066544"/>
          </a:xfrm>
          <a:prstGeom prst="roundRect">
            <a:avLst>
              <a:gd name="adj" fmla="val 354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No safe history reruns</a:t>
            </a:r>
            <a:endParaRPr lang="en-US" sz="1300" dirty="0"/>
          </a:p>
          <a:p>
            <a:pPr marL="0" indent="0" algn="l">
              <a:buNone/>
            </a:pPr>
            <a:r>
              <a:rPr lang="en-US" sz="1300" b="1" dirty="0">
                <a:solidFill>
                  <a:srgbClr val="F8FAFC"/>
                </a:solidFill>
              </a:rPr>
              <a:t>Backfill dates are easy to miss or duplicate</a:t>
            </a:r>
            <a:endParaRPr lang="en-US" sz="1300" dirty="0"/>
          </a:p>
        </p:txBody>
      </p:sp>
      <p:sp>
        <p:nvSpPr>
          <p:cNvPr id="15" name="Text 13"/>
          <p:cNvSpPr/>
          <p:nvPr/>
        </p:nvSpPr>
        <p:spPr>
          <a:xfrm>
            <a:off x="7958328" y="3648456"/>
            <a:ext cx="3425952" cy="2066544"/>
          </a:xfrm>
          <a:prstGeom prst="roundRect">
            <a:avLst>
              <a:gd name="adj" fmla="val 3540"/>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Low team trust</a:t>
            </a:r>
            <a:endParaRPr lang="en-US" sz="1300" dirty="0"/>
          </a:p>
          <a:p>
            <a:pPr marL="0" indent="0" algn="l">
              <a:buNone/>
            </a:pPr>
            <a:r>
              <a:rPr lang="en-US" sz="1300" b="1" dirty="0">
                <a:solidFill>
                  <a:srgbClr val="F8FAFC"/>
                </a:solidFill>
              </a:rPr>
              <a:t>Operations depend on one person’s knowledge</a:t>
            </a:r>
            <a:endParaRPr lang="en-US" sz="1300" dirty="0"/>
          </a:p>
        </p:txBody>
      </p:sp>
      <p:sp>
        <p:nvSpPr>
          <p:cNvPr id="16" name="Text 14"/>
          <p:cNvSpPr/>
          <p:nvPr/>
        </p:nvSpPr>
        <p:spPr>
          <a:xfrm>
            <a:off x="914400" y="5989320"/>
            <a:ext cx="10241280" cy="320040"/>
          </a:xfrm>
          <a:prstGeom prst="rect">
            <a:avLst/>
          </a:prstGeom>
          <a:noFill/>
          <a:ln/>
        </p:spPr>
        <p:txBody>
          <a:bodyPr wrap="square" lIns="381" tIns="381" rIns="381" bIns="381" rtlCol="0" anchor="t">
            <a:normAutofit/>
          </a:bodyPr>
          <a:lstStyle/>
          <a:p>
            <a:pPr marL="0" indent="0" algn="ctr">
              <a:buNone/>
            </a:pPr>
            <a:r>
              <a:rPr lang="en-US" sz="1700" b="1" dirty="0">
                <a:solidFill>
                  <a:srgbClr val="FFD166"/>
                </a:solidFill>
                <a:latin typeface="Aptos" pitchFamily="34" charset="0"/>
                <a:ea typeface="Aptos" pitchFamily="34" charset="-122"/>
                <a:cs typeface="Aptos" pitchFamily="34" charset="-120"/>
              </a:rPr>
              <a:t>Main lesson: scheduling a script is easy; operating a pipeline reliably is the hard part.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Why Airflow</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How Airflow overcomes these drawbacks</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It turns pipeline operations into visible, repeatable workflow code</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417320"/>
            <a:ext cx="3425952" cy="2066544"/>
          </a:xfrm>
          <a:prstGeom prst="roundRect">
            <a:avLst>
              <a:gd name="adj" fmla="val 3540"/>
            </a:avLst>
          </a:prstGeom>
          <a:solidFill>
            <a:srgbClr val="00A9E0"/>
          </a:solidFill>
          <a:ln w="12700">
            <a:solidFill>
              <a:srgbClr val="00A9E0">
                <a:alpha val="0"/>
              </a:srgbClr>
            </a:solidFill>
          </a:ln>
        </p:spPr>
        <p:txBody>
          <a:bodyPr wrap="square" lIns="1397" tIns="1397" rIns="1397" bIns="1397" rtlCol="0" anchor="ctr">
            <a:normAutofit/>
          </a:bodyPr>
          <a:lstStyle/>
          <a:p>
            <a:pPr marL="0" indent="0" algn="l">
              <a:buNone/>
            </a:pPr>
            <a:r>
              <a:rPr lang="en-US" sz="1300" b="1" dirty="0">
                <a:solidFill>
                  <a:srgbClr val="F8FAFC"/>
                </a:solidFill>
              </a:rPr>
              <a:t>Workflows as code</a:t>
            </a:r>
            <a:endParaRPr lang="en-US" sz="1300" dirty="0"/>
          </a:p>
          <a:p>
            <a:pPr marL="0" indent="0" algn="l">
              <a:buNone/>
            </a:pPr>
            <a:r>
              <a:rPr lang="en-US" sz="1300" b="1" dirty="0">
                <a:solidFill>
                  <a:srgbClr val="F8FAFC"/>
                </a:solidFill>
              </a:rPr>
              <a:t>Pipeline is version-controlled Python</a:t>
            </a:r>
            <a:endParaRPr lang="en-US" sz="1300" dirty="0"/>
          </a:p>
        </p:txBody>
      </p:sp>
      <p:sp>
        <p:nvSpPr>
          <p:cNvPr id="11" name="Text 9"/>
          <p:cNvSpPr/>
          <p:nvPr/>
        </p:nvSpPr>
        <p:spPr>
          <a:xfrm>
            <a:off x="4367784" y="1417320"/>
            <a:ext cx="3425952" cy="2066544"/>
          </a:xfrm>
          <a:prstGeom prst="roundRect">
            <a:avLst>
              <a:gd name="adj" fmla="val 3540"/>
            </a:avLst>
          </a:prstGeom>
          <a:solidFill>
            <a:srgbClr val="46E6A9"/>
          </a:solidFill>
          <a:ln w="12700">
            <a:solidFill>
              <a:srgbClr val="46E6A9">
                <a:alpha val="0"/>
              </a:srgbClr>
            </a:solidFill>
          </a:ln>
        </p:spPr>
        <p:txBody>
          <a:bodyPr wrap="square" lIns="1397" tIns="1397" rIns="1397" bIns="1397" rtlCol="0" anchor="ctr">
            <a:normAutofit/>
          </a:bodyPr>
          <a:lstStyle/>
          <a:p>
            <a:pPr marL="0" indent="0" algn="l">
              <a:buNone/>
            </a:pPr>
            <a:r>
              <a:rPr lang="en-US" sz="1300" b="1" dirty="0">
                <a:solidFill>
                  <a:srgbClr val="F8FAFC"/>
                </a:solidFill>
              </a:rPr>
              <a:t>Dependency graph</a:t>
            </a:r>
            <a:endParaRPr lang="en-US" sz="1300" dirty="0"/>
          </a:p>
          <a:p>
            <a:pPr marL="0" indent="0" algn="l">
              <a:buNone/>
            </a:pPr>
            <a:r>
              <a:rPr lang="en-US" sz="1300" b="1" dirty="0">
                <a:solidFill>
                  <a:srgbClr val="F8FAFC"/>
                </a:solidFill>
              </a:rPr>
              <a:t>Order is explicit: extract &gt;&gt; validate &gt;&gt; load</a:t>
            </a:r>
            <a:endParaRPr lang="en-US" sz="1300" dirty="0"/>
          </a:p>
        </p:txBody>
      </p:sp>
      <p:sp>
        <p:nvSpPr>
          <p:cNvPr id="12" name="Text 10"/>
          <p:cNvSpPr/>
          <p:nvPr/>
        </p:nvSpPr>
        <p:spPr>
          <a:xfrm>
            <a:off x="7958328" y="1417320"/>
            <a:ext cx="3425952" cy="2066544"/>
          </a:xfrm>
          <a:prstGeom prst="roundRect">
            <a:avLst>
              <a:gd name="adj" fmla="val 3540"/>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Scheduler intelligence</a:t>
            </a:r>
            <a:endParaRPr lang="en-US" sz="1300" dirty="0"/>
          </a:p>
          <a:p>
            <a:pPr marL="0" indent="0" algn="l">
              <a:buNone/>
            </a:pPr>
            <a:r>
              <a:rPr lang="en-US" sz="1300" b="1" dirty="0">
                <a:solidFill>
                  <a:srgbClr val="F8FAFC"/>
                </a:solidFill>
              </a:rPr>
              <a:t>Runs tasks when dependencies and schedule are ready</a:t>
            </a:r>
            <a:endParaRPr lang="en-US" sz="1300" dirty="0"/>
          </a:p>
        </p:txBody>
      </p:sp>
      <p:sp>
        <p:nvSpPr>
          <p:cNvPr id="13" name="Text 11"/>
          <p:cNvSpPr/>
          <p:nvPr/>
        </p:nvSpPr>
        <p:spPr>
          <a:xfrm>
            <a:off x="777240" y="3648456"/>
            <a:ext cx="3425952" cy="2066544"/>
          </a:xfrm>
          <a:prstGeom prst="roundRect">
            <a:avLst>
              <a:gd name="adj" fmla="val 3540"/>
            </a:avLst>
          </a:prstGeom>
          <a:solidFill>
            <a:srgbClr val="FFD166"/>
          </a:solidFill>
          <a:ln w="12700">
            <a:solidFill>
              <a:srgbClr val="FFD166">
                <a:alpha val="0"/>
              </a:srgbClr>
            </a:solidFill>
          </a:ln>
        </p:spPr>
        <p:txBody>
          <a:bodyPr wrap="square" lIns="1397" tIns="1397" rIns="1397" bIns="1397" rtlCol="0" anchor="ctr">
            <a:normAutofit/>
          </a:bodyPr>
          <a:lstStyle/>
          <a:p>
            <a:pPr marL="0" indent="0" algn="l">
              <a:buNone/>
            </a:pPr>
            <a:r>
              <a:rPr lang="en-US" sz="1300" b="1" dirty="0">
                <a:solidFill>
                  <a:srgbClr val="F8FAFC"/>
                </a:solidFill>
              </a:rPr>
              <a:t>Task-level recovery</a:t>
            </a:r>
            <a:endParaRPr lang="en-US" sz="1300" dirty="0"/>
          </a:p>
          <a:p>
            <a:pPr marL="0" indent="0" algn="l">
              <a:buNone/>
            </a:pPr>
            <a:r>
              <a:rPr lang="en-US" sz="1300" b="1" dirty="0">
                <a:solidFill>
                  <a:srgbClr val="F8FAFC"/>
                </a:solidFill>
              </a:rPr>
              <a:t>Retry only failed step instead of full manual rerun</a:t>
            </a:r>
            <a:endParaRPr lang="en-US" sz="1300" dirty="0"/>
          </a:p>
        </p:txBody>
      </p:sp>
      <p:sp>
        <p:nvSpPr>
          <p:cNvPr id="14" name="Text 12"/>
          <p:cNvSpPr/>
          <p:nvPr/>
        </p:nvSpPr>
        <p:spPr>
          <a:xfrm>
            <a:off x="4367784" y="3648456"/>
            <a:ext cx="3425952" cy="2066544"/>
          </a:xfrm>
          <a:prstGeom prst="roundRect">
            <a:avLst>
              <a:gd name="adj" fmla="val 354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Monitoring UI</a:t>
            </a:r>
            <a:endParaRPr lang="en-US" sz="1300" dirty="0"/>
          </a:p>
          <a:p>
            <a:pPr marL="0" indent="0" algn="l">
              <a:buNone/>
            </a:pPr>
            <a:r>
              <a:rPr lang="en-US" sz="1300" b="1" dirty="0">
                <a:solidFill>
                  <a:srgbClr val="F8FAFC"/>
                </a:solidFill>
              </a:rPr>
              <a:t>Graph, grid, logs, duration, task state</a:t>
            </a:r>
            <a:endParaRPr lang="en-US" sz="1300" dirty="0"/>
          </a:p>
        </p:txBody>
      </p:sp>
      <p:sp>
        <p:nvSpPr>
          <p:cNvPr id="15" name="Text 13"/>
          <p:cNvSpPr/>
          <p:nvPr/>
        </p:nvSpPr>
        <p:spPr>
          <a:xfrm>
            <a:off x="7958328" y="3648456"/>
            <a:ext cx="3425952" cy="2066544"/>
          </a:xfrm>
          <a:prstGeom prst="roundRect">
            <a:avLst>
              <a:gd name="adj" fmla="val 3540"/>
            </a:avLst>
          </a:prstGeom>
          <a:solidFill>
            <a:srgbClr val="B389FF"/>
          </a:solidFill>
          <a:ln w="12700">
            <a:solidFill>
              <a:srgbClr val="B389FF">
                <a:alpha val="0"/>
              </a:srgbClr>
            </a:solidFill>
          </a:ln>
        </p:spPr>
        <p:txBody>
          <a:bodyPr wrap="square" lIns="1397" tIns="1397" rIns="1397" bIns="1397" rtlCol="0" anchor="ctr">
            <a:normAutofit/>
          </a:bodyPr>
          <a:lstStyle/>
          <a:p>
            <a:pPr marL="0" indent="0" algn="l">
              <a:buNone/>
            </a:pPr>
            <a:r>
              <a:rPr lang="en-US" sz="1300" b="1" dirty="0">
                <a:solidFill>
                  <a:srgbClr val="F8FAFC"/>
                </a:solidFill>
              </a:rPr>
              <a:t>Extensible operators</a:t>
            </a:r>
            <a:endParaRPr lang="en-US" sz="1300" dirty="0"/>
          </a:p>
          <a:p>
            <a:pPr marL="0" indent="0" algn="l">
              <a:buNone/>
            </a:pPr>
            <a:r>
              <a:rPr lang="en-US" sz="1300" b="1" dirty="0">
                <a:solidFill>
                  <a:srgbClr val="F8FAFC"/>
                </a:solidFill>
              </a:rPr>
              <a:t>Python, Bash, SQL, Spark, Docker, cloud providers</a:t>
            </a:r>
            <a:endParaRPr lang="en-US" sz="1300" dirty="0"/>
          </a:p>
        </p:txBody>
      </p:sp>
      <p:sp>
        <p:nvSpPr>
          <p:cNvPr id="16" name="Text 14"/>
          <p:cNvSpPr/>
          <p:nvPr/>
        </p:nvSpPr>
        <p:spPr>
          <a:xfrm>
            <a:off x="914400" y="5989320"/>
            <a:ext cx="10241280" cy="320040"/>
          </a:xfrm>
          <a:prstGeom prst="rect">
            <a:avLst/>
          </a:prstGeom>
          <a:noFill/>
          <a:ln/>
        </p:spPr>
        <p:txBody>
          <a:bodyPr wrap="square" lIns="381" tIns="381" rIns="381" bIns="381" rtlCol="0" anchor="t">
            <a:normAutofit/>
          </a:bodyPr>
          <a:lstStyle/>
          <a:p>
            <a:pPr marL="0" indent="0" algn="ctr">
              <a:buNone/>
            </a:pPr>
            <a:r>
              <a:rPr lang="en-US" sz="1700" b="1" dirty="0">
                <a:solidFill>
                  <a:srgbClr val="38D9FF"/>
                </a:solidFill>
                <a:latin typeface="Aptos" pitchFamily="34" charset="0"/>
                <a:ea typeface="Aptos" pitchFamily="34" charset="-122"/>
                <a:cs typeface="Aptos" pitchFamily="34" charset="-120"/>
              </a:rPr>
              <a:t>Airflow does not remove pipeline complexity — it organizes and controls it.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Use case</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One real-world use case for the whole deck</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Food delivery daily business analytics pipeline</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31520" y="1600200"/>
            <a:ext cx="891540" cy="685800"/>
          </a:xfrm>
          <a:prstGeom prst="roundRect">
            <a:avLst>
              <a:gd name="adj" fmla="val 10667"/>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Orders API</a:t>
            </a:r>
            <a:endParaRPr lang="en-US" sz="1250" dirty="0"/>
          </a:p>
        </p:txBody>
      </p:sp>
      <p:sp>
        <p:nvSpPr>
          <p:cNvPr id="11" name="Text 9"/>
          <p:cNvSpPr/>
          <p:nvPr/>
        </p:nvSpPr>
        <p:spPr>
          <a:xfrm>
            <a:off x="1723644"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080260" y="1600200"/>
            <a:ext cx="891540" cy="685800"/>
          </a:xfrm>
          <a:prstGeom prst="roundRect">
            <a:avLst>
              <a:gd name="adj" fmla="val 10667"/>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Payments DB</a:t>
            </a:r>
            <a:endParaRPr lang="en-US" sz="1250" dirty="0"/>
          </a:p>
        </p:txBody>
      </p:sp>
      <p:sp>
        <p:nvSpPr>
          <p:cNvPr id="13" name="Text 11"/>
          <p:cNvSpPr/>
          <p:nvPr/>
        </p:nvSpPr>
        <p:spPr>
          <a:xfrm>
            <a:off x="3072384"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3429000" y="1600200"/>
            <a:ext cx="891540" cy="685800"/>
          </a:xfrm>
          <a:prstGeom prst="roundRect">
            <a:avLst>
              <a:gd name="adj" fmla="val 10667"/>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Rider CSV</a:t>
            </a:r>
            <a:endParaRPr lang="en-US" sz="1250" dirty="0"/>
          </a:p>
        </p:txBody>
      </p:sp>
      <p:sp>
        <p:nvSpPr>
          <p:cNvPr id="15" name="Text 13"/>
          <p:cNvSpPr/>
          <p:nvPr/>
        </p:nvSpPr>
        <p:spPr>
          <a:xfrm>
            <a:off x="4421124"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4777740" y="1600200"/>
            <a:ext cx="891540" cy="685800"/>
          </a:xfrm>
          <a:prstGeom prst="roundRect">
            <a:avLst>
              <a:gd name="adj" fmla="val 10667"/>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Restaurant master</a:t>
            </a:r>
            <a:endParaRPr lang="en-US" sz="1250" dirty="0"/>
          </a:p>
        </p:txBody>
      </p:sp>
      <p:sp>
        <p:nvSpPr>
          <p:cNvPr id="17" name="Text 15"/>
          <p:cNvSpPr/>
          <p:nvPr/>
        </p:nvSpPr>
        <p:spPr>
          <a:xfrm>
            <a:off x="5806440" y="1783080"/>
            <a:ext cx="320040"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6263640" y="1417320"/>
            <a:ext cx="2240280" cy="1078992"/>
          </a:xfrm>
          <a:prstGeom prst="roundRect">
            <a:avLst>
              <a:gd name="adj" fmla="val 6780"/>
            </a:avLst>
          </a:prstGeom>
          <a:solidFill>
            <a:srgbClr val="38D9FF"/>
          </a:solidFill>
          <a:ln w="12700">
            <a:solidFill>
              <a:srgbClr val="38D9FF">
                <a:alpha val="0"/>
              </a:srgbClr>
            </a:solidFill>
          </a:ln>
        </p:spPr>
        <p:txBody>
          <a:bodyPr wrap="square" lIns="1016" tIns="1016" rIns="1016" bIns="1016" rtlCol="0" anchor="ctr">
            <a:normAutofit/>
          </a:bodyPr>
          <a:lstStyle/>
          <a:p>
            <a:pPr marL="0" indent="0" algn="ctr">
              <a:buNone/>
            </a:pPr>
            <a:r>
              <a:rPr lang="en-US" sz="1600" b="1" dirty="0">
                <a:solidFill>
                  <a:srgbClr val="071827"/>
                </a:solidFill>
              </a:rPr>
              <a:t>Airflow controls</a:t>
            </a:r>
            <a:endParaRPr lang="en-US" sz="1600" dirty="0"/>
          </a:p>
          <a:p>
            <a:pPr marL="0" indent="0" algn="ctr">
              <a:buNone/>
            </a:pPr>
            <a:r>
              <a:rPr lang="en-US" sz="1600" b="1" dirty="0">
                <a:solidFill>
                  <a:srgbClr val="071827"/>
                </a:solidFill>
              </a:rPr>
              <a:t>when and how each step runs</a:t>
            </a:r>
            <a:endParaRPr lang="en-US" sz="1600" dirty="0"/>
          </a:p>
        </p:txBody>
      </p:sp>
      <p:sp>
        <p:nvSpPr>
          <p:cNvPr id="19" name="Text 17"/>
          <p:cNvSpPr/>
          <p:nvPr/>
        </p:nvSpPr>
        <p:spPr>
          <a:xfrm>
            <a:off x="8732520" y="1783080"/>
            <a:ext cx="320040"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20" name="Text 18"/>
          <p:cNvSpPr/>
          <p:nvPr/>
        </p:nvSpPr>
        <p:spPr>
          <a:xfrm>
            <a:off x="9098280" y="1600200"/>
            <a:ext cx="240030" cy="685800"/>
          </a:xfrm>
          <a:prstGeom prst="roundRect">
            <a:avLst>
              <a:gd name="adj" fmla="val 30476"/>
            </a:avLst>
          </a:prstGeom>
          <a:solidFill>
            <a:srgbClr val="FF9F43"/>
          </a:solidFill>
          <a:ln w="12700">
            <a:solidFill>
              <a:srgbClr val="FF9F43">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Bronze</a:t>
            </a:r>
            <a:endParaRPr lang="en-US" sz="1250" dirty="0"/>
          </a:p>
        </p:txBody>
      </p:sp>
      <p:sp>
        <p:nvSpPr>
          <p:cNvPr id="21" name="Text 19"/>
          <p:cNvSpPr/>
          <p:nvPr/>
        </p:nvSpPr>
        <p:spPr>
          <a:xfrm>
            <a:off x="9438894"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22" name="Text 20"/>
          <p:cNvSpPr/>
          <p:nvPr/>
        </p:nvSpPr>
        <p:spPr>
          <a:xfrm>
            <a:off x="9795510" y="1600200"/>
            <a:ext cx="240030" cy="685800"/>
          </a:xfrm>
          <a:prstGeom prst="roundRect">
            <a:avLst>
              <a:gd name="adj" fmla="val 30476"/>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Silver</a:t>
            </a:r>
            <a:endParaRPr lang="en-US" sz="1250" dirty="0"/>
          </a:p>
        </p:txBody>
      </p:sp>
      <p:sp>
        <p:nvSpPr>
          <p:cNvPr id="23" name="Text 21"/>
          <p:cNvSpPr/>
          <p:nvPr/>
        </p:nvSpPr>
        <p:spPr>
          <a:xfrm>
            <a:off x="10136124"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24" name="Text 22"/>
          <p:cNvSpPr/>
          <p:nvPr/>
        </p:nvSpPr>
        <p:spPr>
          <a:xfrm>
            <a:off x="10492740" y="1600200"/>
            <a:ext cx="240030" cy="685800"/>
          </a:xfrm>
          <a:prstGeom prst="roundRect">
            <a:avLst>
              <a:gd name="adj" fmla="val 30476"/>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Gold</a:t>
            </a:r>
            <a:endParaRPr lang="en-US" sz="1250" dirty="0"/>
          </a:p>
        </p:txBody>
      </p:sp>
      <p:sp>
        <p:nvSpPr>
          <p:cNvPr id="25" name="Text 23"/>
          <p:cNvSpPr/>
          <p:nvPr/>
        </p:nvSpPr>
        <p:spPr>
          <a:xfrm>
            <a:off x="10833354"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26" name="Text 24"/>
          <p:cNvSpPr/>
          <p:nvPr/>
        </p:nvSpPr>
        <p:spPr>
          <a:xfrm>
            <a:off x="11189970" y="1600200"/>
            <a:ext cx="240030" cy="685800"/>
          </a:xfrm>
          <a:prstGeom prst="roundRect">
            <a:avLst>
              <a:gd name="adj" fmla="val 30476"/>
            </a:avLst>
          </a:prstGeom>
          <a:solidFill>
            <a:srgbClr val="B389FF"/>
          </a:solidFill>
          <a:ln w="12700">
            <a:solidFill>
              <a:srgbClr val="B389FF">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Dashboard</a:t>
            </a:r>
            <a:endParaRPr lang="en-US" sz="1250" dirty="0"/>
          </a:p>
        </p:txBody>
      </p:sp>
      <p:sp>
        <p:nvSpPr>
          <p:cNvPr id="27" name="Text 25"/>
          <p:cNvSpPr/>
          <p:nvPr/>
        </p:nvSpPr>
        <p:spPr>
          <a:xfrm>
            <a:off x="868680" y="3063240"/>
            <a:ext cx="5129784" cy="854964"/>
          </a:xfrm>
          <a:prstGeom prst="roundRect">
            <a:avLst>
              <a:gd name="adj" fmla="val 8556"/>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Business question: What happened yesterday?</a:t>
            </a:r>
            <a:endParaRPr lang="en-US" sz="1300" dirty="0"/>
          </a:p>
        </p:txBody>
      </p:sp>
      <p:sp>
        <p:nvSpPr>
          <p:cNvPr id="28" name="Text 26"/>
          <p:cNvSpPr/>
          <p:nvPr/>
        </p:nvSpPr>
        <p:spPr>
          <a:xfrm>
            <a:off x="6163056" y="3063240"/>
            <a:ext cx="5129784" cy="854964"/>
          </a:xfrm>
          <a:prstGeom prst="roundRect">
            <a:avLst>
              <a:gd name="adj" fmla="val 8556"/>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Pipeline target: daily city/category/order metrics</a:t>
            </a:r>
            <a:endParaRPr lang="en-US" sz="1300" dirty="0"/>
          </a:p>
        </p:txBody>
      </p:sp>
      <p:sp>
        <p:nvSpPr>
          <p:cNvPr id="29" name="Text 27"/>
          <p:cNvSpPr/>
          <p:nvPr/>
        </p:nvSpPr>
        <p:spPr>
          <a:xfrm>
            <a:off x="868680" y="4082796"/>
            <a:ext cx="5129784" cy="854964"/>
          </a:xfrm>
          <a:prstGeom prst="roundRect">
            <a:avLst>
              <a:gd name="adj" fmla="val 8556"/>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Data quality: reject missing order_id, negative amount</a:t>
            </a:r>
            <a:endParaRPr lang="en-US" sz="1300" dirty="0"/>
          </a:p>
        </p:txBody>
      </p:sp>
      <p:sp>
        <p:nvSpPr>
          <p:cNvPr id="30" name="Text 28"/>
          <p:cNvSpPr/>
          <p:nvPr/>
        </p:nvSpPr>
        <p:spPr>
          <a:xfrm>
            <a:off x="6163056" y="4082796"/>
            <a:ext cx="5129784" cy="854964"/>
          </a:xfrm>
          <a:prstGeom prst="roundRect">
            <a:avLst>
              <a:gd name="adj" fmla="val 8556"/>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Output: warehouse table + dashboard refresh + alert</a:t>
            </a:r>
            <a:endParaRPr lang="en-US" sz="1300" dirty="0"/>
          </a:p>
        </p:txBody>
      </p:sp>
      <p:sp>
        <p:nvSpPr>
          <p:cNvPr id="31" name="Text 29"/>
          <p:cNvSpPr/>
          <p:nvPr/>
        </p:nvSpPr>
        <p:spPr>
          <a:xfrm>
            <a:off x="868680" y="5532120"/>
            <a:ext cx="10424160" cy="320040"/>
          </a:xfrm>
          <a:prstGeom prst="rect">
            <a:avLst/>
          </a:prstGeom>
          <a:noFill/>
          <a:ln/>
        </p:spPr>
        <p:txBody>
          <a:bodyPr wrap="square" lIns="381" tIns="381" rIns="381" bIns="381" rtlCol="0" anchor="t">
            <a:normAutofit/>
          </a:bodyPr>
          <a:lstStyle/>
          <a:p>
            <a:pPr marL="0" indent="0" algn="ctr">
              <a:buNone/>
            </a:pPr>
            <a:r>
              <a:rPr lang="en-US" sz="1800" b="1" dirty="0">
                <a:solidFill>
                  <a:srgbClr val="FFD166"/>
                </a:solidFill>
                <a:latin typeface="Aptos" pitchFamily="34" charset="0"/>
                <a:ea typeface="Aptos" pitchFamily="34" charset="-122"/>
                <a:cs typeface="Aptos" pitchFamily="34" charset="-120"/>
              </a:rPr>
              <a:t>We start simple, then add Airflow concepts one by one.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Incremental implementation</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Increment 0: manual script pipeline</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It works for one day — but not for reliable daily operations</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640080" y="1554480"/>
            <a:ext cx="1828800" cy="960120"/>
          </a:xfrm>
          <a:prstGeom prst="roundRect">
            <a:avLst>
              <a:gd name="adj" fmla="val 7619"/>
            </a:avLst>
          </a:prstGeom>
          <a:solidFill>
            <a:srgbClr val="FF6B6B"/>
          </a:solidFill>
          <a:ln w="12700">
            <a:solidFill>
              <a:srgbClr val="FF6B6B">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extract_orders.py</a:t>
            </a:r>
            <a:endParaRPr lang="en-US" sz="1250" dirty="0"/>
          </a:p>
        </p:txBody>
      </p:sp>
      <p:sp>
        <p:nvSpPr>
          <p:cNvPr id="11" name="Text 9"/>
          <p:cNvSpPr/>
          <p:nvPr/>
        </p:nvSpPr>
        <p:spPr>
          <a:xfrm>
            <a:off x="2569464" y="18973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26080" y="1554480"/>
            <a:ext cx="1828800" cy="960120"/>
          </a:xfrm>
          <a:prstGeom prst="roundRect">
            <a:avLst>
              <a:gd name="adj" fmla="val 7619"/>
            </a:avLst>
          </a:prstGeom>
          <a:solidFill>
            <a:srgbClr val="FF9F43"/>
          </a:solidFill>
          <a:ln w="12700">
            <a:solidFill>
              <a:srgbClr val="FF9F43">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validate_orders.py</a:t>
            </a:r>
            <a:endParaRPr lang="en-US" sz="1250" dirty="0"/>
          </a:p>
        </p:txBody>
      </p:sp>
      <p:sp>
        <p:nvSpPr>
          <p:cNvPr id="13" name="Text 11"/>
          <p:cNvSpPr/>
          <p:nvPr/>
        </p:nvSpPr>
        <p:spPr>
          <a:xfrm>
            <a:off x="4855464" y="18973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212080" y="1554480"/>
            <a:ext cx="1828800" cy="960120"/>
          </a:xfrm>
          <a:prstGeom prst="roundRect">
            <a:avLst>
              <a:gd name="adj" fmla="val 7619"/>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transform_metrics.py</a:t>
            </a:r>
            <a:endParaRPr lang="en-US" sz="1250" dirty="0"/>
          </a:p>
        </p:txBody>
      </p:sp>
      <p:sp>
        <p:nvSpPr>
          <p:cNvPr id="15" name="Text 13"/>
          <p:cNvSpPr/>
          <p:nvPr/>
        </p:nvSpPr>
        <p:spPr>
          <a:xfrm>
            <a:off x="7141464" y="18973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498080" y="1554480"/>
            <a:ext cx="1828800" cy="960120"/>
          </a:xfrm>
          <a:prstGeom prst="roundRect">
            <a:avLst>
              <a:gd name="adj" fmla="val 7619"/>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load_warehouse.py</a:t>
            </a:r>
            <a:endParaRPr lang="en-US" sz="1250" dirty="0"/>
          </a:p>
        </p:txBody>
      </p:sp>
      <p:sp>
        <p:nvSpPr>
          <p:cNvPr id="17" name="Text 15"/>
          <p:cNvSpPr/>
          <p:nvPr/>
        </p:nvSpPr>
        <p:spPr>
          <a:xfrm>
            <a:off x="9427464" y="18973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784080" y="1554480"/>
            <a:ext cx="1828800" cy="960120"/>
          </a:xfrm>
          <a:prstGeom prst="roundRect">
            <a:avLst>
              <a:gd name="adj" fmla="val 761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send_email.py</a:t>
            </a:r>
            <a:endParaRPr lang="en-US" sz="1250" dirty="0"/>
          </a:p>
        </p:txBody>
      </p:sp>
      <p:sp>
        <p:nvSpPr>
          <p:cNvPr id="19" name="Text 17"/>
          <p:cNvSpPr/>
          <p:nvPr/>
        </p:nvSpPr>
        <p:spPr>
          <a:xfrm>
            <a:off x="868680" y="2971800"/>
            <a:ext cx="2482596" cy="1508760"/>
          </a:xfrm>
          <a:prstGeom prst="roundRect">
            <a:avLst>
              <a:gd name="adj" fmla="val 4848"/>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Run order must be remembered</a:t>
            </a:r>
            <a:endParaRPr lang="en-US" sz="1300" dirty="0"/>
          </a:p>
        </p:txBody>
      </p:sp>
      <p:sp>
        <p:nvSpPr>
          <p:cNvPr id="20" name="Text 18"/>
          <p:cNvSpPr/>
          <p:nvPr/>
        </p:nvSpPr>
        <p:spPr>
          <a:xfrm>
            <a:off x="3515868" y="2971800"/>
            <a:ext cx="2482596" cy="1508760"/>
          </a:xfrm>
          <a:prstGeom prst="roundRect">
            <a:avLst>
              <a:gd name="adj" fmla="val 4848"/>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Logs are in separate terminals/files</a:t>
            </a:r>
            <a:endParaRPr lang="en-US" sz="1300" dirty="0"/>
          </a:p>
        </p:txBody>
      </p:sp>
      <p:sp>
        <p:nvSpPr>
          <p:cNvPr id="21" name="Text 19"/>
          <p:cNvSpPr/>
          <p:nvPr/>
        </p:nvSpPr>
        <p:spPr>
          <a:xfrm>
            <a:off x="6163056" y="2971800"/>
            <a:ext cx="2482596" cy="1508760"/>
          </a:xfrm>
          <a:prstGeom prst="roundRect">
            <a:avLst>
              <a:gd name="adj" fmla="val 4848"/>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One failure can stop everything silently</a:t>
            </a:r>
            <a:endParaRPr lang="en-US" sz="1300" dirty="0"/>
          </a:p>
        </p:txBody>
      </p:sp>
      <p:sp>
        <p:nvSpPr>
          <p:cNvPr id="22" name="Text 20"/>
          <p:cNvSpPr/>
          <p:nvPr/>
        </p:nvSpPr>
        <p:spPr>
          <a:xfrm>
            <a:off x="8810244" y="2971800"/>
            <a:ext cx="2482596" cy="1508760"/>
          </a:xfrm>
          <a:prstGeom prst="roundRect">
            <a:avLst>
              <a:gd name="adj" fmla="val 4848"/>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Rerun may duplicate yesterday’s data</a:t>
            </a:r>
            <a:endParaRPr lang="en-US" sz="1300" dirty="0"/>
          </a:p>
        </p:txBody>
      </p:sp>
      <p:sp>
        <p:nvSpPr>
          <p:cNvPr id="23" name="Text 21"/>
          <p:cNvSpPr/>
          <p:nvPr/>
        </p:nvSpPr>
        <p:spPr>
          <a:xfrm>
            <a:off x="868680" y="5166360"/>
            <a:ext cx="10424160" cy="411480"/>
          </a:xfrm>
          <a:prstGeom prst="rect">
            <a:avLst/>
          </a:prstGeom>
          <a:noFill/>
          <a:ln/>
        </p:spPr>
        <p:txBody>
          <a:bodyPr wrap="square" lIns="381" tIns="381" rIns="381" bIns="381" rtlCol="0" anchor="t">
            <a:normAutofit/>
          </a:bodyPr>
          <a:lstStyle/>
          <a:p>
            <a:pPr marL="0" indent="0" algn="ctr">
              <a:buNone/>
            </a:pPr>
            <a:r>
              <a:rPr lang="en-US" sz="1600" b="1" dirty="0">
                <a:solidFill>
                  <a:srgbClr val="38D9FF"/>
                </a:solidFill>
                <a:latin typeface="Aptos" pitchFamily="34" charset="0"/>
                <a:ea typeface="Aptos" pitchFamily="34" charset="-122"/>
                <a:cs typeface="Aptos" pitchFamily="34" charset="-120"/>
              </a:rPr>
              <a:t>Manual command example: python extract_orders.py &amp;&amp; python validate_orders.py &amp;&amp; python transform_metrics.py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DAGs</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Increment 1: convert the manual flow into a DAG</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A DAG makes the order visible and enforceable</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31520" y="1463040"/>
            <a:ext cx="2331720" cy="960120"/>
          </a:xfrm>
          <a:prstGeom prst="roundRect">
            <a:avLst>
              <a:gd name="adj" fmla="val 7619"/>
            </a:avLst>
          </a:prstGeom>
          <a:solidFill>
            <a:srgbClr val="38D9FF"/>
          </a:solidFill>
          <a:ln w="12700">
            <a:solidFill>
              <a:srgbClr val="38D9FF">
                <a:alpha val="0"/>
              </a:srgbClr>
            </a:solidFill>
          </a:ln>
        </p:spPr>
        <p:txBody>
          <a:bodyPr wrap="square" lIns="1016" tIns="1016" rIns="1016" bIns="1016" rtlCol="0" anchor="ctr">
            <a:normAutofit/>
          </a:bodyPr>
          <a:lstStyle/>
          <a:p>
            <a:pPr marL="0" indent="0" algn="ctr">
              <a:buNone/>
            </a:pPr>
            <a:r>
              <a:rPr lang="en-US" sz="1700" b="1" dirty="0">
                <a:solidFill>
                  <a:srgbClr val="071827"/>
                </a:solidFill>
              </a:rPr>
              <a:t>DAG</a:t>
            </a:r>
            <a:endParaRPr lang="en-US" sz="1700" dirty="0"/>
          </a:p>
          <a:p>
            <a:pPr marL="0" indent="0" algn="ctr">
              <a:buNone/>
            </a:pPr>
            <a:r>
              <a:rPr lang="en-US" sz="1700" b="1" dirty="0">
                <a:solidFill>
                  <a:srgbClr val="071827"/>
                </a:solidFill>
              </a:rPr>
              <a:t>Directed Acyclic Graph</a:t>
            </a:r>
            <a:endParaRPr lang="en-US" sz="1700" dirty="0"/>
          </a:p>
        </p:txBody>
      </p:sp>
      <p:sp>
        <p:nvSpPr>
          <p:cNvPr id="11" name="Text 9"/>
          <p:cNvSpPr/>
          <p:nvPr/>
        </p:nvSpPr>
        <p:spPr>
          <a:xfrm>
            <a:off x="3474720" y="1581912"/>
            <a:ext cx="1188720" cy="731520"/>
          </a:xfrm>
          <a:prstGeom prst="roundRect">
            <a:avLst>
              <a:gd name="adj" fmla="val 10000"/>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extract</a:t>
            </a:r>
            <a:endParaRPr lang="en-US" sz="1250" dirty="0"/>
          </a:p>
        </p:txBody>
      </p:sp>
      <p:sp>
        <p:nvSpPr>
          <p:cNvPr id="12" name="Text 10"/>
          <p:cNvSpPr/>
          <p:nvPr/>
        </p:nvSpPr>
        <p:spPr>
          <a:xfrm>
            <a:off x="4764024" y="1810512"/>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3" name="Text 11"/>
          <p:cNvSpPr/>
          <p:nvPr/>
        </p:nvSpPr>
        <p:spPr>
          <a:xfrm>
            <a:off x="5120640" y="1581912"/>
            <a:ext cx="1188720" cy="731520"/>
          </a:xfrm>
          <a:prstGeom prst="roundRect">
            <a:avLst>
              <a:gd name="adj" fmla="val 10000"/>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validate</a:t>
            </a:r>
            <a:endParaRPr lang="en-US" sz="1250" dirty="0"/>
          </a:p>
        </p:txBody>
      </p:sp>
      <p:sp>
        <p:nvSpPr>
          <p:cNvPr id="14" name="Text 12"/>
          <p:cNvSpPr/>
          <p:nvPr/>
        </p:nvSpPr>
        <p:spPr>
          <a:xfrm>
            <a:off x="6409944" y="1810512"/>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5" name="Text 13"/>
          <p:cNvSpPr/>
          <p:nvPr/>
        </p:nvSpPr>
        <p:spPr>
          <a:xfrm>
            <a:off x="6766560" y="1581912"/>
            <a:ext cx="1188720" cy="731520"/>
          </a:xfrm>
          <a:prstGeom prst="roundRect">
            <a:avLst>
              <a:gd name="adj" fmla="val 10000"/>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transform</a:t>
            </a:r>
            <a:endParaRPr lang="en-US" sz="1250" dirty="0"/>
          </a:p>
        </p:txBody>
      </p:sp>
      <p:sp>
        <p:nvSpPr>
          <p:cNvPr id="16" name="Text 14"/>
          <p:cNvSpPr/>
          <p:nvPr/>
        </p:nvSpPr>
        <p:spPr>
          <a:xfrm>
            <a:off x="8055864" y="1810512"/>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7" name="Text 15"/>
          <p:cNvSpPr/>
          <p:nvPr/>
        </p:nvSpPr>
        <p:spPr>
          <a:xfrm>
            <a:off x="8412480" y="1581912"/>
            <a:ext cx="1188720" cy="731520"/>
          </a:xfrm>
          <a:prstGeom prst="roundRect">
            <a:avLst>
              <a:gd name="adj" fmla="val 10000"/>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load</a:t>
            </a:r>
            <a:endParaRPr lang="en-US" sz="1250" dirty="0"/>
          </a:p>
        </p:txBody>
      </p:sp>
      <p:sp>
        <p:nvSpPr>
          <p:cNvPr id="18" name="Text 16"/>
          <p:cNvSpPr/>
          <p:nvPr/>
        </p:nvSpPr>
        <p:spPr>
          <a:xfrm>
            <a:off x="9701784" y="1810512"/>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9" name="Text 17"/>
          <p:cNvSpPr/>
          <p:nvPr/>
        </p:nvSpPr>
        <p:spPr>
          <a:xfrm>
            <a:off x="10058400" y="1581912"/>
            <a:ext cx="1188720" cy="731520"/>
          </a:xfrm>
          <a:prstGeom prst="roundRect">
            <a:avLst>
              <a:gd name="adj" fmla="val 10000"/>
            </a:avLst>
          </a:prstGeom>
          <a:solidFill>
            <a:srgbClr val="B389FF"/>
          </a:solidFill>
          <a:ln w="12700">
            <a:solidFill>
              <a:srgbClr val="B389FF">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notify</a:t>
            </a:r>
            <a:endParaRPr lang="en-US" sz="1250" dirty="0"/>
          </a:p>
        </p:txBody>
      </p:sp>
      <p:sp>
        <p:nvSpPr>
          <p:cNvPr id="20" name="Text 18"/>
          <p:cNvSpPr/>
          <p:nvPr/>
        </p:nvSpPr>
        <p:spPr>
          <a:xfrm>
            <a:off x="868680" y="2971800"/>
            <a:ext cx="5106924" cy="877824"/>
          </a:xfrm>
          <a:prstGeom prst="roundRect">
            <a:avLst>
              <a:gd name="adj" fmla="val 8333"/>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Directed: flow has a direction</a:t>
            </a:r>
            <a:endParaRPr lang="en-US" sz="1300" dirty="0"/>
          </a:p>
        </p:txBody>
      </p:sp>
      <p:sp>
        <p:nvSpPr>
          <p:cNvPr id="21" name="Text 19"/>
          <p:cNvSpPr/>
          <p:nvPr/>
        </p:nvSpPr>
        <p:spPr>
          <a:xfrm>
            <a:off x="6140196" y="2971800"/>
            <a:ext cx="5106924" cy="877824"/>
          </a:xfrm>
          <a:prstGeom prst="roundRect">
            <a:avLst>
              <a:gd name="adj" fmla="val 8333"/>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Acyclic: no circular loop</a:t>
            </a:r>
            <a:endParaRPr lang="en-US" sz="1300" dirty="0"/>
          </a:p>
        </p:txBody>
      </p:sp>
      <p:sp>
        <p:nvSpPr>
          <p:cNvPr id="22" name="Text 20"/>
          <p:cNvSpPr/>
          <p:nvPr/>
        </p:nvSpPr>
        <p:spPr>
          <a:xfrm>
            <a:off x="868680" y="4014216"/>
            <a:ext cx="5106924" cy="877824"/>
          </a:xfrm>
          <a:prstGeom prst="roundRect">
            <a:avLst>
              <a:gd name="adj" fmla="val 8333"/>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Graph: tasks connected by dependencies</a:t>
            </a:r>
            <a:endParaRPr lang="en-US" sz="1300" dirty="0"/>
          </a:p>
        </p:txBody>
      </p:sp>
      <p:sp>
        <p:nvSpPr>
          <p:cNvPr id="23" name="Text 21"/>
          <p:cNvSpPr/>
          <p:nvPr/>
        </p:nvSpPr>
        <p:spPr>
          <a:xfrm>
            <a:off x="6140196" y="4014216"/>
            <a:ext cx="5106924" cy="877824"/>
          </a:xfrm>
          <a:prstGeom prst="roundRect">
            <a:avLst>
              <a:gd name="adj" fmla="val 8333"/>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Airflow DAG: workflow definition with schedule, tasks, dependencies, retries</a:t>
            </a:r>
            <a:endParaRPr lang="en-US" sz="1300" dirty="0"/>
          </a:p>
        </p:txBody>
      </p:sp>
      <p:sp>
        <p:nvSpPr>
          <p:cNvPr id="24" name="Text 22"/>
          <p:cNvSpPr/>
          <p:nvPr/>
        </p:nvSpPr>
        <p:spPr>
          <a:xfrm>
            <a:off x="868680" y="5532120"/>
            <a:ext cx="10378440" cy="320040"/>
          </a:xfrm>
          <a:prstGeom prst="rect">
            <a:avLst/>
          </a:prstGeom>
          <a:noFill/>
          <a:ln/>
        </p:spPr>
        <p:txBody>
          <a:bodyPr wrap="square" lIns="381" tIns="381" rIns="381" bIns="381" rtlCol="0" anchor="t">
            <a:normAutofit/>
          </a:bodyPr>
          <a:lstStyle/>
          <a:p>
            <a:pPr marL="0" indent="0" algn="ctr">
              <a:buNone/>
            </a:pPr>
            <a:r>
              <a:rPr lang="en-US" sz="1700" b="1" dirty="0">
                <a:solidFill>
                  <a:srgbClr val="46E6A9"/>
                </a:solidFill>
                <a:latin typeface="Aptos" pitchFamily="34" charset="0"/>
                <a:ea typeface="Aptos" pitchFamily="34" charset="-122"/>
                <a:cs typeface="Aptos" pitchFamily="34" charset="-120"/>
              </a:rPr>
              <a:t>Dependency syntax idea: extract &gt;&gt; validate &gt;&gt; transform &gt;&gt; load &gt;&gt; notify</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DAGs</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DAG deep dive</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A DAG is more than a diagram — it is the pipeline contract</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353312"/>
            <a:ext cx="3425952" cy="1472184"/>
          </a:xfrm>
          <a:prstGeom prst="roundRect">
            <a:avLst>
              <a:gd name="adj" fmla="val 4969"/>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dag_id</a:t>
            </a:r>
            <a:endParaRPr lang="en-US" sz="1300" dirty="0"/>
          </a:p>
          <a:p>
            <a:pPr marL="0" indent="0" algn="l">
              <a:buNone/>
            </a:pPr>
            <a:r>
              <a:rPr lang="en-US" sz="1300" b="1" dirty="0">
                <a:solidFill>
                  <a:srgbClr val="F8FAFC"/>
                </a:solidFill>
              </a:rPr>
              <a:t>Unique workflow name</a:t>
            </a:r>
            <a:endParaRPr lang="en-US" sz="1300" dirty="0"/>
          </a:p>
        </p:txBody>
      </p:sp>
      <p:sp>
        <p:nvSpPr>
          <p:cNvPr id="11" name="Text 9"/>
          <p:cNvSpPr/>
          <p:nvPr/>
        </p:nvSpPr>
        <p:spPr>
          <a:xfrm>
            <a:off x="4367784" y="1353312"/>
            <a:ext cx="3425952" cy="1472184"/>
          </a:xfrm>
          <a:prstGeom prst="roundRect">
            <a:avLst>
              <a:gd name="adj" fmla="val 4969"/>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schedule</a:t>
            </a:r>
            <a:endParaRPr lang="en-US" sz="1300" dirty="0"/>
          </a:p>
          <a:p>
            <a:pPr marL="0" indent="0" algn="l">
              <a:buNone/>
            </a:pPr>
            <a:r>
              <a:rPr lang="en-US" sz="1300" b="1" dirty="0">
                <a:solidFill>
                  <a:srgbClr val="F8FAFC"/>
                </a:solidFill>
              </a:rPr>
              <a:t>When the workflow should run</a:t>
            </a:r>
            <a:endParaRPr lang="en-US" sz="1300" dirty="0"/>
          </a:p>
        </p:txBody>
      </p:sp>
      <p:sp>
        <p:nvSpPr>
          <p:cNvPr id="12" name="Text 10"/>
          <p:cNvSpPr/>
          <p:nvPr/>
        </p:nvSpPr>
        <p:spPr>
          <a:xfrm>
            <a:off x="7958328" y="1353312"/>
            <a:ext cx="3425952" cy="1472184"/>
          </a:xfrm>
          <a:prstGeom prst="roundRect">
            <a:avLst>
              <a:gd name="adj" fmla="val 4969"/>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start_date</a:t>
            </a:r>
            <a:endParaRPr lang="en-US" sz="1300" dirty="0"/>
          </a:p>
          <a:p>
            <a:pPr marL="0" indent="0" algn="l">
              <a:buNone/>
            </a:pPr>
            <a:r>
              <a:rPr lang="en-US" sz="1300" b="1" dirty="0">
                <a:solidFill>
                  <a:srgbClr val="F8FAFC"/>
                </a:solidFill>
              </a:rPr>
              <a:t>First logical data interval</a:t>
            </a:r>
            <a:endParaRPr lang="en-US" sz="1300" dirty="0"/>
          </a:p>
        </p:txBody>
      </p:sp>
      <p:sp>
        <p:nvSpPr>
          <p:cNvPr id="13" name="Text 11"/>
          <p:cNvSpPr/>
          <p:nvPr/>
        </p:nvSpPr>
        <p:spPr>
          <a:xfrm>
            <a:off x="777240" y="2990088"/>
            <a:ext cx="3425952" cy="1472184"/>
          </a:xfrm>
          <a:prstGeom prst="roundRect">
            <a:avLst>
              <a:gd name="adj" fmla="val 4969"/>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catchup</a:t>
            </a:r>
            <a:endParaRPr lang="en-US" sz="1300" dirty="0"/>
          </a:p>
          <a:p>
            <a:pPr marL="0" indent="0" algn="l">
              <a:buNone/>
            </a:pPr>
            <a:r>
              <a:rPr lang="en-US" sz="1300" b="1" dirty="0">
                <a:solidFill>
                  <a:srgbClr val="F8FAFC"/>
                </a:solidFill>
              </a:rPr>
              <a:t>Whether to create historical runs</a:t>
            </a:r>
            <a:endParaRPr lang="en-US" sz="1300" dirty="0"/>
          </a:p>
        </p:txBody>
      </p:sp>
      <p:sp>
        <p:nvSpPr>
          <p:cNvPr id="14" name="Text 12"/>
          <p:cNvSpPr/>
          <p:nvPr/>
        </p:nvSpPr>
        <p:spPr>
          <a:xfrm>
            <a:off x="4367784" y="2990088"/>
            <a:ext cx="3425952" cy="1472184"/>
          </a:xfrm>
          <a:prstGeom prst="roundRect">
            <a:avLst>
              <a:gd name="adj" fmla="val 4969"/>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default_args</a:t>
            </a:r>
            <a:endParaRPr lang="en-US" sz="1300" dirty="0"/>
          </a:p>
          <a:p>
            <a:pPr marL="0" indent="0" algn="l">
              <a:buNone/>
            </a:pPr>
            <a:r>
              <a:rPr lang="en-US" sz="1300" b="1" dirty="0">
                <a:solidFill>
                  <a:srgbClr val="F8FAFC"/>
                </a:solidFill>
              </a:rPr>
              <a:t>Retries, owner, email, timeout</a:t>
            </a:r>
            <a:endParaRPr lang="en-US" sz="1300" dirty="0"/>
          </a:p>
        </p:txBody>
      </p:sp>
      <p:sp>
        <p:nvSpPr>
          <p:cNvPr id="15" name="Text 13"/>
          <p:cNvSpPr/>
          <p:nvPr/>
        </p:nvSpPr>
        <p:spPr>
          <a:xfrm>
            <a:off x="7958328" y="2990088"/>
            <a:ext cx="3425952" cy="1472184"/>
          </a:xfrm>
          <a:prstGeom prst="roundRect">
            <a:avLst>
              <a:gd name="adj" fmla="val 4969"/>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tags / docs</a:t>
            </a:r>
            <a:endParaRPr lang="en-US" sz="1300" dirty="0"/>
          </a:p>
          <a:p>
            <a:pPr marL="0" indent="0" algn="l">
              <a:buNone/>
            </a:pPr>
            <a:r>
              <a:rPr lang="en-US" sz="1300" b="1" dirty="0">
                <a:solidFill>
                  <a:srgbClr val="F8FAFC"/>
                </a:solidFill>
              </a:rPr>
              <a:t>Make the DAG searchable and explainable</a:t>
            </a:r>
            <a:endParaRPr lang="en-US" sz="1300" dirty="0"/>
          </a:p>
        </p:txBody>
      </p:sp>
      <p:sp>
        <p:nvSpPr>
          <p:cNvPr id="16" name="Text 14"/>
          <p:cNvSpPr/>
          <p:nvPr/>
        </p:nvSpPr>
        <p:spPr>
          <a:xfrm>
            <a:off x="1005840" y="4892040"/>
            <a:ext cx="4846320" cy="914400"/>
          </a:xfrm>
          <a:prstGeom prst="roundRect">
            <a:avLst>
              <a:gd name="adj" fmla="val 8000"/>
            </a:avLst>
          </a:prstGeom>
          <a:solidFill>
            <a:srgbClr val="0B2338"/>
          </a:solidFill>
          <a:ln w="12700">
            <a:solidFill>
              <a:srgbClr val="38D9FF">
                <a:alpha val="0"/>
              </a:srgbClr>
            </a:solidFill>
          </a:ln>
        </p:spPr>
        <p:txBody>
          <a:bodyPr wrap="square" lIns="1016" tIns="1016" rIns="1016" bIns="1016" rtlCol="0" anchor="ctr">
            <a:normAutofit/>
          </a:bodyPr>
          <a:lstStyle/>
          <a:p>
            <a:pPr marL="0" indent="0" algn="ctr">
              <a:buNone/>
            </a:pPr>
            <a:r>
              <a:rPr lang="en-US" sz="1500" b="1" dirty="0">
                <a:solidFill>
                  <a:srgbClr val="38D9FF"/>
                </a:solidFill>
              </a:rPr>
              <a:t>Example daily report DAG</a:t>
            </a:r>
            <a:endParaRPr lang="en-US" sz="1500" dirty="0"/>
          </a:p>
          <a:p>
            <a:pPr marL="0" indent="0" algn="ctr">
              <a:buNone/>
            </a:pPr>
            <a:r>
              <a:rPr lang="en-US" sz="1500" b="1" dirty="0">
                <a:solidFill>
                  <a:srgbClr val="38D9FF"/>
                </a:solidFill>
              </a:rPr>
              <a:t>dag_id = food_delivery_daily_metrics</a:t>
            </a:r>
            <a:endParaRPr lang="en-US" sz="1500" dirty="0"/>
          </a:p>
          <a:p>
            <a:pPr marL="0" indent="0" algn="ctr">
              <a:buNone/>
            </a:pPr>
            <a:r>
              <a:rPr lang="en-US" sz="1500" b="1" dirty="0">
                <a:solidFill>
                  <a:srgbClr val="38D9FF"/>
                </a:solidFill>
              </a:rPr>
              <a:t>schedule = 0 1 * * *</a:t>
            </a:r>
            <a:endParaRPr lang="en-US" sz="1500" dirty="0"/>
          </a:p>
          <a:p>
            <a:pPr marL="0" indent="0" algn="ctr">
              <a:buNone/>
            </a:pPr>
            <a:r>
              <a:rPr lang="en-US" sz="1500" b="1" dirty="0">
                <a:solidFill>
                  <a:srgbClr val="38D9FF"/>
                </a:solidFill>
              </a:rPr>
              <a:t>catchup = False</a:t>
            </a:r>
            <a:endParaRPr lang="en-US" sz="1500" dirty="0"/>
          </a:p>
        </p:txBody>
      </p:sp>
      <p:sp>
        <p:nvSpPr>
          <p:cNvPr id="17" name="Text 15"/>
          <p:cNvSpPr/>
          <p:nvPr/>
        </p:nvSpPr>
        <p:spPr>
          <a:xfrm>
            <a:off x="6309360" y="4892040"/>
            <a:ext cx="4846320" cy="914400"/>
          </a:xfrm>
          <a:prstGeom prst="roundRect">
            <a:avLst>
              <a:gd name="adj" fmla="val 8000"/>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500" b="1" dirty="0">
                <a:solidFill>
                  <a:srgbClr val="071827"/>
                </a:solidFill>
              </a:rPr>
              <a:t>Outcome</a:t>
            </a:r>
            <a:endParaRPr lang="en-US" sz="1500" dirty="0"/>
          </a:p>
          <a:p>
            <a:pPr marL="0" indent="0" algn="ctr">
              <a:buNone/>
            </a:pPr>
            <a:r>
              <a:rPr lang="en-US" sz="1500" b="1" dirty="0">
                <a:solidFill>
                  <a:srgbClr val="071827"/>
                </a:solidFill>
              </a:rPr>
              <a:t>Every day after data is expected to be ready, Airflow creates one DAG run and coordinates all tasks.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Tasks</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Tasks: the smallest executable unit</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Every business step becomes an observable unit of work</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822960" y="1572768"/>
            <a:ext cx="1719072" cy="777240"/>
          </a:xfrm>
          <a:prstGeom prst="roundRect">
            <a:avLst>
              <a:gd name="adj" fmla="val 9412"/>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none</a:t>
            </a:r>
            <a:endParaRPr lang="en-US" sz="1250" dirty="0"/>
          </a:p>
        </p:txBody>
      </p:sp>
      <p:sp>
        <p:nvSpPr>
          <p:cNvPr id="11" name="Text 9"/>
          <p:cNvSpPr/>
          <p:nvPr/>
        </p:nvSpPr>
        <p:spPr>
          <a:xfrm>
            <a:off x="2642616" y="1824228"/>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99232" y="1572768"/>
            <a:ext cx="1719072" cy="777240"/>
          </a:xfrm>
          <a:prstGeom prst="roundRect">
            <a:avLst>
              <a:gd name="adj" fmla="val 9412"/>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scheduled</a:t>
            </a:r>
            <a:endParaRPr lang="en-US" sz="1250" dirty="0"/>
          </a:p>
        </p:txBody>
      </p:sp>
      <p:sp>
        <p:nvSpPr>
          <p:cNvPr id="13" name="Text 11"/>
          <p:cNvSpPr/>
          <p:nvPr/>
        </p:nvSpPr>
        <p:spPr>
          <a:xfrm>
            <a:off x="4818888" y="1824228"/>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175504" y="1572768"/>
            <a:ext cx="1719072" cy="777240"/>
          </a:xfrm>
          <a:prstGeom prst="roundRect">
            <a:avLst>
              <a:gd name="adj" fmla="val 9412"/>
            </a:avLst>
          </a:prstGeom>
          <a:solidFill>
            <a:srgbClr val="00A9E0"/>
          </a:solidFill>
          <a:ln w="12700">
            <a:solidFill>
              <a:srgbClr val="00A9E0">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queued</a:t>
            </a:r>
            <a:endParaRPr lang="en-US" sz="1250" dirty="0"/>
          </a:p>
        </p:txBody>
      </p:sp>
      <p:sp>
        <p:nvSpPr>
          <p:cNvPr id="15" name="Text 13"/>
          <p:cNvSpPr/>
          <p:nvPr/>
        </p:nvSpPr>
        <p:spPr>
          <a:xfrm>
            <a:off x="6995160" y="1824228"/>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351776" y="1572768"/>
            <a:ext cx="1719072" cy="777240"/>
          </a:xfrm>
          <a:prstGeom prst="roundRect">
            <a:avLst>
              <a:gd name="adj" fmla="val 9412"/>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running</a:t>
            </a:r>
            <a:endParaRPr lang="en-US" sz="1250" dirty="0"/>
          </a:p>
        </p:txBody>
      </p:sp>
      <p:sp>
        <p:nvSpPr>
          <p:cNvPr id="17" name="Text 15"/>
          <p:cNvSpPr/>
          <p:nvPr/>
        </p:nvSpPr>
        <p:spPr>
          <a:xfrm>
            <a:off x="9171432" y="1824228"/>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528048" y="1572768"/>
            <a:ext cx="1719072" cy="777240"/>
          </a:xfrm>
          <a:prstGeom prst="roundRect">
            <a:avLst>
              <a:gd name="adj" fmla="val 9412"/>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success / failed</a:t>
            </a:r>
            <a:endParaRPr lang="en-US" sz="1250" dirty="0"/>
          </a:p>
        </p:txBody>
      </p:sp>
      <p:sp>
        <p:nvSpPr>
          <p:cNvPr id="19" name="Text 17"/>
          <p:cNvSpPr/>
          <p:nvPr/>
        </p:nvSpPr>
        <p:spPr>
          <a:xfrm>
            <a:off x="868680" y="2788920"/>
            <a:ext cx="2482596" cy="1554480"/>
          </a:xfrm>
          <a:prstGeom prst="roundRect">
            <a:avLst>
              <a:gd name="adj" fmla="val 4706"/>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Task = one unit of work inside a DAG</a:t>
            </a:r>
            <a:endParaRPr lang="en-US" sz="1300" dirty="0"/>
          </a:p>
        </p:txBody>
      </p:sp>
      <p:sp>
        <p:nvSpPr>
          <p:cNvPr id="20" name="Text 18"/>
          <p:cNvSpPr/>
          <p:nvPr/>
        </p:nvSpPr>
        <p:spPr>
          <a:xfrm>
            <a:off x="3515868" y="2788920"/>
            <a:ext cx="2482596" cy="1554480"/>
          </a:xfrm>
          <a:prstGeom prst="roundRect">
            <a:avLst>
              <a:gd name="adj" fmla="val 4706"/>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Task Instance = one task for one specific DAG run</a:t>
            </a:r>
            <a:endParaRPr lang="en-US" sz="1300" dirty="0"/>
          </a:p>
        </p:txBody>
      </p:sp>
      <p:sp>
        <p:nvSpPr>
          <p:cNvPr id="21" name="Text 19"/>
          <p:cNvSpPr/>
          <p:nvPr/>
        </p:nvSpPr>
        <p:spPr>
          <a:xfrm>
            <a:off x="6163056" y="2788920"/>
            <a:ext cx="2482596" cy="1554480"/>
          </a:xfrm>
          <a:prstGeom prst="roundRect">
            <a:avLst>
              <a:gd name="adj" fmla="val 4706"/>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Each task has state, logs, duration, retries</a:t>
            </a:r>
            <a:endParaRPr lang="en-US" sz="1300" dirty="0"/>
          </a:p>
        </p:txBody>
      </p:sp>
      <p:sp>
        <p:nvSpPr>
          <p:cNvPr id="22" name="Text 20"/>
          <p:cNvSpPr/>
          <p:nvPr/>
        </p:nvSpPr>
        <p:spPr>
          <a:xfrm>
            <a:off x="8810244" y="2788920"/>
            <a:ext cx="2482596" cy="1554480"/>
          </a:xfrm>
          <a:prstGeom prst="roundRect">
            <a:avLst>
              <a:gd name="adj" fmla="val 4706"/>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Tasks should be small enough to retry safely</a:t>
            </a:r>
            <a:endParaRPr lang="en-US" sz="1300" dirty="0"/>
          </a:p>
        </p:txBody>
      </p:sp>
      <p:sp>
        <p:nvSpPr>
          <p:cNvPr id="23" name="Text 21"/>
          <p:cNvSpPr/>
          <p:nvPr/>
        </p:nvSpPr>
        <p:spPr>
          <a:xfrm>
            <a:off x="1097280" y="4983480"/>
            <a:ext cx="9875520" cy="685800"/>
          </a:xfrm>
          <a:prstGeom prst="roundRect">
            <a:avLst>
              <a:gd name="adj" fmla="val 10667"/>
            </a:avLst>
          </a:prstGeom>
          <a:solidFill>
            <a:srgbClr val="0B2338"/>
          </a:solidFill>
          <a:ln w="12700">
            <a:solidFill>
              <a:srgbClr val="38D9FF">
                <a:alpha val="0"/>
              </a:srgbClr>
            </a:solidFill>
          </a:ln>
        </p:spPr>
        <p:txBody>
          <a:bodyPr wrap="square" lIns="1016" tIns="1016" rIns="1016" bIns="1016" rtlCol="0" anchor="ctr">
            <a:normAutofit/>
          </a:bodyPr>
          <a:lstStyle/>
          <a:p>
            <a:pPr marL="0" indent="0" algn="ctr">
              <a:buNone/>
            </a:pPr>
            <a:r>
              <a:rPr lang="en-US" sz="1500" b="1" dirty="0">
                <a:solidFill>
                  <a:srgbClr val="38D9FF"/>
                </a:solidFill>
              </a:rPr>
              <a:t>Food example</a:t>
            </a:r>
            <a:endParaRPr lang="en-US" sz="1500" dirty="0"/>
          </a:p>
          <a:p>
            <a:pPr marL="0" indent="0" algn="ctr">
              <a:buNone/>
            </a:pPr>
            <a:r>
              <a:rPr lang="en-US" sz="1500" b="1" dirty="0">
                <a:solidFill>
                  <a:srgbClr val="38D9FF"/>
                </a:solidFill>
              </a:rPr>
              <a:t>validate_orders is a task. On 2026-07-28 DAG run, validate_orders has one task instance.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Operators</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Operators: reusable task templates</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Choose an operator based on the kind of work to execute</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353312"/>
            <a:ext cx="3425952" cy="1746504"/>
          </a:xfrm>
          <a:prstGeom prst="roundRect">
            <a:avLst>
              <a:gd name="adj" fmla="val 4188"/>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BashOperator</a:t>
            </a:r>
            <a:endParaRPr lang="en-US" sz="1300" dirty="0"/>
          </a:p>
          <a:p>
            <a:pPr marL="0" indent="0" algn="l">
              <a:buNone/>
            </a:pPr>
            <a:r>
              <a:rPr lang="en-US" sz="1300" b="1" dirty="0">
                <a:solidFill>
                  <a:srgbClr val="F8FAFC"/>
                </a:solidFill>
              </a:rPr>
              <a:t>Run shell command or script</a:t>
            </a:r>
            <a:endParaRPr lang="en-US" sz="1300" dirty="0"/>
          </a:p>
        </p:txBody>
      </p:sp>
      <p:sp>
        <p:nvSpPr>
          <p:cNvPr id="11" name="Text 9"/>
          <p:cNvSpPr/>
          <p:nvPr/>
        </p:nvSpPr>
        <p:spPr>
          <a:xfrm>
            <a:off x="4367784" y="1353312"/>
            <a:ext cx="3425952" cy="1746504"/>
          </a:xfrm>
          <a:prstGeom prst="roundRect">
            <a:avLst>
              <a:gd name="adj" fmla="val 4188"/>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Python / @task</a:t>
            </a:r>
            <a:endParaRPr lang="en-US" sz="1300" dirty="0"/>
          </a:p>
          <a:p>
            <a:pPr marL="0" indent="0" algn="l">
              <a:buNone/>
            </a:pPr>
            <a:r>
              <a:rPr lang="en-US" sz="1300" b="1" dirty="0">
                <a:solidFill>
                  <a:srgbClr val="F8FAFC"/>
                </a:solidFill>
              </a:rPr>
              <a:t>Run Python function</a:t>
            </a:r>
            <a:endParaRPr lang="en-US" sz="1300" dirty="0"/>
          </a:p>
        </p:txBody>
      </p:sp>
      <p:sp>
        <p:nvSpPr>
          <p:cNvPr id="12" name="Text 10"/>
          <p:cNvSpPr/>
          <p:nvPr/>
        </p:nvSpPr>
        <p:spPr>
          <a:xfrm>
            <a:off x="7958328" y="1353312"/>
            <a:ext cx="3425952" cy="1746504"/>
          </a:xfrm>
          <a:prstGeom prst="roundRect">
            <a:avLst>
              <a:gd name="adj" fmla="val 4188"/>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SQLExecuteQueryOperator</a:t>
            </a:r>
            <a:endParaRPr lang="en-US" sz="1300" dirty="0"/>
          </a:p>
          <a:p>
            <a:pPr marL="0" indent="0" algn="l">
              <a:buNone/>
            </a:pPr>
            <a:r>
              <a:rPr lang="en-US" sz="1300" b="1" dirty="0">
                <a:solidFill>
                  <a:srgbClr val="F8FAFC"/>
                </a:solidFill>
              </a:rPr>
              <a:t>Run SQL in database/warehouse</a:t>
            </a:r>
            <a:endParaRPr lang="en-US" sz="1300" dirty="0"/>
          </a:p>
        </p:txBody>
      </p:sp>
      <p:sp>
        <p:nvSpPr>
          <p:cNvPr id="13" name="Text 11"/>
          <p:cNvSpPr/>
          <p:nvPr/>
        </p:nvSpPr>
        <p:spPr>
          <a:xfrm>
            <a:off x="777240" y="3264408"/>
            <a:ext cx="3425952" cy="1746504"/>
          </a:xfrm>
          <a:prstGeom prst="roundRect">
            <a:avLst>
              <a:gd name="adj" fmla="val 4188"/>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Sensors</a:t>
            </a:r>
            <a:endParaRPr lang="en-US" sz="1300" dirty="0"/>
          </a:p>
          <a:p>
            <a:pPr marL="0" indent="0" algn="l">
              <a:buNone/>
            </a:pPr>
            <a:r>
              <a:rPr lang="en-US" sz="1300" b="1" dirty="0">
                <a:solidFill>
                  <a:srgbClr val="F8FAFC"/>
                </a:solidFill>
              </a:rPr>
              <a:t>Wait for file, API, dataset, external condition</a:t>
            </a:r>
            <a:endParaRPr lang="en-US" sz="1300" dirty="0"/>
          </a:p>
        </p:txBody>
      </p:sp>
      <p:sp>
        <p:nvSpPr>
          <p:cNvPr id="14" name="Text 12"/>
          <p:cNvSpPr/>
          <p:nvPr/>
        </p:nvSpPr>
        <p:spPr>
          <a:xfrm>
            <a:off x="4367784" y="3264408"/>
            <a:ext cx="3425952" cy="1746504"/>
          </a:xfrm>
          <a:prstGeom prst="roundRect">
            <a:avLst>
              <a:gd name="adj" fmla="val 4188"/>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Docker/Kubernetes operators</a:t>
            </a:r>
            <a:endParaRPr lang="en-US" sz="1300" dirty="0"/>
          </a:p>
          <a:p>
            <a:pPr marL="0" indent="0" algn="l">
              <a:buNone/>
            </a:pPr>
            <a:r>
              <a:rPr lang="en-US" sz="1300" b="1" dirty="0">
                <a:solidFill>
                  <a:srgbClr val="F8FAFC"/>
                </a:solidFill>
              </a:rPr>
              <a:t>Run containerized jobs</a:t>
            </a:r>
            <a:endParaRPr lang="en-US" sz="1300" dirty="0"/>
          </a:p>
        </p:txBody>
      </p:sp>
      <p:sp>
        <p:nvSpPr>
          <p:cNvPr id="15" name="Text 13"/>
          <p:cNvSpPr/>
          <p:nvPr/>
        </p:nvSpPr>
        <p:spPr>
          <a:xfrm>
            <a:off x="7958328" y="3264408"/>
            <a:ext cx="3425952" cy="1746504"/>
          </a:xfrm>
          <a:prstGeom prst="roundRect">
            <a:avLst>
              <a:gd name="adj" fmla="val 4188"/>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Provider operators</a:t>
            </a:r>
            <a:endParaRPr lang="en-US" sz="1300" dirty="0"/>
          </a:p>
          <a:p>
            <a:pPr marL="0" indent="0" algn="l">
              <a:buNone/>
            </a:pPr>
            <a:r>
              <a:rPr lang="en-US" sz="1300" b="1" dirty="0">
                <a:solidFill>
                  <a:srgbClr val="F8FAFC"/>
                </a:solidFill>
              </a:rPr>
              <a:t>Cloud services: S3, GCS, BigQuery, Snowflake, Databricks</a:t>
            </a:r>
            <a:endParaRPr lang="en-US" sz="1300" dirty="0"/>
          </a:p>
        </p:txBody>
      </p:sp>
      <p:sp>
        <p:nvSpPr>
          <p:cNvPr id="16" name="Text 14"/>
          <p:cNvSpPr/>
          <p:nvPr/>
        </p:nvSpPr>
        <p:spPr>
          <a:xfrm>
            <a:off x="914400" y="5623560"/>
            <a:ext cx="10149840" cy="320040"/>
          </a:xfrm>
          <a:prstGeom prst="rect">
            <a:avLst/>
          </a:prstGeom>
          <a:noFill/>
          <a:ln/>
        </p:spPr>
        <p:txBody>
          <a:bodyPr wrap="square" lIns="381" tIns="381" rIns="381" bIns="381" rtlCol="0" anchor="t">
            <a:normAutofit/>
          </a:bodyPr>
          <a:lstStyle/>
          <a:p>
            <a:pPr marL="0" indent="0" algn="ctr">
              <a:buNone/>
            </a:pPr>
            <a:r>
              <a:rPr lang="en-US" sz="1700" b="1" dirty="0">
                <a:solidFill>
                  <a:srgbClr val="FFD166"/>
                </a:solidFill>
                <a:latin typeface="Aptos" pitchFamily="34" charset="0"/>
                <a:ea typeface="Aptos" pitchFamily="34" charset="-122"/>
                <a:cs typeface="Aptos" pitchFamily="34" charset="-120"/>
              </a:rPr>
              <a:t>Simple rule: Operator is the template; Task is the instance created inside your DAG.</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Scheduler</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Scheduler: the decision engine</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The scheduler continuously decides what can run now</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822960" y="1508760"/>
            <a:ext cx="1700784" cy="914400"/>
          </a:xfrm>
          <a:prstGeom prst="roundRect">
            <a:avLst>
              <a:gd name="adj" fmla="val 8000"/>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Read DAGs</a:t>
            </a:r>
            <a:endParaRPr lang="en-US" sz="1250" dirty="0"/>
          </a:p>
        </p:txBody>
      </p:sp>
      <p:sp>
        <p:nvSpPr>
          <p:cNvPr id="11" name="Text 9"/>
          <p:cNvSpPr/>
          <p:nvPr/>
        </p:nvSpPr>
        <p:spPr>
          <a:xfrm>
            <a:off x="2624328" y="182880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80944" y="1508760"/>
            <a:ext cx="1700784" cy="914400"/>
          </a:xfrm>
          <a:prstGeom prst="roundRect">
            <a:avLst>
              <a:gd name="adj" fmla="val 8000"/>
            </a:avLst>
          </a:prstGeom>
          <a:solidFill>
            <a:srgbClr val="00A9E0"/>
          </a:solidFill>
          <a:ln w="12700">
            <a:solidFill>
              <a:srgbClr val="00A9E0">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Create DAG runs</a:t>
            </a:r>
            <a:endParaRPr lang="en-US" sz="1250" dirty="0"/>
          </a:p>
        </p:txBody>
      </p:sp>
      <p:sp>
        <p:nvSpPr>
          <p:cNvPr id="13" name="Text 11"/>
          <p:cNvSpPr/>
          <p:nvPr/>
        </p:nvSpPr>
        <p:spPr>
          <a:xfrm>
            <a:off x="4782312" y="182880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138928" y="1508760"/>
            <a:ext cx="1700784" cy="914400"/>
          </a:xfrm>
          <a:prstGeom prst="roundRect">
            <a:avLst>
              <a:gd name="adj" fmla="val 8000"/>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Check dependencies</a:t>
            </a:r>
            <a:endParaRPr lang="en-US" sz="1250" dirty="0"/>
          </a:p>
        </p:txBody>
      </p:sp>
      <p:sp>
        <p:nvSpPr>
          <p:cNvPr id="15" name="Text 13"/>
          <p:cNvSpPr/>
          <p:nvPr/>
        </p:nvSpPr>
        <p:spPr>
          <a:xfrm>
            <a:off x="6940296" y="182880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296912" y="1508760"/>
            <a:ext cx="1700784" cy="914400"/>
          </a:xfrm>
          <a:prstGeom prst="roundRect">
            <a:avLst>
              <a:gd name="adj" fmla="val 8000"/>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Queue ready tasks</a:t>
            </a:r>
            <a:endParaRPr lang="en-US" sz="1250" dirty="0"/>
          </a:p>
        </p:txBody>
      </p:sp>
      <p:sp>
        <p:nvSpPr>
          <p:cNvPr id="17" name="Text 15"/>
          <p:cNvSpPr/>
          <p:nvPr/>
        </p:nvSpPr>
        <p:spPr>
          <a:xfrm>
            <a:off x="9098280" y="182880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454896" y="1508760"/>
            <a:ext cx="1700784" cy="914400"/>
          </a:xfrm>
          <a:prstGeom prst="roundRect">
            <a:avLst>
              <a:gd name="adj" fmla="val 8000"/>
            </a:avLst>
          </a:prstGeom>
          <a:solidFill>
            <a:srgbClr val="B389FF"/>
          </a:solidFill>
          <a:ln w="12700">
            <a:solidFill>
              <a:srgbClr val="B389FF">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Track states</a:t>
            </a:r>
            <a:endParaRPr lang="en-US" sz="1250" dirty="0"/>
          </a:p>
        </p:txBody>
      </p:sp>
      <p:sp>
        <p:nvSpPr>
          <p:cNvPr id="19" name="Text 17"/>
          <p:cNvSpPr/>
          <p:nvPr/>
        </p:nvSpPr>
        <p:spPr>
          <a:xfrm>
            <a:off x="914400" y="3017520"/>
            <a:ext cx="1828800" cy="502920"/>
          </a:xfrm>
          <a:prstGeom prst="roundRect">
            <a:avLst>
              <a:gd name="adj" fmla="val 14545"/>
            </a:avLst>
          </a:prstGeom>
          <a:solidFill>
            <a:srgbClr val="38D9FF"/>
          </a:solidFill>
          <a:ln w="12700">
            <a:solidFill>
              <a:srgbClr val="38D9FF">
                <a:alpha val="0"/>
              </a:srgbClr>
            </a:solidFill>
          </a:ln>
        </p:spPr>
        <p:txBody>
          <a:bodyPr wrap="square" lIns="1016" tIns="1016" rIns="1016" bIns="1016" rtlCol="0" anchor="ctr">
            <a:normAutofit/>
          </a:bodyPr>
          <a:lstStyle/>
          <a:p>
            <a:pPr marL="0" indent="0" algn="ctr">
              <a:buNone/>
            </a:pPr>
            <a:r>
              <a:rPr lang="en-US" sz="1700" b="1" dirty="0">
                <a:solidFill>
                  <a:srgbClr val="071827"/>
                </a:solidFill>
              </a:rPr>
              <a:t>Scheduler asks:</a:t>
            </a:r>
            <a:endParaRPr lang="en-US" sz="1700" dirty="0"/>
          </a:p>
        </p:txBody>
      </p:sp>
      <p:sp>
        <p:nvSpPr>
          <p:cNvPr id="20" name="Text 18"/>
          <p:cNvSpPr/>
          <p:nvPr/>
        </p:nvSpPr>
        <p:spPr>
          <a:xfrm>
            <a:off x="2971800" y="2788920"/>
            <a:ext cx="2602992" cy="717804"/>
          </a:xfrm>
          <a:prstGeom prst="roundRect">
            <a:avLst>
              <a:gd name="adj" fmla="val 1019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Is the DAG active?</a:t>
            </a:r>
            <a:endParaRPr lang="en-US" sz="1300" dirty="0"/>
          </a:p>
        </p:txBody>
      </p:sp>
      <p:sp>
        <p:nvSpPr>
          <p:cNvPr id="21" name="Text 19"/>
          <p:cNvSpPr/>
          <p:nvPr/>
        </p:nvSpPr>
        <p:spPr>
          <a:xfrm>
            <a:off x="5739384" y="2788920"/>
            <a:ext cx="2602992" cy="717804"/>
          </a:xfrm>
          <a:prstGeom prst="roundRect">
            <a:avLst>
              <a:gd name="adj" fmla="val 1019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Has the schedule interval completed?</a:t>
            </a:r>
            <a:endParaRPr lang="en-US" sz="1300" dirty="0"/>
          </a:p>
        </p:txBody>
      </p:sp>
      <p:sp>
        <p:nvSpPr>
          <p:cNvPr id="22" name="Text 20"/>
          <p:cNvSpPr/>
          <p:nvPr/>
        </p:nvSpPr>
        <p:spPr>
          <a:xfrm>
            <a:off x="8506968" y="2788920"/>
            <a:ext cx="2602992" cy="717804"/>
          </a:xfrm>
          <a:prstGeom prst="roundRect">
            <a:avLst>
              <a:gd name="adj" fmla="val 1019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Are upstream tasks successful?</a:t>
            </a:r>
            <a:endParaRPr lang="en-US" sz="1300" dirty="0"/>
          </a:p>
        </p:txBody>
      </p:sp>
      <p:sp>
        <p:nvSpPr>
          <p:cNvPr id="23" name="Text 21"/>
          <p:cNvSpPr/>
          <p:nvPr/>
        </p:nvSpPr>
        <p:spPr>
          <a:xfrm>
            <a:off x="2971800" y="3671316"/>
            <a:ext cx="2602992" cy="717804"/>
          </a:xfrm>
          <a:prstGeom prst="roundRect">
            <a:avLst>
              <a:gd name="adj" fmla="val 1019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Are pools/concurrency slots available?</a:t>
            </a:r>
            <a:endParaRPr lang="en-US" sz="1300" dirty="0"/>
          </a:p>
        </p:txBody>
      </p:sp>
      <p:sp>
        <p:nvSpPr>
          <p:cNvPr id="24" name="Text 22"/>
          <p:cNvSpPr/>
          <p:nvPr/>
        </p:nvSpPr>
        <p:spPr>
          <a:xfrm>
            <a:off x="5739384" y="3671316"/>
            <a:ext cx="2602992" cy="717804"/>
          </a:xfrm>
          <a:prstGeom prst="roundRect">
            <a:avLst>
              <a:gd name="adj" fmla="val 1019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Which executor should run the task?</a:t>
            </a:r>
            <a:endParaRPr lang="en-US" sz="1300" dirty="0"/>
          </a:p>
        </p:txBody>
      </p:sp>
      <p:sp>
        <p:nvSpPr>
          <p:cNvPr id="25" name="Text 23"/>
          <p:cNvSpPr/>
          <p:nvPr/>
        </p:nvSpPr>
        <p:spPr>
          <a:xfrm>
            <a:off x="8506968" y="3671316"/>
            <a:ext cx="2602992" cy="717804"/>
          </a:xfrm>
          <a:prstGeom prst="roundRect">
            <a:avLst>
              <a:gd name="adj" fmla="val 1019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Has a retry delay completed?</a:t>
            </a:r>
            <a:endParaRPr lang="en-US" sz="1300" dirty="0"/>
          </a:p>
        </p:txBody>
      </p:sp>
      <p:sp>
        <p:nvSpPr>
          <p:cNvPr id="26" name="Text 24"/>
          <p:cNvSpPr/>
          <p:nvPr/>
        </p:nvSpPr>
        <p:spPr>
          <a:xfrm>
            <a:off x="914400" y="5577840"/>
            <a:ext cx="10149840" cy="320040"/>
          </a:xfrm>
          <a:prstGeom prst="rect">
            <a:avLst/>
          </a:prstGeom>
          <a:noFill/>
          <a:ln/>
        </p:spPr>
        <p:txBody>
          <a:bodyPr wrap="square" lIns="381" tIns="381" rIns="381" bIns="381" rtlCol="0" anchor="t">
            <a:normAutofit/>
          </a:bodyPr>
          <a:lstStyle/>
          <a:p>
            <a:pPr marL="0" indent="0" algn="ctr">
              <a:buNone/>
            </a:pPr>
            <a:r>
              <a:rPr lang="en-US" sz="1600" b="1" dirty="0">
                <a:solidFill>
                  <a:srgbClr val="FFD166"/>
                </a:solidFill>
                <a:latin typeface="Aptos" pitchFamily="34" charset="0"/>
                <a:ea typeface="Aptos" pitchFamily="34" charset="-122"/>
                <a:cs typeface="Aptos" pitchFamily="34" charset="-120"/>
              </a:rPr>
              <a:t>Important: A daily DAG usually runs after its data interval ends, so required data is available.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Architecture</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Airflow architecture overview</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How the major components work together</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685800" y="1481328"/>
            <a:ext cx="1828800" cy="777240"/>
          </a:xfrm>
          <a:prstGeom prst="roundRect">
            <a:avLst>
              <a:gd name="adj" fmla="val 9412"/>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300" b="1" dirty="0">
                <a:solidFill>
                  <a:srgbClr val="F8FAFC"/>
                </a:solidFill>
              </a:rPr>
              <a:t>DAG files</a:t>
            </a:r>
            <a:endParaRPr lang="en-US" sz="1300" dirty="0"/>
          </a:p>
          <a:p>
            <a:pPr marL="0" indent="0" algn="ctr">
              <a:buNone/>
            </a:pPr>
            <a:r>
              <a:rPr lang="en-US" sz="1300" b="1" dirty="0">
                <a:solidFill>
                  <a:srgbClr val="F8FAFC"/>
                </a:solidFill>
              </a:rPr>
              <a:t>Python workflows</a:t>
            </a:r>
            <a:endParaRPr lang="en-US" sz="1300" dirty="0"/>
          </a:p>
        </p:txBody>
      </p:sp>
      <p:sp>
        <p:nvSpPr>
          <p:cNvPr id="11" name="Text 9"/>
          <p:cNvSpPr/>
          <p:nvPr/>
        </p:nvSpPr>
        <p:spPr>
          <a:xfrm>
            <a:off x="2651760" y="1737360"/>
            <a:ext cx="320040"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71800" y="1481328"/>
            <a:ext cx="2011680" cy="777240"/>
          </a:xfrm>
          <a:prstGeom prst="roundRect">
            <a:avLst>
              <a:gd name="adj" fmla="val 9412"/>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300" b="1" dirty="0">
                <a:solidFill>
                  <a:srgbClr val="F8FAFC"/>
                </a:solidFill>
              </a:rPr>
              <a:t>DAG Processor</a:t>
            </a:r>
            <a:endParaRPr lang="en-US" sz="1300" dirty="0"/>
          </a:p>
          <a:p>
            <a:pPr marL="0" indent="0" algn="ctr">
              <a:buNone/>
            </a:pPr>
            <a:r>
              <a:rPr lang="en-US" sz="1300" b="1" dirty="0">
                <a:solidFill>
                  <a:srgbClr val="F8FAFC"/>
                </a:solidFill>
              </a:rPr>
              <a:t>parses + serializes</a:t>
            </a:r>
            <a:endParaRPr lang="en-US" sz="1300" dirty="0"/>
          </a:p>
        </p:txBody>
      </p:sp>
      <p:sp>
        <p:nvSpPr>
          <p:cNvPr id="13" name="Text 11"/>
          <p:cNvSpPr/>
          <p:nvPr/>
        </p:nvSpPr>
        <p:spPr>
          <a:xfrm>
            <a:off x="5102352" y="1737360"/>
            <a:ext cx="320040"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440680" y="1481328"/>
            <a:ext cx="1828800" cy="777240"/>
          </a:xfrm>
          <a:prstGeom prst="roundRect">
            <a:avLst>
              <a:gd name="adj" fmla="val 9412"/>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300" b="1" dirty="0">
                <a:solidFill>
                  <a:srgbClr val="071827"/>
                </a:solidFill>
              </a:rPr>
              <a:t>Metadata DB</a:t>
            </a:r>
            <a:endParaRPr lang="en-US" sz="1300" dirty="0"/>
          </a:p>
          <a:p>
            <a:pPr marL="0" indent="0" algn="ctr">
              <a:buNone/>
            </a:pPr>
            <a:r>
              <a:rPr lang="en-US" sz="1300" b="1" dirty="0">
                <a:solidFill>
                  <a:srgbClr val="071827"/>
                </a:solidFill>
              </a:rPr>
              <a:t>states + history</a:t>
            </a:r>
            <a:endParaRPr lang="en-US" sz="1300" dirty="0"/>
          </a:p>
        </p:txBody>
      </p:sp>
      <p:sp>
        <p:nvSpPr>
          <p:cNvPr id="15" name="Text 13"/>
          <p:cNvSpPr/>
          <p:nvPr/>
        </p:nvSpPr>
        <p:spPr>
          <a:xfrm>
            <a:off x="7406640" y="1737360"/>
            <a:ext cx="320040"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726680" y="1481328"/>
            <a:ext cx="1920240" cy="777240"/>
          </a:xfrm>
          <a:prstGeom prst="roundRect">
            <a:avLst>
              <a:gd name="adj" fmla="val 9412"/>
            </a:avLst>
          </a:prstGeom>
          <a:solidFill>
            <a:srgbClr val="38D9FF"/>
          </a:solidFill>
          <a:ln w="12700">
            <a:solidFill>
              <a:srgbClr val="38D9FF">
                <a:alpha val="0"/>
              </a:srgbClr>
            </a:solidFill>
          </a:ln>
        </p:spPr>
        <p:txBody>
          <a:bodyPr wrap="square" lIns="1016" tIns="1016" rIns="1016" bIns="1016" rtlCol="0" anchor="ctr">
            <a:normAutofit/>
          </a:bodyPr>
          <a:lstStyle/>
          <a:p>
            <a:pPr marL="0" indent="0" algn="ctr">
              <a:buNone/>
            </a:pPr>
            <a:r>
              <a:rPr lang="en-US" sz="1300" b="1" dirty="0">
                <a:solidFill>
                  <a:srgbClr val="071827"/>
                </a:solidFill>
              </a:rPr>
              <a:t>Scheduler</a:t>
            </a:r>
            <a:endParaRPr lang="en-US" sz="1300" dirty="0"/>
          </a:p>
          <a:p>
            <a:pPr marL="0" indent="0" algn="ctr">
              <a:buNone/>
            </a:pPr>
            <a:r>
              <a:rPr lang="en-US" sz="1300" b="1" dirty="0">
                <a:solidFill>
                  <a:srgbClr val="071827"/>
                </a:solidFill>
              </a:rPr>
              <a:t>selects ready tasks</a:t>
            </a:r>
            <a:endParaRPr lang="en-US" sz="1300" dirty="0"/>
          </a:p>
        </p:txBody>
      </p:sp>
      <p:sp>
        <p:nvSpPr>
          <p:cNvPr id="17" name="Text 15"/>
          <p:cNvSpPr/>
          <p:nvPr/>
        </p:nvSpPr>
        <p:spPr>
          <a:xfrm>
            <a:off x="9747504" y="1737360"/>
            <a:ext cx="228600"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10222992" y="1481328"/>
            <a:ext cx="1371600" cy="777240"/>
          </a:xfrm>
          <a:prstGeom prst="roundRect">
            <a:avLst>
              <a:gd name="adj" fmla="val 9412"/>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00" b="1" dirty="0">
                <a:solidFill>
                  <a:srgbClr val="071827"/>
                </a:solidFill>
              </a:rPr>
              <a:t>Executor / Workers</a:t>
            </a:r>
            <a:endParaRPr lang="en-US" sz="1200" dirty="0"/>
          </a:p>
          <a:p>
            <a:pPr marL="0" indent="0" algn="ctr">
              <a:buNone/>
            </a:pPr>
            <a:r>
              <a:rPr lang="en-US" sz="1200" b="1" dirty="0">
                <a:solidFill>
                  <a:srgbClr val="071827"/>
                </a:solidFill>
              </a:rPr>
              <a:t>run tasks</a:t>
            </a:r>
            <a:endParaRPr lang="en-US" sz="1200" dirty="0"/>
          </a:p>
        </p:txBody>
      </p:sp>
      <p:sp>
        <p:nvSpPr>
          <p:cNvPr id="19" name="Text 17"/>
          <p:cNvSpPr/>
          <p:nvPr/>
        </p:nvSpPr>
        <p:spPr>
          <a:xfrm>
            <a:off x="1920240" y="3063240"/>
            <a:ext cx="2194560" cy="822960"/>
          </a:xfrm>
          <a:prstGeom prst="roundRect">
            <a:avLst>
              <a:gd name="adj" fmla="val 8889"/>
            </a:avLst>
          </a:prstGeom>
          <a:solidFill>
            <a:srgbClr val="B389FF"/>
          </a:solidFill>
          <a:ln w="12700">
            <a:solidFill>
              <a:srgbClr val="B389FF">
                <a:alpha val="0"/>
              </a:srgbClr>
            </a:solidFill>
          </a:ln>
        </p:spPr>
        <p:txBody>
          <a:bodyPr wrap="square" lIns="1016" tIns="1016" rIns="1016" bIns="1016" rtlCol="0" anchor="ctr">
            <a:normAutofit/>
          </a:bodyPr>
          <a:lstStyle/>
          <a:p>
            <a:pPr marL="0" indent="0" algn="ctr">
              <a:buNone/>
            </a:pPr>
            <a:r>
              <a:rPr lang="en-US" sz="1300" b="1" dirty="0">
                <a:solidFill>
                  <a:srgbClr val="F8FAFC"/>
                </a:solidFill>
              </a:rPr>
              <a:t>API Server / UI</a:t>
            </a:r>
            <a:endParaRPr lang="en-US" sz="1300" dirty="0"/>
          </a:p>
          <a:p>
            <a:pPr marL="0" indent="0" algn="ctr">
              <a:buNone/>
            </a:pPr>
            <a:r>
              <a:rPr lang="en-US" sz="1300" b="1" dirty="0">
                <a:solidFill>
                  <a:srgbClr val="F8FAFC"/>
                </a:solidFill>
              </a:rPr>
              <a:t>monitor, trigger, logs</a:t>
            </a:r>
            <a:endParaRPr lang="en-US" sz="1300" dirty="0"/>
          </a:p>
        </p:txBody>
      </p:sp>
      <p:sp>
        <p:nvSpPr>
          <p:cNvPr id="20" name="Text 18"/>
          <p:cNvSpPr/>
          <p:nvPr/>
        </p:nvSpPr>
        <p:spPr>
          <a:xfrm>
            <a:off x="4572000" y="3063240"/>
            <a:ext cx="1828800" cy="822960"/>
          </a:xfrm>
          <a:prstGeom prst="roundRect">
            <a:avLst>
              <a:gd name="adj" fmla="val 8889"/>
            </a:avLst>
          </a:prstGeom>
          <a:solidFill>
            <a:srgbClr val="FF9F43"/>
          </a:solidFill>
          <a:ln w="12700">
            <a:solidFill>
              <a:srgbClr val="FF9F43">
                <a:alpha val="0"/>
              </a:srgbClr>
            </a:solidFill>
          </a:ln>
        </p:spPr>
        <p:txBody>
          <a:bodyPr wrap="square" lIns="1016" tIns="1016" rIns="1016" bIns="1016" rtlCol="0" anchor="ctr">
            <a:normAutofit/>
          </a:bodyPr>
          <a:lstStyle/>
          <a:p>
            <a:pPr marL="0" indent="0" algn="ctr">
              <a:buNone/>
            </a:pPr>
            <a:r>
              <a:rPr lang="en-US" sz="1300" b="1" dirty="0">
                <a:solidFill>
                  <a:srgbClr val="071827"/>
                </a:solidFill>
              </a:rPr>
              <a:t>Triggerer</a:t>
            </a:r>
            <a:endParaRPr lang="en-US" sz="1300" dirty="0"/>
          </a:p>
          <a:p>
            <a:pPr marL="0" indent="0" algn="ctr">
              <a:buNone/>
            </a:pPr>
            <a:r>
              <a:rPr lang="en-US" sz="1300" b="1" dirty="0">
                <a:solidFill>
                  <a:srgbClr val="071827"/>
                </a:solidFill>
              </a:rPr>
              <a:t>deferrable waits</a:t>
            </a:r>
            <a:endParaRPr lang="en-US" sz="1300" dirty="0"/>
          </a:p>
        </p:txBody>
      </p:sp>
      <p:sp>
        <p:nvSpPr>
          <p:cNvPr id="21" name="Text 19"/>
          <p:cNvSpPr/>
          <p:nvPr/>
        </p:nvSpPr>
        <p:spPr>
          <a:xfrm>
            <a:off x="6812280" y="3063240"/>
            <a:ext cx="2011680" cy="822960"/>
          </a:xfrm>
          <a:prstGeom prst="roundRect">
            <a:avLst>
              <a:gd name="adj" fmla="val 8889"/>
            </a:avLst>
          </a:prstGeom>
          <a:solidFill>
            <a:srgbClr val="1E4A68"/>
          </a:solidFill>
          <a:ln w="12700">
            <a:solidFill>
              <a:srgbClr val="1E4A68">
                <a:alpha val="0"/>
              </a:srgbClr>
            </a:solidFill>
          </a:ln>
        </p:spPr>
        <p:txBody>
          <a:bodyPr wrap="square" lIns="1016" tIns="1016" rIns="1016" bIns="1016" rtlCol="0" anchor="ctr">
            <a:normAutofit/>
          </a:bodyPr>
          <a:lstStyle/>
          <a:p>
            <a:pPr marL="0" indent="0" algn="ctr">
              <a:buNone/>
            </a:pPr>
            <a:r>
              <a:rPr lang="en-US" sz="1300" b="1" dirty="0">
                <a:solidFill>
                  <a:srgbClr val="F8FAFC"/>
                </a:solidFill>
              </a:rPr>
              <a:t>Logs / Metrics</a:t>
            </a:r>
            <a:endParaRPr lang="en-US" sz="1300" dirty="0"/>
          </a:p>
          <a:p>
            <a:pPr marL="0" indent="0" algn="ctr">
              <a:buNone/>
            </a:pPr>
            <a:r>
              <a:rPr lang="en-US" sz="1300" b="1" dirty="0">
                <a:solidFill>
                  <a:srgbClr val="F8FAFC"/>
                </a:solidFill>
              </a:rPr>
              <a:t>troubleshooting</a:t>
            </a:r>
            <a:endParaRPr lang="en-US" sz="1300" dirty="0"/>
          </a:p>
        </p:txBody>
      </p:sp>
      <p:sp>
        <p:nvSpPr>
          <p:cNvPr id="22" name="Text 20"/>
          <p:cNvSpPr/>
          <p:nvPr/>
        </p:nvSpPr>
        <p:spPr>
          <a:xfrm>
            <a:off x="1051560" y="4983480"/>
            <a:ext cx="10149840" cy="594360"/>
          </a:xfrm>
          <a:prstGeom prst="roundRect">
            <a:avLst>
              <a:gd name="adj" fmla="val 12308"/>
            </a:avLst>
          </a:prstGeom>
          <a:solidFill>
            <a:srgbClr val="0B2338"/>
          </a:solidFill>
          <a:ln w="12700">
            <a:solidFill>
              <a:srgbClr val="38D9FF">
                <a:alpha val="0"/>
              </a:srgbClr>
            </a:solidFill>
          </a:ln>
        </p:spPr>
        <p:txBody>
          <a:bodyPr wrap="square" lIns="1016" tIns="1016" rIns="1016" bIns="1016" rtlCol="0" anchor="ctr">
            <a:normAutofit/>
          </a:bodyPr>
          <a:lstStyle/>
          <a:p>
            <a:pPr marL="0" indent="0" algn="ctr">
              <a:buNone/>
            </a:pPr>
            <a:r>
              <a:rPr lang="en-US" sz="1500" b="1" dirty="0">
                <a:solidFill>
                  <a:srgbClr val="38D9FF"/>
                </a:solidFill>
              </a:rPr>
              <a:t>External systems</a:t>
            </a:r>
            <a:endParaRPr lang="en-US" sz="1500" dirty="0"/>
          </a:p>
          <a:p>
            <a:pPr marL="0" indent="0" algn="ctr">
              <a:buNone/>
            </a:pPr>
            <a:r>
              <a:rPr lang="en-US" sz="1500" b="1" dirty="0">
                <a:solidFill>
                  <a:srgbClr val="38D9FF"/>
                </a:solidFill>
              </a:rPr>
              <a:t>APIs • DB • Spark • Cloud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Execution flow</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DAG run lifecycle</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What happens from code file to successful business report</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594360" y="1481328"/>
            <a:ext cx="1275588" cy="960120"/>
          </a:xfrm>
          <a:prstGeom prst="roundRect">
            <a:avLst>
              <a:gd name="adj" fmla="val 7619"/>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1</a:t>
            </a:r>
            <a:endParaRPr lang="en-US" sz="1200" dirty="0"/>
          </a:p>
          <a:p>
            <a:pPr marL="0" indent="0" algn="ctr">
              <a:buNone/>
            </a:pPr>
            <a:r>
              <a:rPr lang="en-US" sz="1200" b="1" dirty="0">
                <a:solidFill>
                  <a:srgbClr val="F8FAFC"/>
                </a:solidFill>
              </a:rPr>
              <a:t>DAG file saved</a:t>
            </a:r>
            <a:endParaRPr lang="en-US" sz="1200" dirty="0"/>
          </a:p>
        </p:txBody>
      </p:sp>
      <p:sp>
        <p:nvSpPr>
          <p:cNvPr id="11" name="Text 9"/>
          <p:cNvSpPr/>
          <p:nvPr/>
        </p:nvSpPr>
        <p:spPr>
          <a:xfrm>
            <a:off x="1979676" y="1481328"/>
            <a:ext cx="1275588" cy="960120"/>
          </a:xfrm>
          <a:prstGeom prst="roundRect">
            <a:avLst>
              <a:gd name="adj" fmla="val 761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2</a:t>
            </a:r>
            <a:endParaRPr lang="en-US" sz="1200" dirty="0"/>
          </a:p>
          <a:p>
            <a:pPr marL="0" indent="0" algn="ctr">
              <a:buNone/>
            </a:pPr>
            <a:r>
              <a:rPr lang="en-US" sz="1200" b="1" dirty="0">
                <a:solidFill>
                  <a:srgbClr val="F8FAFC"/>
                </a:solidFill>
              </a:rPr>
              <a:t>Processor parses</a:t>
            </a:r>
            <a:endParaRPr lang="en-US" sz="1200" dirty="0"/>
          </a:p>
        </p:txBody>
      </p:sp>
      <p:sp>
        <p:nvSpPr>
          <p:cNvPr id="12" name="Text 10"/>
          <p:cNvSpPr/>
          <p:nvPr/>
        </p:nvSpPr>
        <p:spPr>
          <a:xfrm>
            <a:off x="3364992" y="1481328"/>
            <a:ext cx="1275588" cy="960120"/>
          </a:xfrm>
          <a:prstGeom prst="roundRect">
            <a:avLst>
              <a:gd name="adj" fmla="val 7619"/>
            </a:avLst>
          </a:prstGeom>
          <a:solidFill>
            <a:srgbClr val="1E4A68"/>
          </a:solidFill>
          <a:ln w="12700">
            <a:solidFill>
              <a:srgbClr val="1E4A6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3</a:t>
            </a:r>
            <a:endParaRPr lang="en-US" sz="1200" dirty="0"/>
          </a:p>
          <a:p>
            <a:pPr marL="0" indent="0" algn="ctr">
              <a:buNone/>
            </a:pPr>
            <a:r>
              <a:rPr lang="en-US" sz="1200" b="1" dirty="0">
                <a:solidFill>
                  <a:srgbClr val="F8FAFC"/>
                </a:solidFill>
              </a:rPr>
              <a:t>Scheduler creates run</a:t>
            </a:r>
            <a:endParaRPr lang="en-US" sz="1200" dirty="0"/>
          </a:p>
        </p:txBody>
      </p:sp>
      <p:sp>
        <p:nvSpPr>
          <p:cNvPr id="13" name="Text 11"/>
          <p:cNvSpPr/>
          <p:nvPr/>
        </p:nvSpPr>
        <p:spPr>
          <a:xfrm>
            <a:off x="4750308" y="1481328"/>
            <a:ext cx="1275588" cy="960120"/>
          </a:xfrm>
          <a:prstGeom prst="roundRect">
            <a:avLst>
              <a:gd name="adj" fmla="val 761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4</a:t>
            </a:r>
            <a:endParaRPr lang="en-US" sz="1200" dirty="0"/>
          </a:p>
          <a:p>
            <a:pPr marL="0" indent="0" algn="ctr">
              <a:buNone/>
            </a:pPr>
            <a:r>
              <a:rPr lang="en-US" sz="1200" b="1" dirty="0">
                <a:solidFill>
                  <a:srgbClr val="F8FAFC"/>
                </a:solidFill>
              </a:rPr>
              <a:t>Tasks become scheduled</a:t>
            </a:r>
            <a:endParaRPr lang="en-US" sz="1200" dirty="0"/>
          </a:p>
        </p:txBody>
      </p:sp>
      <p:sp>
        <p:nvSpPr>
          <p:cNvPr id="14" name="Text 12"/>
          <p:cNvSpPr/>
          <p:nvPr/>
        </p:nvSpPr>
        <p:spPr>
          <a:xfrm>
            <a:off x="6135624" y="1481328"/>
            <a:ext cx="1275588" cy="960120"/>
          </a:xfrm>
          <a:prstGeom prst="roundRect">
            <a:avLst>
              <a:gd name="adj" fmla="val 7619"/>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5</a:t>
            </a:r>
            <a:endParaRPr lang="en-US" sz="1200" dirty="0"/>
          </a:p>
          <a:p>
            <a:pPr marL="0" indent="0" algn="ctr">
              <a:buNone/>
            </a:pPr>
            <a:r>
              <a:rPr lang="en-US" sz="1200" b="1" dirty="0">
                <a:solidFill>
                  <a:srgbClr val="F8FAFC"/>
                </a:solidFill>
              </a:rPr>
              <a:t>Executor queues work</a:t>
            </a:r>
            <a:endParaRPr lang="en-US" sz="1200" dirty="0"/>
          </a:p>
        </p:txBody>
      </p:sp>
      <p:sp>
        <p:nvSpPr>
          <p:cNvPr id="15" name="Text 13"/>
          <p:cNvSpPr/>
          <p:nvPr/>
        </p:nvSpPr>
        <p:spPr>
          <a:xfrm>
            <a:off x="7520940" y="1481328"/>
            <a:ext cx="1275588" cy="960120"/>
          </a:xfrm>
          <a:prstGeom prst="roundRect">
            <a:avLst>
              <a:gd name="adj" fmla="val 761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6</a:t>
            </a:r>
            <a:endParaRPr lang="en-US" sz="1200" dirty="0"/>
          </a:p>
          <a:p>
            <a:pPr marL="0" indent="0" algn="ctr">
              <a:buNone/>
            </a:pPr>
            <a:r>
              <a:rPr lang="en-US" sz="1200" b="1" dirty="0">
                <a:solidFill>
                  <a:srgbClr val="F8FAFC"/>
                </a:solidFill>
              </a:rPr>
              <a:t>Worker runs task</a:t>
            </a:r>
            <a:endParaRPr lang="en-US" sz="1200" dirty="0"/>
          </a:p>
        </p:txBody>
      </p:sp>
      <p:sp>
        <p:nvSpPr>
          <p:cNvPr id="16" name="Text 14"/>
          <p:cNvSpPr/>
          <p:nvPr/>
        </p:nvSpPr>
        <p:spPr>
          <a:xfrm>
            <a:off x="8906256" y="1481328"/>
            <a:ext cx="1275588" cy="960120"/>
          </a:xfrm>
          <a:prstGeom prst="roundRect">
            <a:avLst>
              <a:gd name="adj" fmla="val 7619"/>
            </a:avLst>
          </a:prstGeom>
          <a:solidFill>
            <a:srgbClr val="1E4A68"/>
          </a:solidFill>
          <a:ln w="12700">
            <a:solidFill>
              <a:srgbClr val="1E4A6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7</a:t>
            </a:r>
            <a:endParaRPr lang="en-US" sz="1200" dirty="0"/>
          </a:p>
          <a:p>
            <a:pPr marL="0" indent="0" algn="ctr">
              <a:buNone/>
            </a:pPr>
            <a:r>
              <a:rPr lang="en-US" sz="1200" b="1" dirty="0">
                <a:solidFill>
                  <a:srgbClr val="F8FAFC"/>
                </a:solidFill>
              </a:rPr>
              <a:t>State/logs updated</a:t>
            </a:r>
            <a:endParaRPr lang="en-US" sz="1200" dirty="0"/>
          </a:p>
        </p:txBody>
      </p:sp>
      <p:sp>
        <p:nvSpPr>
          <p:cNvPr id="17" name="Text 15"/>
          <p:cNvSpPr/>
          <p:nvPr/>
        </p:nvSpPr>
        <p:spPr>
          <a:xfrm>
            <a:off x="10291572" y="1481328"/>
            <a:ext cx="1275588" cy="960120"/>
          </a:xfrm>
          <a:prstGeom prst="roundRect">
            <a:avLst>
              <a:gd name="adj" fmla="val 761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8</a:t>
            </a:r>
            <a:endParaRPr lang="en-US" sz="1200" dirty="0"/>
          </a:p>
          <a:p>
            <a:pPr marL="0" indent="0" algn="ctr">
              <a:buNone/>
            </a:pPr>
            <a:r>
              <a:rPr lang="en-US" sz="1200" b="1" dirty="0">
                <a:solidFill>
                  <a:srgbClr val="F8FAFC"/>
                </a:solidFill>
              </a:rPr>
              <a:t>Next tasks unlock</a:t>
            </a:r>
            <a:endParaRPr lang="en-US" sz="1200" dirty="0"/>
          </a:p>
        </p:txBody>
      </p:sp>
      <p:sp>
        <p:nvSpPr>
          <p:cNvPr id="18" name="Text 16"/>
          <p:cNvSpPr/>
          <p:nvPr/>
        </p:nvSpPr>
        <p:spPr>
          <a:xfrm>
            <a:off x="822960" y="2926080"/>
            <a:ext cx="5175504" cy="900684"/>
          </a:xfrm>
          <a:prstGeom prst="roundRect">
            <a:avLst>
              <a:gd name="adj" fmla="val 8122"/>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DAG run = one execution of the workflow for a data interval</a:t>
            </a:r>
            <a:endParaRPr lang="en-US" sz="1300" dirty="0"/>
          </a:p>
        </p:txBody>
      </p:sp>
      <p:sp>
        <p:nvSpPr>
          <p:cNvPr id="19" name="Text 17"/>
          <p:cNvSpPr/>
          <p:nvPr/>
        </p:nvSpPr>
        <p:spPr>
          <a:xfrm>
            <a:off x="6163056" y="2926080"/>
            <a:ext cx="5175504" cy="900684"/>
          </a:xfrm>
          <a:prstGeom prst="roundRect">
            <a:avLst>
              <a:gd name="adj" fmla="val 8122"/>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Task instance = one execution of one task within that DAG run</a:t>
            </a:r>
            <a:endParaRPr lang="en-US" sz="1300" dirty="0"/>
          </a:p>
        </p:txBody>
      </p:sp>
      <p:sp>
        <p:nvSpPr>
          <p:cNvPr id="20" name="Text 18"/>
          <p:cNvSpPr/>
          <p:nvPr/>
        </p:nvSpPr>
        <p:spPr>
          <a:xfrm>
            <a:off x="822960" y="3991356"/>
            <a:ext cx="5175504" cy="900684"/>
          </a:xfrm>
          <a:prstGeom prst="roundRect">
            <a:avLst>
              <a:gd name="adj" fmla="val 8122"/>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Airflow updates state after each task: success, failed, retry, skipped</a:t>
            </a:r>
            <a:endParaRPr lang="en-US" sz="1300" dirty="0"/>
          </a:p>
        </p:txBody>
      </p:sp>
      <p:sp>
        <p:nvSpPr>
          <p:cNvPr id="21" name="Text 19"/>
          <p:cNvSpPr/>
          <p:nvPr/>
        </p:nvSpPr>
        <p:spPr>
          <a:xfrm>
            <a:off x="6163056" y="3991356"/>
            <a:ext cx="5175504" cy="900684"/>
          </a:xfrm>
          <a:prstGeom prst="roundRect">
            <a:avLst>
              <a:gd name="adj" fmla="val 8122"/>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Downstream tasks become eligible only after dependency rules are satisfied</a:t>
            </a:r>
            <a:endParaRPr lang="en-US" sz="1300" dirty="0"/>
          </a:p>
        </p:txBody>
      </p:sp>
      <p:sp>
        <p:nvSpPr>
          <p:cNvPr id="22" name="Text 20"/>
          <p:cNvSpPr/>
          <p:nvPr/>
        </p:nvSpPr>
        <p:spPr>
          <a:xfrm>
            <a:off x="914400" y="5623560"/>
            <a:ext cx="10332720" cy="320040"/>
          </a:xfrm>
          <a:prstGeom prst="rect">
            <a:avLst/>
          </a:prstGeom>
          <a:noFill/>
          <a:ln/>
        </p:spPr>
        <p:txBody>
          <a:bodyPr wrap="square" lIns="381" tIns="381" rIns="381" bIns="381" rtlCol="0" anchor="t">
            <a:normAutofit/>
          </a:bodyPr>
          <a:lstStyle/>
          <a:p>
            <a:pPr marL="0" indent="0" algn="ctr">
              <a:buNone/>
            </a:pPr>
            <a:r>
              <a:rPr lang="en-US" sz="1700" b="1" dirty="0">
                <a:solidFill>
                  <a:srgbClr val="FFD166"/>
                </a:solidFill>
                <a:latin typeface="Aptos" pitchFamily="34" charset="0"/>
                <a:ea typeface="Aptos" pitchFamily="34" charset="-122"/>
                <a:cs typeface="Aptos" pitchFamily="34" charset="-120"/>
              </a:rPr>
              <a:t>Think like production support: “Which run? Which task? Which state? Which log?”</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Implementation</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Increment 2: extract raw data</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First Airflow activity — collect source data into Bronze</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508760"/>
            <a:ext cx="914400" cy="777240"/>
          </a:xfrm>
          <a:prstGeom prst="roundRect">
            <a:avLst>
              <a:gd name="adj" fmla="val 9412"/>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Orders API</a:t>
            </a:r>
            <a:endParaRPr lang="en-US" sz="1250" dirty="0"/>
          </a:p>
        </p:txBody>
      </p:sp>
      <p:sp>
        <p:nvSpPr>
          <p:cNvPr id="11" name="Text 9"/>
          <p:cNvSpPr/>
          <p:nvPr/>
        </p:nvSpPr>
        <p:spPr>
          <a:xfrm>
            <a:off x="1792224" y="17602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148840" y="1508760"/>
            <a:ext cx="914400" cy="777240"/>
          </a:xfrm>
          <a:prstGeom prst="roundRect">
            <a:avLst>
              <a:gd name="adj" fmla="val 9412"/>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Payments DB</a:t>
            </a:r>
            <a:endParaRPr lang="en-US" sz="1250" dirty="0"/>
          </a:p>
        </p:txBody>
      </p:sp>
      <p:sp>
        <p:nvSpPr>
          <p:cNvPr id="13" name="Text 11"/>
          <p:cNvSpPr/>
          <p:nvPr/>
        </p:nvSpPr>
        <p:spPr>
          <a:xfrm>
            <a:off x="3163824" y="17602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3520440" y="1508760"/>
            <a:ext cx="914400" cy="777240"/>
          </a:xfrm>
          <a:prstGeom prst="roundRect">
            <a:avLst>
              <a:gd name="adj" fmla="val 9412"/>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Rider CSV</a:t>
            </a:r>
            <a:endParaRPr lang="en-US" sz="1250" dirty="0"/>
          </a:p>
        </p:txBody>
      </p:sp>
      <p:sp>
        <p:nvSpPr>
          <p:cNvPr id="15" name="Text 13"/>
          <p:cNvSpPr/>
          <p:nvPr/>
        </p:nvSpPr>
        <p:spPr>
          <a:xfrm>
            <a:off x="4535424" y="17602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4892040" y="1508760"/>
            <a:ext cx="914400" cy="777240"/>
          </a:xfrm>
          <a:prstGeom prst="roundRect">
            <a:avLst>
              <a:gd name="adj" fmla="val 9412"/>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Restaurant file</a:t>
            </a:r>
            <a:endParaRPr lang="en-US" sz="1250" dirty="0"/>
          </a:p>
        </p:txBody>
      </p:sp>
      <p:sp>
        <p:nvSpPr>
          <p:cNvPr id="17" name="Text 15"/>
          <p:cNvSpPr/>
          <p:nvPr/>
        </p:nvSpPr>
        <p:spPr>
          <a:xfrm>
            <a:off x="5943600" y="1737360"/>
            <a:ext cx="320040"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6355080" y="1417320"/>
            <a:ext cx="1920240" cy="960120"/>
          </a:xfrm>
          <a:prstGeom prst="roundRect">
            <a:avLst>
              <a:gd name="adj" fmla="val 7619"/>
            </a:avLst>
          </a:prstGeom>
          <a:solidFill>
            <a:srgbClr val="38D9FF"/>
          </a:solidFill>
          <a:ln w="12700">
            <a:solidFill>
              <a:srgbClr val="38D9FF">
                <a:alpha val="0"/>
              </a:srgbClr>
            </a:solidFill>
          </a:ln>
        </p:spPr>
        <p:txBody>
          <a:bodyPr wrap="square" lIns="1016" tIns="1016" rIns="1016" bIns="1016" rtlCol="0" anchor="ctr">
            <a:normAutofit/>
          </a:bodyPr>
          <a:lstStyle/>
          <a:p>
            <a:pPr marL="0" indent="0" algn="ctr">
              <a:buNone/>
            </a:pPr>
            <a:r>
              <a:rPr lang="en-US" sz="1500" b="1" dirty="0">
                <a:solidFill>
                  <a:srgbClr val="071827"/>
                </a:solidFill>
              </a:rPr>
              <a:t>extract_raw_data</a:t>
            </a:r>
            <a:endParaRPr lang="en-US" sz="1500" dirty="0"/>
          </a:p>
          <a:p>
            <a:pPr marL="0" indent="0" algn="ctr">
              <a:buNone/>
            </a:pPr>
            <a:r>
              <a:rPr lang="en-US" sz="1500" b="1" dirty="0">
                <a:solidFill>
                  <a:srgbClr val="071827"/>
                </a:solidFill>
              </a:rPr>
              <a:t>Python @task</a:t>
            </a:r>
            <a:endParaRPr lang="en-US" sz="1500" dirty="0"/>
          </a:p>
        </p:txBody>
      </p:sp>
      <p:sp>
        <p:nvSpPr>
          <p:cNvPr id="19" name="Text 17"/>
          <p:cNvSpPr/>
          <p:nvPr/>
        </p:nvSpPr>
        <p:spPr>
          <a:xfrm>
            <a:off x="8430768" y="1737360"/>
            <a:ext cx="320040"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20" name="Text 18"/>
          <p:cNvSpPr/>
          <p:nvPr/>
        </p:nvSpPr>
        <p:spPr>
          <a:xfrm>
            <a:off x="8823960" y="1417320"/>
            <a:ext cx="2331720" cy="960120"/>
          </a:xfrm>
          <a:prstGeom prst="roundRect">
            <a:avLst>
              <a:gd name="adj" fmla="val 7619"/>
            </a:avLst>
          </a:prstGeom>
          <a:solidFill>
            <a:srgbClr val="FF9F43"/>
          </a:solidFill>
          <a:ln w="12700">
            <a:solidFill>
              <a:srgbClr val="FF9F43">
                <a:alpha val="0"/>
              </a:srgbClr>
            </a:solidFill>
          </a:ln>
        </p:spPr>
        <p:txBody>
          <a:bodyPr wrap="square" lIns="1016" tIns="1016" rIns="1016" bIns="1016" rtlCol="0" anchor="ctr">
            <a:normAutofit/>
          </a:bodyPr>
          <a:lstStyle/>
          <a:p>
            <a:pPr marL="0" indent="0" algn="ctr">
              <a:buNone/>
            </a:pPr>
            <a:r>
              <a:rPr lang="en-US" sz="1500" b="1" dirty="0">
                <a:solidFill>
                  <a:srgbClr val="071827"/>
                </a:solidFill>
              </a:rPr>
              <a:t>Bronze storage</a:t>
            </a:r>
            <a:endParaRPr lang="en-US" sz="1500" dirty="0"/>
          </a:p>
          <a:p>
            <a:pPr marL="0" indent="0" algn="ctr">
              <a:buNone/>
            </a:pPr>
            <a:r>
              <a:rPr lang="en-US" sz="1500" b="1" dirty="0">
                <a:solidFill>
                  <a:srgbClr val="071827"/>
                </a:solidFill>
              </a:rPr>
              <a:t>raw/order_date=...</a:t>
            </a:r>
            <a:endParaRPr lang="en-US" sz="1500" dirty="0"/>
          </a:p>
        </p:txBody>
      </p:sp>
      <p:sp>
        <p:nvSpPr>
          <p:cNvPr id="21" name="Text 19"/>
          <p:cNvSpPr/>
          <p:nvPr/>
        </p:nvSpPr>
        <p:spPr>
          <a:xfrm>
            <a:off x="868680" y="3108960"/>
            <a:ext cx="2482596" cy="1600200"/>
          </a:xfrm>
          <a:prstGeom prst="roundRect">
            <a:avLst>
              <a:gd name="adj" fmla="val 457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Use execution date / data interval to fetch the correct day</a:t>
            </a:r>
            <a:endParaRPr lang="en-US" sz="1300" dirty="0"/>
          </a:p>
        </p:txBody>
      </p:sp>
      <p:sp>
        <p:nvSpPr>
          <p:cNvPr id="22" name="Text 20"/>
          <p:cNvSpPr/>
          <p:nvPr/>
        </p:nvSpPr>
        <p:spPr>
          <a:xfrm>
            <a:off x="3515868" y="3108960"/>
            <a:ext cx="2482596" cy="1600200"/>
          </a:xfrm>
          <a:prstGeom prst="roundRect">
            <a:avLst>
              <a:gd name="adj" fmla="val 457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Write immutable raw files to preserve auditability</a:t>
            </a:r>
            <a:endParaRPr lang="en-US" sz="1300" dirty="0"/>
          </a:p>
        </p:txBody>
      </p:sp>
      <p:sp>
        <p:nvSpPr>
          <p:cNvPr id="23" name="Text 21"/>
          <p:cNvSpPr/>
          <p:nvPr/>
        </p:nvSpPr>
        <p:spPr>
          <a:xfrm>
            <a:off x="6163056" y="3108960"/>
            <a:ext cx="2482596" cy="1600200"/>
          </a:xfrm>
          <a:prstGeom prst="roundRect">
            <a:avLst>
              <a:gd name="adj" fmla="val 457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Task should be idempotent: rerun should not duplicate data</a:t>
            </a:r>
            <a:endParaRPr lang="en-US" sz="1300" dirty="0"/>
          </a:p>
        </p:txBody>
      </p:sp>
      <p:sp>
        <p:nvSpPr>
          <p:cNvPr id="24" name="Text 22"/>
          <p:cNvSpPr/>
          <p:nvPr/>
        </p:nvSpPr>
        <p:spPr>
          <a:xfrm>
            <a:off x="8810244" y="3108960"/>
            <a:ext cx="2482596" cy="1600200"/>
          </a:xfrm>
          <a:prstGeom prst="roundRect">
            <a:avLst>
              <a:gd name="adj" fmla="val 457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Log source count and output path</a:t>
            </a:r>
            <a:endParaRPr lang="en-US" sz="1300" dirty="0"/>
          </a:p>
        </p:txBody>
      </p:sp>
      <p:sp>
        <p:nvSpPr>
          <p:cNvPr id="25" name="Text 23"/>
          <p:cNvSpPr/>
          <p:nvPr/>
        </p:nvSpPr>
        <p:spPr>
          <a:xfrm>
            <a:off x="1097280" y="5349240"/>
            <a:ext cx="9875520" cy="502920"/>
          </a:xfrm>
          <a:prstGeom prst="roundRect">
            <a:avLst>
              <a:gd name="adj" fmla="val 14545"/>
            </a:avLst>
          </a:prstGeom>
          <a:solidFill>
            <a:srgbClr val="0B2338"/>
          </a:solidFill>
          <a:ln w="12700">
            <a:solidFill>
              <a:srgbClr val="46E6A9">
                <a:alpha val="0"/>
              </a:srgbClr>
            </a:solidFill>
          </a:ln>
        </p:spPr>
        <p:txBody>
          <a:bodyPr wrap="square" lIns="1016" tIns="1016" rIns="1016" bIns="1016" rtlCol="0" anchor="ctr">
            <a:normAutofit/>
          </a:bodyPr>
          <a:lstStyle/>
          <a:p>
            <a:pPr marL="0" indent="0" algn="ctr">
              <a:buNone/>
            </a:pPr>
            <a:r>
              <a:rPr lang="en-US" sz="1500" b="1" dirty="0">
                <a:solidFill>
                  <a:srgbClr val="46E6A9"/>
                </a:solidFill>
              </a:rPr>
              <a:t>Beginner implementation: use @task Python function to create sample JSON/CSV in a local folder.</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Implementation</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Increment 3: validate data quality</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Airflow makes quality checks visible and recoverable</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685800" y="1508760"/>
            <a:ext cx="1792224" cy="868680"/>
          </a:xfrm>
          <a:prstGeom prst="roundRect">
            <a:avLst>
              <a:gd name="adj" fmla="val 8421"/>
            </a:avLst>
          </a:prstGeom>
          <a:solidFill>
            <a:srgbClr val="FF9F43"/>
          </a:solidFill>
          <a:ln w="12700">
            <a:solidFill>
              <a:srgbClr val="FF9F43">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Bronze orders</a:t>
            </a:r>
            <a:endParaRPr lang="en-US" sz="1250" dirty="0"/>
          </a:p>
        </p:txBody>
      </p:sp>
      <p:sp>
        <p:nvSpPr>
          <p:cNvPr id="11" name="Text 9"/>
          <p:cNvSpPr/>
          <p:nvPr/>
        </p:nvSpPr>
        <p:spPr>
          <a:xfrm>
            <a:off x="2578608"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35224" y="1508760"/>
            <a:ext cx="1792224" cy="868680"/>
          </a:xfrm>
          <a:prstGeom prst="roundRect">
            <a:avLst>
              <a:gd name="adj" fmla="val 8421"/>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validate_schema</a:t>
            </a:r>
            <a:endParaRPr lang="en-US" sz="1250" dirty="0"/>
          </a:p>
        </p:txBody>
      </p:sp>
      <p:sp>
        <p:nvSpPr>
          <p:cNvPr id="13" name="Text 11"/>
          <p:cNvSpPr/>
          <p:nvPr/>
        </p:nvSpPr>
        <p:spPr>
          <a:xfrm>
            <a:off x="4828032"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184648" y="1508760"/>
            <a:ext cx="1792224" cy="868680"/>
          </a:xfrm>
          <a:prstGeom prst="roundRect">
            <a:avLst>
              <a:gd name="adj" fmla="val 8421"/>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validate_business_rules</a:t>
            </a:r>
            <a:endParaRPr lang="en-US" sz="1250" dirty="0"/>
          </a:p>
        </p:txBody>
      </p:sp>
      <p:sp>
        <p:nvSpPr>
          <p:cNvPr id="15" name="Text 13"/>
          <p:cNvSpPr/>
          <p:nvPr/>
        </p:nvSpPr>
        <p:spPr>
          <a:xfrm>
            <a:off x="7077456"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434072" y="1508760"/>
            <a:ext cx="1792224" cy="868680"/>
          </a:xfrm>
          <a:prstGeom prst="roundRect">
            <a:avLst>
              <a:gd name="adj" fmla="val 8421"/>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quality_result</a:t>
            </a:r>
            <a:endParaRPr lang="en-US" sz="1250" dirty="0"/>
          </a:p>
        </p:txBody>
      </p:sp>
      <p:sp>
        <p:nvSpPr>
          <p:cNvPr id="17" name="Text 15"/>
          <p:cNvSpPr/>
          <p:nvPr/>
        </p:nvSpPr>
        <p:spPr>
          <a:xfrm>
            <a:off x="9326880"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683496" y="1508760"/>
            <a:ext cx="1792224" cy="868680"/>
          </a:xfrm>
          <a:prstGeom prst="roundRect">
            <a:avLst>
              <a:gd name="adj" fmla="val 8421"/>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continue / fail</a:t>
            </a:r>
            <a:endParaRPr lang="en-US" sz="1250" dirty="0"/>
          </a:p>
        </p:txBody>
      </p:sp>
      <p:sp>
        <p:nvSpPr>
          <p:cNvPr id="19" name="Text 17"/>
          <p:cNvSpPr/>
          <p:nvPr/>
        </p:nvSpPr>
        <p:spPr>
          <a:xfrm>
            <a:off x="868680" y="2880360"/>
            <a:ext cx="2482596" cy="1828800"/>
          </a:xfrm>
          <a:prstGeom prst="roundRect">
            <a:avLst>
              <a:gd name="adj" fmla="val 400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Schema checks</a:t>
            </a:r>
            <a:endParaRPr lang="en-US" sz="1300" dirty="0"/>
          </a:p>
          <a:p>
            <a:pPr marL="0" indent="0" algn="l">
              <a:buNone/>
            </a:pPr>
            <a:r>
              <a:rPr lang="en-US" sz="1300" b="1" dirty="0">
                <a:solidFill>
                  <a:srgbClr val="F8FAFC"/>
                </a:solidFill>
              </a:rPr>
              <a:t>required columns, data types</a:t>
            </a:r>
            <a:endParaRPr lang="en-US" sz="1300" dirty="0"/>
          </a:p>
        </p:txBody>
      </p:sp>
      <p:sp>
        <p:nvSpPr>
          <p:cNvPr id="20" name="Text 18"/>
          <p:cNvSpPr/>
          <p:nvPr/>
        </p:nvSpPr>
        <p:spPr>
          <a:xfrm>
            <a:off x="3515868" y="2880360"/>
            <a:ext cx="2482596" cy="1828800"/>
          </a:xfrm>
          <a:prstGeom prst="roundRect">
            <a:avLst>
              <a:gd name="adj" fmla="val 400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Business checks</a:t>
            </a:r>
            <a:endParaRPr lang="en-US" sz="1300" dirty="0"/>
          </a:p>
          <a:p>
            <a:pPr marL="0" indent="0" algn="l">
              <a:buNone/>
            </a:pPr>
            <a:r>
              <a:rPr lang="en-US" sz="1300" b="1" dirty="0">
                <a:solidFill>
                  <a:srgbClr val="F8FAFC"/>
                </a:solidFill>
              </a:rPr>
              <a:t>amount &gt;= 0, status in allowed list</a:t>
            </a:r>
            <a:endParaRPr lang="en-US" sz="1300" dirty="0"/>
          </a:p>
        </p:txBody>
      </p:sp>
      <p:sp>
        <p:nvSpPr>
          <p:cNvPr id="21" name="Text 19"/>
          <p:cNvSpPr/>
          <p:nvPr/>
        </p:nvSpPr>
        <p:spPr>
          <a:xfrm>
            <a:off x="6163056" y="2880360"/>
            <a:ext cx="2482596" cy="1828800"/>
          </a:xfrm>
          <a:prstGeom prst="roundRect">
            <a:avLst>
              <a:gd name="adj" fmla="val 400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Volume checks</a:t>
            </a:r>
            <a:endParaRPr lang="en-US" sz="1300" dirty="0"/>
          </a:p>
          <a:p>
            <a:pPr marL="0" indent="0" algn="l">
              <a:buNone/>
            </a:pPr>
            <a:r>
              <a:rPr lang="en-US" sz="1300" b="1" dirty="0">
                <a:solidFill>
                  <a:srgbClr val="F8FAFC"/>
                </a:solidFill>
              </a:rPr>
              <a:t>row count is within expected range</a:t>
            </a:r>
            <a:endParaRPr lang="en-US" sz="1300" dirty="0"/>
          </a:p>
        </p:txBody>
      </p:sp>
      <p:sp>
        <p:nvSpPr>
          <p:cNvPr id="22" name="Text 20"/>
          <p:cNvSpPr/>
          <p:nvPr/>
        </p:nvSpPr>
        <p:spPr>
          <a:xfrm>
            <a:off x="8810244" y="2880360"/>
            <a:ext cx="2482596" cy="1828800"/>
          </a:xfrm>
          <a:prstGeom prst="roundRect">
            <a:avLst>
              <a:gd name="adj" fmla="val 400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Freshness checks</a:t>
            </a:r>
            <a:endParaRPr lang="en-US" sz="1300" dirty="0"/>
          </a:p>
          <a:p>
            <a:pPr marL="0" indent="0" algn="l">
              <a:buNone/>
            </a:pPr>
            <a:r>
              <a:rPr lang="en-US" sz="1300" b="1" dirty="0">
                <a:solidFill>
                  <a:srgbClr val="F8FAFC"/>
                </a:solidFill>
              </a:rPr>
              <a:t>yesterday’s data arrived on time</a:t>
            </a:r>
            <a:endParaRPr lang="en-US" sz="1300" dirty="0"/>
          </a:p>
        </p:txBody>
      </p:sp>
      <p:sp>
        <p:nvSpPr>
          <p:cNvPr id="23" name="Text 21"/>
          <p:cNvSpPr/>
          <p:nvPr/>
        </p:nvSpPr>
        <p:spPr>
          <a:xfrm>
            <a:off x="914400" y="5532120"/>
            <a:ext cx="10241280" cy="320040"/>
          </a:xfrm>
          <a:prstGeom prst="rect">
            <a:avLst/>
          </a:prstGeom>
          <a:noFill/>
          <a:ln/>
        </p:spPr>
        <p:txBody>
          <a:bodyPr wrap="square" lIns="381" tIns="381" rIns="381" bIns="381" rtlCol="0" anchor="t">
            <a:normAutofit/>
          </a:bodyPr>
          <a:lstStyle/>
          <a:p>
            <a:pPr marL="0" indent="0" algn="ctr">
              <a:buNone/>
            </a:pPr>
            <a:r>
              <a:rPr lang="en-US" sz="1700" b="1" dirty="0">
                <a:solidFill>
                  <a:srgbClr val="FF6B6B"/>
                </a:solidFill>
                <a:latin typeface="Aptos" pitchFamily="34" charset="0"/>
                <a:ea typeface="Aptos" pitchFamily="34" charset="-122"/>
                <a:cs typeface="Aptos" pitchFamily="34" charset="-120"/>
              </a:rPr>
              <a:t>Industry practice: fail early before bad data reaches Silver/Gold tables.</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Implementation</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Increment 4: transform to Silver and Gold</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Airflow orchestrates compute engines; it does not have to transform all data itself</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685800" y="1508760"/>
            <a:ext cx="1792224" cy="868680"/>
          </a:xfrm>
          <a:prstGeom prst="roundRect">
            <a:avLst>
              <a:gd name="adj" fmla="val 8421"/>
            </a:avLst>
          </a:prstGeom>
          <a:solidFill>
            <a:srgbClr val="FF9F43"/>
          </a:solidFill>
          <a:ln w="12700">
            <a:solidFill>
              <a:srgbClr val="FF9F43">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Bronze</a:t>
            </a:r>
            <a:endParaRPr lang="en-US" sz="1250" dirty="0"/>
          </a:p>
        </p:txBody>
      </p:sp>
      <p:sp>
        <p:nvSpPr>
          <p:cNvPr id="11" name="Text 9"/>
          <p:cNvSpPr/>
          <p:nvPr/>
        </p:nvSpPr>
        <p:spPr>
          <a:xfrm>
            <a:off x="2578608"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35224" y="1508760"/>
            <a:ext cx="1792224" cy="868680"/>
          </a:xfrm>
          <a:prstGeom prst="roundRect">
            <a:avLst>
              <a:gd name="adj" fmla="val 8421"/>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clean_orders</a:t>
            </a:r>
            <a:endParaRPr lang="en-US" sz="1250" dirty="0"/>
          </a:p>
          <a:p>
            <a:pPr marL="0" indent="0" algn="ctr">
              <a:buNone/>
            </a:pPr>
            <a:r>
              <a:rPr lang="en-US" sz="1250" b="1" dirty="0">
                <a:solidFill>
                  <a:srgbClr val="F8FAFC"/>
                </a:solidFill>
              </a:rPr>
              <a:t>Silver</a:t>
            </a:r>
            <a:endParaRPr lang="en-US" sz="1250" dirty="0"/>
          </a:p>
        </p:txBody>
      </p:sp>
      <p:sp>
        <p:nvSpPr>
          <p:cNvPr id="13" name="Text 11"/>
          <p:cNvSpPr/>
          <p:nvPr/>
        </p:nvSpPr>
        <p:spPr>
          <a:xfrm>
            <a:off x="4828032"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184648" y="1508760"/>
            <a:ext cx="1792224" cy="868680"/>
          </a:xfrm>
          <a:prstGeom prst="roundRect">
            <a:avLst>
              <a:gd name="adj" fmla="val 8421"/>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join dimensions</a:t>
            </a:r>
            <a:endParaRPr lang="en-US" sz="1250" dirty="0"/>
          </a:p>
        </p:txBody>
      </p:sp>
      <p:sp>
        <p:nvSpPr>
          <p:cNvPr id="15" name="Text 13"/>
          <p:cNvSpPr/>
          <p:nvPr/>
        </p:nvSpPr>
        <p:spPr>
          <a:xfrm>
            <a:off x="7077456"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434072" y="1508760"/>
            <a:ext cx="1792224" cy="868680"/>
          </a:xfrm>
          <a:prstGeom prst="roundRect">
            <a:avLst>
              <a:gd name="adj" fmla="val 8421"/>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aggregate_metrics</a:t>
            </a:r>
            <a:endParaRPr lang="en-US" sz="1250" dirty="0"/>
          </a:p>
          <a:p>
            <a:pPr marL="0" indent="0" algn="ctr">
              <a:buNone/>
            </a:pPr>
            <a:r>
              <a:rPr lang="en-US" sz="1250" b="1" dirty="0">
                <a:solidFill>
                  <a:srgbClr val="F8FAFC"/>
                </a:solidFill>
              </a:rPr>
              <a:t>Gold</a:t>
            </a:r>
            <a:endParaRPr lang="en-US" sz="1250" dirty="0"/>
          </a:p>
        </p:txBody>
      </p:sp>
      <p:sp>
        <p:nvSpPr>
          <p:cNvPr id="17" name="Text 15"/>
          <p:cNvSpPr/>
          <p:nvPr/>
        </p:nvSpPr>
        <p:spPr>
          <a:xfrm>
            <a:off x="9326880"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683496" y="1508760"/>
            <a:ext cx="1792224" cy="868680"/>
          </a:xfrm>
          <a:prstGeom prst="roundRect">
            <a:avLst>
              <a:gd name="adj" fmla="val 8421"/>
            </a:avLst>
          </a:prstGeom>
          <a:solidFill>
            <a:srgbClr val="B389FF"/>
          </a:solidFill>
          <a:ln w="12700">
            <a:solidFill>
              <a:srgbClr val="B389FF">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report table</a:t>
            </a:r>
            <a:endParaRPr lang="en-US" sz="1250" dirty="0"/>
          </a:p>
        </p:txBody>
      </p:sp>
      <p:sp>
        <p:nvSpPr>
          <p:cNvPr id="19" name="Text 17"/>
          <p:cNvSpPr/>
          <p:nvPr/>
        </p:nvSpPr>
        <p:spPr>
          <a:xfrm>
            <a:off x="868680" y="2880360"/>
            <a:ext cx="2482596" cy="1600200"/>
          </a:xfrm>
          <a:prstGeom prst="roundRect">
            <a:avLst>
              <a:gd name="adj" fmla="val 457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Python for small files or control logic</a:t>
            </a:r>
            <a:endParaRPr lang="en-US" sz="1300" dirty="0"/>
          </a:p>
        </p:txBody>
      </p:sp>
      <p:sp>
        <p:nvSpPr>
          <p:cNvPr id="20" name="Text 18"/>
          <p:cNvSpPr/>
          <p:nvPr/>
        </p:nvSpPr>
        <p:spPr>
          <a:xfrm>
            <a:off x="3515868" y="2880360"/>
            <a:ext cx="2482596" cy="1600200"/>
          </a:xfrm>
          <a:prstGeom prst="roundRect">
            <a:avLst>
              <a:gd name="adj" fmla="val 457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SQL for warehouse transforms</a:t>
            </a:r>
            <a:endParaRPr lang="en-US" sz="1300" dirty="0"/>
          </a:p>
        </p:txBody>
      </p:sp>
      <p:sp>
        <p:nvSpPr>
          <p:cNvPr id="21" name="Text 19"/>
          <p:cNvSpPr/>
          <p:nvPr/>
        </p:nvSpPr>
        <p:spPr>
          <a:xfrm>
            <a:off x="6163056" y="2880360"/>
            <a:ext cx="2482596" cy="1600200"/>
          </a:xfrm>
          <a:prstGeom prst="roundRect">
            <a:avLst>
              <a:gd name="adj" fmla="val 457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Spark/Databricks for large data processing</a:t>
            </a:r>
            <a:endParaRPr lang="en-US" sz="1300" dirty="0"/>
          </a:p>
        </p:txBody>
      </p:sp>
      <p:sp>
        <p:nvSpPr>
          <p:cNvPr id="22" name="Text 20"/>
          <p:cNvSpPr/>
          <p:nvPr/>
        </p:nvSpPr>
        <p:spPr>
          <a:xfrm>
            <a:off x="8810244" y="2880360"/>
            <a:ext cx="2482596" cy="1600200"/>
          </a:xfrm>
          <a:prstGeom prst="roundRect">
            <a:avLst>
              <a:gd name="adj" fmla="val 457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dbt for modular SQL models</a:t>
            </a:r>
            <a:endParaRPr lang="en-US" sz="1300" dirty="0"/>
          </a:p>
        </p:txBody>
      </p:sp>
      <p:sp>
        <p:nvSpPr>
          <p:cNvPr id="23" name="Text 21"/>
          <p:cNvSpPr/>
          <p:nvPr/>
        </p:nvSpPr>
        <p:spPr>
          <a:xfrm>
            <a:off x="960120" y="5120640"/>
            <a:ext cx="10241280" cy="685800"/>
          </a:xfrm>
          <a:prstGeom prst="roundRect">
            <a:avLst>
              <a:gd name="adj" fmla="val 10667"/>
            </a:avLst>
          </a:prstGeom>
          <a:solidFill>
            <a:srgbClr val="0B2338"/>
          </a:solidFill>
          <a:ln w="12700">
            <a:solidFill>
              <a:srgbClr val="38D9FF">
                <a:alpha val="0"/>
              </a:srgbClr>
            </a:solidFill>
          </a:ln>
        </p:spPr>
        <p:txBody>
          <a:bodyPr wrap="square" lIns="1016" tIns="1016" rIns="1016" bIns="1016" rtlCol="0" anchor="ctr">
            <a:normAutofit/>
          </a:bodyPr>
          <a:lstStyle/>
          <a:p>
            <a:pPr marL="0" indent="0" algn="ctr">
              <a:buNone/>
            </a:pPr>
            <a:r>
              <a:rPr lang="en-US" sz="1500" b="1" dirty="0">
                <a:solidFill>
                  <a:srgbClr val="38D9FF"/>
                </a:solidFill>
              </a:rPr>
              <a:t>Food metric examples</a:t>
            </a:r>
            <a:endParaRPr lang="en-US" sz="1500" dirty="0"/>
          </a:p>
          <a:p>
            <a:pPr marL="0" indent="0" algn="ctr">
              <a:buNone/>
            </a:pPr>
            <a:r>
              <a:rPr lang="en-US" sz="1500" b="1" dirty="0">
                <a:solidFill>
                  <a:srgbClr val="38D9FF"/>
                </a:solidFill>
              </a:rPr>
              <a:t>orders by city • revenue by restaurant • cancellations by hour • average delivery time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Implementation</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Increment 5: load, refresh, and notify</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A pipeline is successful only when the business output is ready</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685800" y="1508760"/>
            <a:ext cx="1792224" cy="868680"/>
          </a:xfrm>
          <a:prstGeom prst="roundRect">
            <a:avLst>
              <a:gd name="adj" fmla="val 8421"/>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Gold metrics</a:t>
            </a:r>
            <a:endParaRPr lang="en-US" sz="1250" dirty="0"/>
          </a:p>
        </p:txBody>
      </p:sp>
      <p:sp>
        <p:nvSpPr>
          <p:cNvPr id="11" name="Text 9"/>
          <p:cNvSpPr/>
          <p:nvPr/>
        </p:nvSpPr>
        <p:spPr>
          <a:xfrm>
            <a:off x="2578608"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35224" y="1508760"/>
            <a:ext cx="1792224" cy="868680"/>
          </a:xfrm>
          <a:prstGeom prst="roundRect">
            <a:avLst>
              <a:gd name="adj" fmla="val 8421"/>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load_warehouse</a:t>
            </a:r>
            <a:endParaRPr lang="en-US" sz="1250" dirty="0"/>
          </a:p>
        </p:txBody>
      </p:sp>
      <p:sp>
        <p:nvSpPr>
          <p:cNvPr id="13" name="Text 11"/>
          <p:cNvSpPr/>
          <p:nvPr/>
        </p:nvSpPr>
        <p:spPr>
          <a:xfrm>
            <a:off x="4828032"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184648" y="1508760"/>
            <a:ext cx="1792224" cy="868680"/>
          </a:xfrm>
          <a:prstGeom prst="roundRect">
            <a:avLst>
              <a:gd name="adj" fmla="val 8421"/>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refresh_dashboard</a:t>
            </a:r>
            <a:endParaRPr lang="en-US" sz="1250" dirty="0"/>
          </a:p>
        </p:txBody>
      </p:sp>
      <p:sp>
        <p:nvSpPr>
          <p:cNvPr id="15" name="Text 13"/>
          <p:cNvSpPr/>
          <p:nvPr/>
        </p:nvSpPr>
        <p:spPr>
          <a:xfrm>
            <a:off x="7077456"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434072" y="1508760"/>
            <a:ext cx="1792224" cy="868680"/>
          </a:xfrm>
          <a:prstGeom prst="roundRect">
            <a:avLst>
              <a:gd name="adj" fmla="val 8421"/>
            </a:avLst>
          </a:prstGeom>
          <a:solidFill>
            <a:srgbClr val="B389FF"/>
          </a:solidFill>
          <a:ln w="12700">
            <a:solidFill>
              <a:srgbClr val="B389FF">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send_success_alert</a:t>
            </a:r>
            <a:endParaRPr lang="en-US" sz="1250" dirty="0"/>
          </a:p>
        </p:txBody>
      </p:sp>
      <p:sp>
        <p:nvSpPr>
          <p:cNvPr id="17" name="Text 15"/>
          <p:cNvSpPr/>
          <p:nvPr/>
        </p:nvSpPr>
        <p:spPr>
          <a:xfrm>
            <a:off x="9326880" y="180594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683496" y="1508760"/>
            <a:ext cx="1792224" cy="868680"/>
          </a:xfrm>
          <a:prstGeom prst="roundRect">
            <a:avLst>
              <a:gd name="adj" fmla="val 8421"/>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archive logs</a:t>
            </a:r>
            <a:endParaRPr lang="en-US" sz="1250" dirty="0"/>
          </a:p>
        </p:txBody>
      </p:sp>
      <p:sp>
        <p:nvSpPr>
          <p:cNvPr id="19" name="Text 17"/>
          <p:cNvSpPr/>
          <p:nvPr/>
        </p:nvSpPr>
        <p:spPr>
          <a:xfrm>
            <a:off x="868680" y="2880360"/>
            <a:ext cx="2482596" cy="1828800"/>
          </a:xfrm>
          <a:prstGeom prst="roundRect">
            <a:avLst>
              <a:gd name="adj" fmla="val 400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Warehouse load</a:t>
            </a:r>
            <a:endParaRPr lang="en-US" sz="1300" dirty="0"/>
          </a:p>
          <a:p>
            <a:pPr marL="0" indent="0" algn="l">
              <a:buNone/>
            </a:pPr>
            <a:r>
              <a:rPr lang="en-US" sz="1300" b="1" dirty="0">
                <a:solidFill>
                  <a:srgbClr val="F8FAFC"/>
                </a:solidFill>
              </a:rPr>
              <a:t>insert overwrite daily partition</a:t>
            </a:r>
            <a:endParaRPr lang="en-US" sz="1300" dirty="0"/>
          </a:p>
        </p:txBody>
      </p:sp>
      <p:sp>
        <p:nvSpPr>
          <p:cNvPr id="20" name="Text 18"/>
          <p:cNvSpPr/>
          <p:nvPr/>
        </p:nvSpPr>
        <p:spPr>
          <a:xfrm>
            <a:off x="3515868" y="2880360"/>
            <a:ext cx="2482596" cy="1828800"/>
          </a:xfrm>
          <a:prstGeom prst="roundRect">
            <a:avLst>
              <a:gd name="adj" fmla="val 400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Dashboard refresh</a:t>
            </a:r>
            <a:endParaRPr lang="en-US" sz="1300" dirty="0"/>
          </a:p>
          <a:p>
            <a:pPr marL="0" indent="0" algn="l">
              <a:buNone/>
            </a:pPr>
            <a:r>
              <a:rPr lang="en-US" sz="1300" b="1" dirty="0">
                <a:solidFill>
                  <a:srgbClr val="F8FAFC"/>
                </a:solidFill>
              </a:rPr>
              <a:t>BI extract or semantic model refresh</a:t>
            </a:r>
            <a:endParaRPr lang="en-US" sz="1300" dirty="0"/>
          </a:p>
        </p:txBody>
      </p:sp>
      <p:sp>
        <p:nvSpPr>
          <p:cNvPr id="21" name="Text 19"/>
          <p:cNvSpPr/>
          <p:nvPr/>
        </p:nvSpPr>
        <p:spPr>
          <a:xfrm>
            <a:off x="6163056" y="2880360"/>
            <a:ext cx="2482596" cy="1828800"/>
          </a:xfrm>
          <a:prstGeom prst="roundRect">
            <a:avLst>
              <a:gd name="adj" fmla="val 400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Alerting</a:t>
            </a:r>
            <a:endParaRPr lang="en-US" sz="1300" dirty="0"/>
          </a:p>
          <a:p>
            <a:pPr marL="0" indent="0" algn="l">
              <a:buNone/>
            </a:pPr>
            <a:r>
              <a:rPr lang="en-US" sz="1300" b="1" dirty="0">
                <a:solidFill>
                  <a:srgbClr val="F8FAFC"/>
                </a:solidFill>
              </a:rPr>
              <a:t>email/Slack/Teams on success or failure</a:t>
            </a:r>
            <a:endParaRPr lang="en-US" sz="1300" dirty="0"/>
          </a:p>
        </p:txBody>
      </p:sp>
      <p:sp>
        <p:nvSpPr>
          <p:cNvPr id="22" name="Text 20"/>
          <p:cNvSpPr/>
          <p:nvPr/>
        </p:nvSpPr>
        <p:spPr>
          <a:xfrm>
            <a:off x="8810244" y="2880360"/>
            <a:ext cx="2482596" cy="1828800"/>
          </a:xfrm>
          <a:prstGeom prst="roundRect">
            <a:avLst>
              <a:gd name="adj" fmla="val 400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Audit output</a:t>
            </a:r>
            <a:endParaRPr lang="en-US" sz="1300" dirty="0"/>
          </a:p>
          <a:p>
            <a:pPr marL="0" indent="0" algn="l">
              <a:buNone/>
            </a:pPr>
            <a:r>
              <a:rPr lang="en-US" sz="1300" b="1" dirty="0">
                <a:solidFill>
                  <a:srgbClr val="F8FAFC"/>
                </a:solidFill>
              </a:rPr>
              <a:t>run id, row counts, duration, data date</a:t>
            </a:r>
            <a:endParaRPr lang="en-US" sz="1300" dirty="0"/>
          </a:p>
        </p:txBody>
      </p:sp>
      <p:sp>
        <p:nvSpPr>
          <p:cNvPr id="23" name="Text 21"/>
          <p:cNvSpPr/>
          <p:nvPr/>
        </p:nvSpPr>
        <p:spPr>
          <a:xfrm>
            <a:off x="914400" y="5532120"/>
            <a:ext cx="10241280" cy="320040"/>
          </a:xfrm>
          <a:prstGeom prst="rect">
            <a:avLst/>
          </a:prstGeom>
          <a:noFill/>
          <a:ln/>
        </p:spPr>
        <p:txBody>
          <a:bodyPr wrap="square" lIns="381" tIns="381" rIns="381" bIns="381" rtlCol="0" anchor="t">
            <a:normAutofit/>
          </a:bodyPr>
          <a:lstStyle/>
          <a:p>
            <a:pPr marL="0" indent="0" algn="ctr">
              <a:buNone/>
            </a:pPr>
            <a:r>
              <a:rPr lang="en-US" sz="1550" b="1" dirty="0">
                <a:solidFill>
                  <a:srgbClr val="FFD166"/>
                </a:solidFill>
                <a:latin typeface="Aptos" pitchFamily="34" charset="0"/>
                <a:ea typeface="Aptos" pitchFamily="34" charset="-122"/>
                <a:cs typeface="Aptos" pitchFamily="34" charset="-120"/>
              </a:rPr>
              <a:t>Production pipelines must create an operational trail: what ran, when, with which data, and what result.</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Control flow</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Dependencies and branching</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Represent real business decisions inside the workflow</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417320"/>
            <a:ext cx="1310640" cy="777240"/>
          </a:xfrm>
          <a:prstGeom prst="roundRect">
            <a:avLst>
              <a:gd name="adj" fmla="val 9412"/>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extract</a:t>
            </a:r>
            <a:endParaRPr lang="en-US" sz="1250" dirty="0"/>
          </a:p>
        </p:txBody>
      </p:sp>
      <p:sp>
        <p:nvSpPr>
          <p:cNvPr id="11" name="Text 9"/>
          <p:cNvSpPr/>
          <p:nvPr/>
        </p:nvSpPr>
        <p:spPr>
          <a:xfrm>
            <a:off x="2188464" y="16687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545080" y="1417320"/>
            <a:ext cx="1310640" cy="777240"/>
          </a:xfrm>
          <a:prstGeom prst="roundRect">
            <a:avLst>
              <a:gd name="adj" fmla="val 9412"/>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validate</a:t>
            </a:r>
            <a:endParaRPr lang="en-US" sz="1250" dirty="0"/>
          </a:p>
        </p:txBody>
      </p:sp>
      <p:sp>
        <p:nvSpPr>
          <p:cNvPr id="13" name="Text 11"/>
          <p:cNvSpPr/>
          <p:nvPr/>
        </p:nvSpPr>
        <p:spPr>
          <a:xfrm>
            <a:off x="3956304" y="16687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4312920" y="1417320"/>
            <a:ext cx="1310640" cy="777240"/>
          </a:xfrm>
          <a:prstGeom prst="roundRect">
            <a:avLst>
              <a:gd name="adj" fmla="val 9412"/>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branch: data ok?</a:t>
            </a:r>
            <a:endParaRPr lang="en-US" sz="1250" dirty="0"/>
          </a:p>
        </p:txBody>
      </p:sp>
      <p:sp>
        <p:nvSpPr>
          <p:cNvPr id="15" name="Text 13"/>
          <p:cNvSpPr/>
          <p:nvPr/>
        </p:nvSpPr>
        <p:spPr>
          <a:xfrm>
            <a:off x="6035040" y="1298448"/>
            <a:ext cx="5029200" cy="502920"/>
          </a:xfrm>
          <a:prstGeom prst="roundRect">
            <a:avLst>
              <a:gd name="adj" fmla="val 14545"/>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400" b="1" dirty="0">
                <a:solidFill>
                  <a:srgbClr val="071827"/>
                </a:solidFill>
              </a:rPr>
              <a:t>YES → transform → load → notify success</a:t>
            </a:r>
            <a:endParaRPr lang="en-US" sz="1400" dirty="0"/>
          </a:p>
        </p:txBody>
      </p:sp>
      <p:sp>
        <p:nvSpPr>
          <p:cNvPr id="16" name="Text 14"/>
          <p:cNvSpPr/>
          <p:nvPr/>
        </p:nvSpPr>
        <p:spPr>
          <a:xfrm>
            <a:off x="6035040" y="1965960"/>
            <a:ext cx="5029200" cy="502920"/>
          </a:xfrm>
          <a:prstGeom prst="roundRect">
            <a:avLst>
              <a:gd name="adj" fmla="val 14545"/>
            </a:avLst>
          </a:prstGeom>
          <a:solidFill>
            <a:srgbClr val="FF6B6B"/>
          </a:solidFill>
          <a:ln w="12700">
            <a:solidFill>
              <a:srgbClr val="FF6B6B">
                <a:alpha val="0"/>
              </a:srgbClr>
            </a:solidFill>
          </a:ln>
        </p:spPr>
        <p:txBody>
          <a:bodyPr wrap="square" lIns="1016" tIns="1016" rIns="1016" bIns="1016" rtlCol="0" anchor="ctr">
            <a:normAutofit/>
          </a:bodyPr>
          <a:lstStyle/>
          <a:p>
            <a:pPr marL="0" indent="0" algn="ctr">
              <a:buNone/>
            </a:pPr>
            <a:r>
              <a:rPr lang="en-US" sz="1400" b="1" dirty="0">
                <a:solidFill>
                  <a:srgbClr val="F8FAFC"/>
                </a:solidFill>
              </a:rPr>
              <a:t>NO → quarantine → notify failure</a:t>
            </a:r>
            <a:endParaRPr lang="en-US" sz="1400" dirty="0"/>
          </a:p>
        </p:txBody>
      </p:sp>
      <p:sp>
        <p:nvSpPr>
          <p:cNvPr id="17" name="Text 15"/>
          <p:cNvSpPr/>
          <p:nvPr/>
        </p:nvSpPr>
        <p:spPr>
          <a:xfrm>
            <a:off x="868680" y="3246120"/>
            <a:ext cx="2482596" cy="1645920"/>
          </a:xfrm>
          <a:prstGeom prst="roundRect">
            <a:avLst>
              <a:gd name="adj" fmla="val 4444"/>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Linear dependency</a:t>
            </a:r>
            <a:endParaRPr lang="en-US" sz="1300" dirty="0"/>
          </a:p>
          <a:p>
            <a:pPr marL="0" indent="0" algn="l">
              <a:buNone/>
            </a:pPr>
            <a:r>
              <a:rPr lang="en-US" sz="1300" b="1" dirty="0">
                <a:solidFill>
                  <a:srgbClr val="F8FAFC"/>
                </a:solidFill>
              </a:rPr>
              <a:t>A &gt;&gt; B &gt;&gt; C</a:t>
            </a:r>
            <a:endParaRPr lang="en-US" sz="1300" dirty="0"/>
          </a:p>
        </p:txBody>
      </p:sp>
      <p:sp>
        <p:nvSpPr>
          <p:cNvPr id="18" name="Text 16"/>
          <p:cNvSpPr/>
          <p:nvPr/>
        </p:nvSpPr>
        <p:spPr>
          <a:xfrm>
            <a:off x="3515868" y="3246120"/>
            <a:ext cx="2482596" cy="1645920"/>
          </a:xfrm>
          <a:prstGeom prst="roundRect">
            <a:avLst>
              <a:gd name="adj" fmla="val 4444"/>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Fan-out</a:t>
            </a:r>
            <a:endParaRPr lang="en-US" sz="1300" dirty="0"/>
          </a:p>
          <a:p>
            <a:pPr marL="0" indent="0" algn="l">
              <a:buNone/>
            </a:pPr>
            <a:r>
              <a:rPr lang="en-US" sz="1300" b="1" dirty="0">
                <a:solidFill>
                  <a:srgbClr val="F8FAFC"/>
                </a:solidFill>
              </a:rPr>
              <a:t>one task unlocks many tasks</a:t>
            </a:r>
            <a:endParaRPr lang="en-US" sz="1300" dirty="0"/>
          </a:p>
        </p:txBody>
      </p:sp>
      <p:sp>
        <p:nvSpPr>
          <p:cNvPr id="19" name="Text 17"/>
          <p:cNvSpPr/>
          <p:nvPr/>
        </p:nvSpPr>
        <p:spPr>
          <a:xfrm>
            <a:off x="6163056" y="3246120"/>
            <a:ext cx="2482596" cy="1645920"/>
          </a:xfrm>
          <a:prstGeom prst="roundRect">
            <a:avLst>
              <a:gd name="adj" fmla="val 4444"/>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Fan-in</a:t>
            </a:r>
            <a:endParaRPr lang="en-US" sz="1300" dirty="0"/>
          </a:p>
          <a:p>
            <a:pPr marL="0" indent="0" algn="l">
              <a:buNone/>
            </a:pPr>
            <a:r>
              <a:rPr lang="en-US" sz="1300" b="1" dirty="0">
                <a:solidFill>
                  <a:srgbClr val="F8FAFC"/>
                </a:solidFill>
              </a:rPr>
              <a:t>many checks must pass before load</a:t>
            </a:r>
            <a:endParaRPr lang="en-US" sz="1300" dirty="0"/>
          </a:p>
        </p:txBody>
      </p:sp>
      <p:sp>
        <p:nvSpPr>
          <p:cNvPr id="20" name="Text 18"/>
          <p:cNvSpPr/>
          <p:nvPr/>
        </p:nvSpPr>
        <p:spPr>
          <a:xfrm>
            <a:off x="8810244" y="3246120"/>
            <a:ext cx="2482596" cy="1645920"/>
          </a:xfrm>
          <a:prstGeom prst="roundRect">
            <a:avLst>
              <a:gd name="adj" fmla="val 4444"/>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Branching</a:t>
            </a:r>
            <a:endParaRPr lang="en-US" sz="1300" dirty="0"/>
          </a:p>
          <a:p>
            <a:pPr marL="0" indent="0" algn="l">
              <a:buNone/>
            </a:pPr>
            <a:r>
              <a:rPr lang="en-US" sz="1300" b="1" dirty="0">
                <a:solidFill>
                  <a:srgbClr val="F8FAFC"/>
                </a:solidFill>
              </a:rPr>
              <a:t>choose next path based on condition</a:t>
            </a:r>
            <a:endParaRPr lang="en-US" sz="1300" dirty="0"/>
          </a:p>
        </p:txBody>
      </p:sp>
      <p:sp>
        <p:nvSpPr>
          <p:cNvPr id="21" name="Text 19"/>
          <p:cNvSpPr/>
          <p:nvPr/>
        </p:nvSpPr>
        <p:spPr>
          <a:xfrm>
            <a:off x="914400" y="5577840"/>
            <a:ext cx="10241280" cy="320040"/>
          </a:xfrm>
          <a:prstGeom prst="rect">
            <a:avLst/>
          </a:prstGeom>
          <a:noFill/>
          <a:ln/>
        </p:spPr>
        <p:txBody>
          <a:bodyPr wrap="square" lIns="381" tIns="381" rIns="381" bIns="381" rtlCol="0" anchor="t">
            <a:normAutofit/>
          </a:bodyPr>
          <a:lstStyle/>
          <a:p>
            <a:pPr marL="0" indent="0" algn="ctr">
              <a:buNone/>
            </a:pPr>
            <a:r>
              <a:rPr lang="en-US" sz="1700" b="1" dirty="0">
                <a:solidFill>
                  <a:srgbClr val="38D9FF"/>
                </a:solidFill>
                <a:latin typeface="Aptos" pitchFamily="34" charset="0"/>
                <a:ea typeface="Aptos" pitchFamily="34" charset="-122"/>
                <a:cs typeface="Aptos" pitchFamily="34" charset="-120"/>
              </a:rPr>
              <a:t>Good DAG design makes dependencies easy to understand visually.</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Scheduling</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Scheduling patterns</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Time-based, data-aware, and historical execution</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353312"/>
            <a:ext cx="3425952" cy="1609344"/>
          </a:xfrm>
          <a:prstGeom prst="roundRect">
            <a:avLst>
              <a:gd name="adj" fmla="val 4545"/>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Cron schedule</a:t>
            </a:r>
            <a:endParaRPr lang="en-US" sz="1300" dirty="0"/>
          </a:p>
          <a:p>
            <a:pPr marL="0" indent="0" algn="l">
              <a:buNone/>
            </a:pPr>
            <a:r>
              <a:rPr lang="en-US" sz="1300" b="1" dirty="0">
                <a:solidFill>
                  <a:srgbClr val="F8FAFC"/>
                </a:solidFill>
              </a:rPr>
              <a:t>0 1 * * * runs daily around 1 AM</a:t>
            </a:r>
            <a:endParaRPr lang="en-US" sz="1300" dirty="0"/>
          </a:p>
        </p:txBody>
      </p:sp>
      <p:sp>
        <p:nvSpPr>
          <p:cNvPr id="11" name="Text 9"/>
          <p:cNvSpPr/>
          <p:nvPr/>
        </p:nvSpPr>
        <p:spPr>
          <a:xfrm>
            <a:off x="4367784" y="1353312"/>
            <a:ext cx="3425952" cy="1609344"/>
          </a:xfrm>
          <a:prstGeom prst="roundRect">
            <a:avLst>
              <a:gd name="adj" fmla="val 4545"/>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Manual trigger</a:t>
            </a:r>
            <a:endParaRPr lang="en-US" sz="1300" dirty="0"/>
          </a:p>
          <a:p>
            <a:pPr marL="0" indent="0" algn="l">
              <a:buNone/>
            </a:pPr>
            <a:r>
              <a:rPr lang="en-US" sz="1300" b="1" dirty="0">
                <a:solidFill>
                  <a:srgbClr val="F8FAFC"/>
                </a:solidFill>
              </a:rPr>
              <a:t>run now for testing or emergency rerun</a:t>
            </a:r>
            <a:endParaRPr lang="en-US" sz="1300" dirty="0"/>
          </a:p>
        </p:txBody>
      </p:sp>
      <p:sp>
        <p:nvSpPr>
          <p:cNvPr id="12" name="Text 10"/>
          <p:cNvSpPr/>
          <p:nvPr/>
        </p:nvSpPr>
        <p:spPr>
          <a:xfrm>
            <a:off x="7958328" y="1353312"/>
            <a:ext cx="3425952" cy="1609344"/>
          </a:xfrm>
          <a:prstGeom prst="roundRect">
            <a:avLst>
              <a:gd name="adj" fmla="val 4545"/>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Catchup</a:t>
            </a:r>
            <a:endParaRPr lang="en-US" sz="1300" dirty="0"/>
          </a:p>
          <a:p>
            <a:pPr marL="0" indent="0" algn="l">
              <a:buNone/>
            </a:pPr>
            <a:r>
              <a:rPr lang="en-US" sz="1300" b="1" dirty="0">
                <a:solidFill>
                  <a:srgbClr val="F8FAFC"/>
                </a:solidFill>
              </a:rPr>
              <a:t>create historical runs from start_date</a:t>
            </a:r>
            <a:endParaRPr lang="en-US" sz="1300" dirty="0"/>
          </a:p>
        </p:txBody>
      </p:sp>
      <p:sp>
        <p:nvSpPr>
          <p:cNvPr id="13" name="Text 11"/>
          <p:cNvSpPr/>
          <p:nvPr/>
        </p:nvSpPr>
        <p:spPr>
          <a:xfrm>
            <a:off x="777240" y="3127248"/>
            <a:ext cx="3425952" cy="1609344"/>
          </a:xfrm>
          <a:prstGeom prst="roundRect">
            <a:avLst>
              <a:gd name="adj" fmla="val 4545"/>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Backfill</a:t>
            </a:r>
            <a:endParaRPr lang="en-US" sz="1300" dirty="0"/>
          </a:p>
          <a:p>
            <a:pPr marL="0" indent="0" algn="l">
              <a:buNone/>
            </a:pPr>
            <a:r>
              <a:rPr lang="en-US" sz="1300" b="1" dirty="0">
                <a:solidFill>
                  <a:srgbClr val="F8FAFC"/>
                </a:solidFill>
              </a:rPr>
              <a:t>controlled rerun for a date range</a:t>
            </a:r>
            <a:endParaRPr lang="en-US" sz="1300" dirty="0"/>
          </a:p>
        </p:txBody>
      </p:sp>
      <p:sp>
        <p:nvSpPr>
          <p:cNvPr id="14" name="Text 12"/>
          <p:cNvSpPr/>
          <p:nvPr/>
        </p:nvSpPr>
        <p:spPr>
          <a:xfrm>
            <a:off x="4367784" y="3127248"/>
            <a:ext cx="3425952" cy="1609344"/>
          </a:xfrm>
          <a:prstGeom prst="roundRect">
            <a:avLst>
              <a:gd name="adj" fmla="val 4545"/>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Dataset/event scheduling</a:t>
            </a:r>
            <a:endParaRPr lang="en-US" sz="1300" dirty="0"/>
          </a:p>
          <a:p>
            <a:pPr marL="0" indent="0" algn="l">
              <a:buNone/>
            </a:pPr>
            <a:r>
              <a:rPr lang="en-US" sz="1300" b="1" dirty="0">
                <a:solidFill>
                  <a:srgbClr val="F8FAFC"/>
                </a:solidFill>
              </a:rPr>
              <a:t>run when upstream data asset updates</a:t>
            </a:r>
            <a:endParaRPr lang="en-US" sz="1300" dirty="0"/>
          </a:p>
        </p:txBody>
      </p:sp>
      <p:sp>
        <p:nvSpPr>
          <p:cNvPr id="15" name="Text 13"/>
          <p:cNvSpPr/>
          <p:nvPr/>
        </p:nvSpPr>
        <p:spPr>
          <a:xfrm>
            <a:off x="7958328" y="3127248"/>
            <a:ext cx="3425952" cy="1609344"/>
          </a:xfrm>
          <a:prstGeom prst="roundRect">
            <a:avLst>
              <a:gd name="adj" fmla="val 4545"/>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Logical date / data interval</a:t>
            </a:r>
            <a:endParaRPr lang="en-US" sz="1300" dirty="0"/>
          </a:p>
          <a:p>
            <a:pPr marL="0" indent="0" algn="l">
              <a:buNone/>
            </a:pPr>
            <a:r>
              <a:rPr lang="en-US" sz="1300" b="1" dirty="0">
                <a:solidFill>
                  <a:srgbClr val="F8FAFC"/>
                </a:solidFill>
              </a:rPr>
              <a:t>which period the run processes</a:t>
            </a:r>
            <a:endParaRPr lang="en-US" sz="1300" dirty="0"/>
          </a:p>
        </p:txBody>
      </p:sp>
      <p:sp>
        <p:nvSpPr>
          <p:cNvPr id="16" name="Text 14"/>
          <p:cNvSpPr/>
          <p:nvPr/>
        </p:nvSpPr>
        <p:spPr>
          <a:xfrm>
            <a:off x="1097280" y="5349240"/>
            <a:ext cx="9875520" cy="502920"/>
          </a:xfrm>
          <a:prstGeom prst="roundRect">
            <a:avLst>
              <a:gd name="adj" fmla="val 14545"/>
            </a:avLst>
          </a:prstGeom>
          <a:solidFill>
            <a:srgbClr val="0B2338"/>
          </a:solidFill>
          <a:ln w="12700">
            <a:solidFill>
              <a:srgbClr val="FFD166">
                <a:alpha val="0"/>
              </a:srgbClr>
            </a:solidFill>
          </a:ln>
        </p:spPr>
        <p:txBody>
          <a:bodyPr wrap="square" lIns="1016" tIns="1016" rIns="1016" bIns="1016" rtlCol="0" anchor="ctr">
            <a:normAutofit/>
          </a:bodyPr>
          <a:lstStyle/>
          <a:p>
            <a:pPr marL="0" indent="0" algn="ctr">
              <a:buNone/>
            </a:pPr>
            <a:r>
              <a:rPr lang="en-US" sz="1500" b="1" dirty="0">
                <a:solidFill>
                  <a:srgbClr val="FFD166"/>
                </a:solidFill>
              </a:rPr>
              <a:t>Food example</a:t>
            </a:r>
            <a:endParaRPr lang="en-US" sz="1500" dirty="0"/>
          </a:p>
          <a:p>
            <a:pPr marL="0" indent="0" algn="ctr">
              <a:buNone/>
            </a:pPr>
            <a:r>
              <a:rPr lang="en-US" sz="1500" b="1" dirty="0">
                <a:solidFill>
                  <a:srgbClr val="FFD166"/>
                </a:solidFill>
              </a:rPr>
              <a:t>Daily report processes yesterday’s orders after the day completes.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Configuration</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Connections, Variables, Params, and XComs</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Separate configuration from code and avoid hardcoding secrets</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353312"/>
            <a:ext cx="3425952" cy="1655064"/>
          </a:xfrm>
          <a:prstGeom prst="roundRect">
            <a:avLst>
              <a:gd name="adj" fmla="val 442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Connections</a:t>
            </a:r>
            <a:endParaRPr lang="en-US" sz="1300" dirty="0"/>
          </a:p>
          <a:p>
            <a:pPr marL="0" indent="0" algn="l">
              <a:buNone/>
            </a:pPr>
            <a:r>
              <a:rPr lang="en-US" sz="1300" b="1" dirty="0">
                <a:solidFill>
                  <a:srgbClr val="F8FAFC"/>
                </a:solidFill>
              </a:rPr>
              <a:t>DB/API/cloud credentials and endpoints</a:t>
            </a:r>
            <a:endParaRPr lang="en-US" sz="1300" dirty="0"/>
          </a:p>
        </p:txBody>
      </p:sp>
      <p:sp>
        <p:nvSpPr>
          <p:cNvPr id="11" name="Text 9"/>
          <p:cNvSpPr/>
          <p:nvPr/>
        </p:nvSpPr>
        <p:spPr>
          <a:xfrm>
            <a:off x="4367784" y="1353312"/>
            <a:ext cx="3425952" cy="1655064"/>
          </a:xfrm>
          <a:prstGeom prst="roundRect">
            <a:avLst>
              <a:gd name="adj" fmla="val 4420"/>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Variables</a:t>
            </a:r>
            <a:endParaRPr lang="en-US" sz="1300" dirty="0"/>
          </a:p>
          <a:p>
            <a:pPr marL="0" indent="0" algn="l">
              <a:buNone/>
            </a:pPr>
            <a:r>
              <a:rPr lang="en-US" sz="1300" b="1" dirty="0">
                <a:solidFill>
                  <a:srgbClr val="F8FAFC"/>
                </a:solidFill>
              </a:rPr>
              <a:t>global small configuration values</a:t>
            </a:r>
            <a:endParaRPr lang="en-US" sz="1300" dirty="0"/>
          </a:p>
        </p:txBody>
      </p:sp>
      <p:sp>
        <p:nvSpPr>
          <p:cNvPr id="12" name="Text 10"/>
          <p:cNvSpPr/>
          <p:nvPr/>
        </p:nvSpPr>
        <p:spPr>
          <a:xfrm>
            <a:off x="7958328" y="1353312"/>
            <a:ext cx="3425952" cy="1655064"/>
          </a:xfrm>
          <a:prstGeom prst="roundRect">
            <a:avLst>
              <a:gd name="adj" fmla="val 442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Params</a:t>
            </a:r>
            <a:endParaRPr lang="en-US" sz="1300" dirty="0"/>
          </a:p>
          <a:p>
            <a:pPr marL="0" indent="0" algn="l">
              <a:buNone/>
            </a:pPr>
            <a:r>
              <a:rPr lang="en-US" sz="1300" b="1" dirty="0">
                <a:solidFill>
                  <a:srgbClr val="F8FAFC"/>
                </a:solidFill>
              </a:rPr>
              <a:t>values supplied when triggering a DAG</a:t>
            </a:r>
            <a:endParaRPr lang="en-US" sz="1300" dirty="0"/>
          </a:p>
        </p:txBody>
      </p:sp>
      <p:sp>
        <p:nvSpPr>
          <p:cNvPr id="13" name="Text 11"/>
          <p:cNvSpPr/>
          <p:nvPr/>
        </p:nvSpPr>
        <p:spPr>
          <a:xfrm>
            <a:off x="777240" y="3172968"/>
            <a:ext cx="3425952" cy="1655064"/>
          </a:xfrm>
          <a:prstGeom prst="roundRect">
            <a:avLst>
              <a:gd name="adj" fmla="val 4420"/>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XComs</a:t>
            </a:r>
            <a:endParaRPr lang="en-US" sz="1300" dirty="0"/>
          </a:p>
          <a:p>
            <a:pPr marL="0" indent="0" algn="l">
              <a:buNone/>
            </a:pPr>
            <a:r>
              <a:rPr lang="en-US" sz="1300" b="1" dirty="0">
                <a:solidFill>
                  <a:srgbClr val="F8FAFC"/>
                </a:solidFill>
              </a:rPr>
              <a:t>small task-to-task messages such as file path or row count</a:t>
            </a:r>
            <a:endParaRPr lang="en-US" sz="1300" dirty="0"/>
          </a:p>
        </p:txBody>
      </p:sp>
      <p:sp>
        <p:nvSpPr>
          <p:cNvPr id="14" name="Text 12"/>
          <p:cNvSpPr/>
          <p:nvPr/>
        </p:nvSpPr>
        <p:spPr>
          <a:xfrm>
            <a:off x="4367784" y="3172968"/>
            <a:ext cx="3425952" cy="1655064"/>
          </a:xfrm>
          <a:prstGeom prst="roundRect">
            <a:avLst>
              <a:gd name="adj" fmla="val 442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Secrets backend</a:t>
            </a:r>
            <a:endParaRPr lang="en-US" sz="1300" dirty="0"/>
          </a:p>
          <a:p>
            <a:pPr marL="0" indent="0" algn="l">
              <a:buNone/>
            </a:pPr>
            <a:r>
              <a:rPr lang="en-US" sz="1300" b="1" dirty="0">
                <a:solidFill>
                  <a:srgbClr val="F8FAFC"/>
                </a:solidFill>
              </a:rPr>
              <a:t>production-grade secret storage</a:t>
            </a:r>
            <a:endParaRPr lang="en-US" sz="1300" dirty="0"/>
          </a:p>
        </p:txBody>
      </p:sp>
      <p:sp>
        <p:nvSpPr>
          <p:cNvPr id="15" name="Text 13"/>
          <p:cNvSpPr/>
          <p:nvPr/>
        </p:nvSpPr>
        <p:spPr>
          <a:xfrm>
            <a:off x="7958328" y="3172968"/>
            <a:ext cx="3425952" cy="1655064"/>
          </a:xfrm>
          <a:prstGeom prst="roundRect">
            <a:avLst>
              <a:gd name="adj" fmla="val 4420"/>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Rule of thumb</a:t>
            </a:r>
            <a:endParaRPr lang="en-US" sz="1300" dirty="0"/>
          </a:p>
          <a:p>
            <a:pPr marL="0" indent="0" algn="l">
              <a:buNone/>
            </a:pPr>
            <a:r>
              <a:rPr lang="en-US" sz="1300" b="1" dirty="0">
                <a:solidFill>
                  <a:srgbClr val="F8FAFC"/>
                </a:solidFill>
              </a:rPr>
              <a:t>pass metadata, not large datasets, through Airflow</a:t>
            </a:r>
            <a:endParaRPr lang="en-US" sz="1300" dirty="0"/>
          </a:p>
        </p:txBody>
      </p:sp>
      <p:sp>
        <p:nvSpPr>
          <p:cNvPr id="16" name="Text 14"/>
          <p:cNvSpPr/>
          <p:nvPr/>
        </p:nvSpPr>
        <p:spPr>
          <a:xfrm>
            <a:off x="914400" y="5577840"/>
            <a:ext cx="10241280" cy="320040"/>
          </a:xfrm>
          <a:prstGeom prst="rect">
            <a:avLst/>
          </a:prstGeom>
          <a:noFill/>
          <a:ln/>
        </p:spPr>
        <p:txBody>
          <a:bodyPr wrap="square" lIns="381" tIns="381" rIns="381" bIns="381" rtlCol="0" anchor="t">
            <a:normAutofit/>
          </a:bodyPr>
          <a:lstStyle/>
          <a:p>
            <a:pPr marL="0" indent="0" algn="ctr">
              <a:buNone/>
            </a:pPr>
            <a:r>
              <a:rPr lang="en-US" sz="1600" b="1" dirty="0">
                <a:solidFill>
                  <a:srgbClr val="38D9FF"/>
                </a:solidFill>
                <a:latin typeface="Aptos" pitchFamily="34" charset="0"/>
                <a:ea typeface="Aptos" pitchFamily="34" charset="-122"/>
                <a:cs typeface="Aptos" pitchFamily="34" charset="-120"/>
              </a:rPr>
              <a:t>Example XCom: extract task returns bronze_path; validate task reads that path.</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Sensors</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Sensors and deferrable tasks</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Wait for external conditions safely</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508760"/>
            <a:ext cx="1755648" cy="822960"/>
          </a:xfrm>
          <a:prstGeom prst="roundRect">
            <a:avLst>
              <a:gd name="adj" fmla="val 888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Wait for file</a:t>
            </a:r>
            <a:endParaRPr lang="en-US" sz="1250" dirty="0"/>
          </a:p>
        </p:txBody>
      </p:sp>
      <p:sp>
        <p:nvSpPr>
          <p:cNvPr id="11" name="Text 9"/>
          <p:cNvSpPr/>
          <p:nvPr/>
        </p:nvSpPr>
        <p:spPr>
          <a:xfrm>
            <a:off x="2633472" y="17830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90088" y="1508760"/>
            <a:ext cx="1755648" cy="822960"/>
          </a:xfrm>
          <a:prstGeom prst="roundRect">
            <a:avLst>
              <a:gd name="adj" fmla="val 888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Wait for API response</a:t>
            </a:r>
            <a:endParaRPr lang="en-US" sz="1250" dirty="0"/>
          </a:p>
        </p:txBody>
      </p:sp>
      <p:sp>
        <p:nvSpPr>
          <p:cNvPr id="13" name="Text 11"/>
          <p:cNvSpPr/>
          <p:nvPr/>
        </p:nvSpPr>
        <p:spPr>
          <a:xfrm>
            <a:off x="4846320" y="17830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202936" y="1508760"/>
            <a:ext cx="1755648" cy="822960"/>
          </a:xfrm>
          <a:prstGeom prst="roundRect">
            <a:avLst>
              <a:gd name="adj" fmla="val 888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Wait for upstream DAG</a:t>
            </a:r>
            <a:endParaRPr lang="en-US" sz="1250" dirty="0"/>
          </a:p>
        </p:txBody>
      </p:sp>
      <p:sp>
        <p:nvSpPr>
          <p:cNvPr id="15" name="Text 13"/>
          <p:cNvSpPr/>
          <p:nvPr/>
        </p:nvSpPr>
        <p:spPr>
          <a:xfrm>
            <a:off x="7059168" y="17830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415784" y="1508760"/>
            <a:ext cx="1755648" cy="822960"/>
          </a:xfrm>
          <a:prstGeom prst="roundRect">
            <a:avLst>
              <a:gd name="adj" fmla="val 888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Wait for dataset</a:t>
            </a:r>
            <a:endParaRPr lang="en-US" sz="1250" dirty="0"/>
          </a:p>
        </p:txBody>
      </p:sp>
      <p:sp>
        <p:nvSpPr>
          <p:cNvPr id="17" name="Text 15"/>
          <p:cNvSpPr/>
          <p:nvPr/>
        </p:nvSpPr>
        <p:spPr>
          <a:xfrm>
            <a:off x="9272016" y="17830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628632" y="1508760"/>
            <a:ext cx="1755648" cy="822960"/>
          </a:xfrm>
          <a:prstGeom prst="roundRect">
            <a:avLst>
              <a:gd name="adj" fmla="val 8889"/>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Then process</a:t>
            </a:r>
            <a:endParaRPr lang="en-US" sz="1250" dirty="0"/>
          </a:p>
        </p:txBody>
      </p:sp>
      <p:sp>
        <p:nvSpPr>
          <p:cNvPr id="19" name="Text 17"/>
          <p:cNvSpPr/>
          <p:nvPr/>
        </p:nvSpPr>
        <p:spPr>
          <a:xfrm>
            <a:off x="868680" y="2926080"/>
            <a:ext cx="5129784" cy="832104"/>
          </a:xfrm>
          <a:prstGeom prst="roundRect">
            <a:avLst>
              <a:gd name="adj" fmla="val 8791"/>
            </a:avLst>
          </a:prstGeom>
          <a:solidFill>
            <a:srgbClr val="FF6B6B"/>
          </a:solidFill>
          <a:ln w="12700">
            <a:solidFill>
              <a:srgbClr val="FF6B6B">
                <a:alpha val="0"/>
              </a:srgbClr>
            </a:solidFill>
          </a:ln>
        </p:spPr>
        <p:txBody>
          <a:bodyPr wrap="square" lIns="1397" tIns="1397" rIns="1397" bIns="1397" rtlCol="0" anchor="ctr">
            <a:normAutofit/>
          </a:bodyPr>
          <a:lstStyle/>
          <a:p>
            <a:pPr marL="0" indent="0" algn="l">
              <a:buNone/>
            </a:pPr>
            <a:r>
              <a:rPr lang="en-US" sz="1300" b="1" dirty="0">
                <a:solidFill>
                  <a:srgbClr val="F8FAFC"/>
                </a:solidFill>
              </a:rPr>
              <a:t>Traditional wait</a:t>
            </a:r>
            <a:endParaRPr lang="en-US" sz="1300" dirty="0"/>
          </a:p>
          <a:p>
            <a:pPr marL="0" indent="0" algn="l">
              <a:buNone/>
            </a:pPr>
            <a:r>
              <a:rPr lang="en-US" sz="1300" b="1" dirty="0">
                <a:solidFill>
                  <a:srgbClr val="F8FAFC"/>
                </a:solidFill>
              </a:rPr>
              <a:t>loop inside script wastes compute and hides status</a:t>
            </a:r>
            <a:endParaRPr lang="en-US" sz="1300" dirty="0"/>
          </a:p>
        </p:txBody>
      </p:sp>
      <p:sp>
        <p:nvSpPr>
          <p:cNvPr id="20" name="Text 18"/>
          <p:cNvSpPr/>
          <p:nvPr/>
        </p:nvSpPr>
        <p:spPr>
          <a:xfrm>
            <a:off x="6163056" y="2926080"/>
            <a:ext cx="5129784" cy="832104"/>
          </a:xfrm>
          <a:prstGeom prst="roundRect">
            <a:avLst>
              <a:gd name="adj" fmla="val 8791"/>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Airflow sensor</a:t>
            </a:r>
            <a:endParaRPr lang="en-US" sz="1300" dirty="0"/>
          </a:p>
          <a:p>
            <a:pPr marL="0" indent="0" algn="l">
              <a:buNone/>
            </a:pPr>
            <a:r>
              <a:rPr lang="en-US" sz="1300" b="1" dirty="0">
                <a:solidFill>
                  <a:srgbClr val="F8FAFC"/>
                </a:solidFill>
              </a:rPr>
              <a:t>visible waiting task with timeout and retry behavior</a:t>
            </a:r>
            <a:endParaRPr lang="en-US" sz="1300" dirty="0"/>
          </a:p>
        </p:txBody>
      </p:sp>
      <p:sp>
        <p:nvSpPr>
          <p:cNvPr id="21" name="Text 19"/>
          <p:cNvSpPr/>
          <p:nvPr/>
        </p:nvSpPr>
        <p:spPr>
          <a:xfrm>
            <a:off x="868680" y="3922776"/>
            <a:ext cx="5129784" cy="832104"/>
          </a:xfrm>
          <a:prstGeom prst="roundRect">
            <a:avLst>
              <a:gd name="adj" fmla="val 8791"/>
            </a:avLst>
          </a:prstGeom>
          <a:solidFill>
            <a:srgbClr val="46E6A9"/>
          </a:solidFill>
          <a:ln w="12700">
            <a:solidFill>
              <a:srgbClr val="46E6A9">
                <a:alpha val="0"/>
              </a:srgbClr>
            </a:solidFill>
          </a:ln>
        </p:spPr>
        <p:txBody>
          <a:bodyPr wrap="square" lIns="1397" tIns="1397" rIns="1397" bIns="1397" rtlCol="0" anchor="ctr">
            <a:normAutofit/>
          </a:bodyPr>
          <a:lstStyle/>
          <a:p>
            <a:pPr marL="0" indent="0" algn="l">
              <a:buNone/>
            </a:pPr>
            <a:r>
              <a:rPr lang="en-US" sz="1300" b="1" dirty="0">
                <a:solidFill>
                  <a:srgbClr val="F8FAFC"/>
                </a:solidFill>
              </a:rPr>
              <a:t>Deferrable task</a:t>
            </a:r>
            <a:endParaRPr lang="en-US" sz="1300" dirty="0"/>
          </a:p>
          <a:p>
            <a:pPr marL="0" indent="0" algn="l">
              <a:buNone/>
            </a:pPr>
            <a:r>
              <a:rPr lang="en-US" sz="1300" b="1" dirty="0">
                <a:solidFill>
                  <a:srgbClr val="F8FAFC"/>
                </a:solidFill>
              </a:rPr>
              <a:t>wait without occupying a worker slot</a:t>
            </a:r>
            <a:endParaRPr lang="en-US" sz="1300" dirty="0"/>
          </a:p>
        </p:txBody>
      </p:sp>
      <p:sp>
        <p:nvSpPr>
          <p:cNvPr id="22" name="Text 20"/>
          <p:cNvSpPr/>
          <p:nvPr/>
        </p:nvSpPr>
        <p:spPr>
          <a:xfrm>
            <a:off x="6163056" y="3922776"/>
            <a:ext cx="5129784" cy="832104"/>
          </a:xfrm>
          <a:prstGeom prst="roundRect">
            <a:avLst>
              <a:gd name="adj" fmla="val 879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Food example</a:t>
            </a:r>
            <a:endParaRPr lang="en-US" sz="1300" dirty="0"/>
          </a:p>
          <a:p>
            <a:pPr marL="0" indent="0" algn="l">
              <a:buNone/>
            </a:pPr>
            <a:r>
              <a:rPr lang="en-US" sz="1300" b="1" dirty="0">
                <a:solidFill>
                  <a:srgbClr val="F8FAFC"/>
                </a:solidFill>
              </a:rPr>
              <a:t>wait until partner payment file lands before reconciliation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Operations</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Failure handling and recovery</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Design pipelines that fail loudly and recover safely</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508760"/>
            <a:ext cx="1755648" cy="822960"/>
          </a:xfrm>
          <a:prstGeom prst="roundRect">
            <a:avLst>
              <a:gd name="adj" fmla="val 8889"/>
            </a:avLst>
          </a:prstGeom>
          <a:solidFill>
            <a:srgbClr val="FF6B6B"/>
          </a:solidFill>
          <a:ln w="12700">
            <a:solidFill>
              <a:srgbClr val="FF6B6B">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Task fails</a:t>
            </a:r>
            <a:endParaRPr lang="en-US" sz="1250" dirty="0"/>
          </a:p>
        </p:txBody>
      </p:sp>
      <p:sp>
        <p:nvSpPr>
          <p:cNvPr id="11" name="Text 9"/>
          <p:cNvSpPr/>
          <p:nvPr/>
        </p:nvSpPr>
        <p:spPr>
          <a:xfrm>
            <a:off x="2633472" y="17830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90088" y="1508760"/>
            <a:ext cx="1755648" cy="822960"/>
          </a:xfrm>
          <a:prstGeom prst="roundRect">
            <a:avLst>
              <a:gd name="adj" fmla="val 8889"/>
            </a:avLst>
          </a:prstGeom>
          <a:solidFill>
            <a:srgbClr val="FF9F43"/>
          </a:solidFill>
          <a:ln w="12700">
            <a:solidFill>
              <a:srgbClr val="FF9F43">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Retry after delay</a:t>
            </a:r>
            <a:endParaRPr lang="en-US" sz="1250" dirty="0"/>
          </a:p>
        </p:txBody>
      </p:sp>
      <p:sp>
        <p:nvSpPr>
          <p:cNvPr id="13" name="Text 11"/>
          <p:cNvSpPr/>
          <p:nvPr/>
        </p:nvSpPr>
        <p:spPr>
          <a:xfrm>
            <a:off x="4846320" y="17830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202936" y="1508760"/>
            <a:ext cx="1755648" cy="822960"/>
          </a:xfrm>
          <a:prstGeom prst="roundRect">
            <a:avLst>
              <a:gd name="adj" fmla="val 8889"/>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Still failing?</a:t>
            </a:r>
            <a:endParaRPr lang="en-US" sz="1250" dirty="0"/>
          </a:p>
        </p:txBody>
      </p:sp>
      <p:sp>
        <p:nvSpPr>
          <p:cNvPr id="15" name="Text 13"/>
          <p:cNvSpPr/>
          <p:nvPr/>
        </p:nvSpPr>
        <p:spPr>
          <a:xfrm>
            <a:off x="7059168" y="17830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415784" y="1508760"/>
            <a:ext cx="1755648" cy="822960"/>
          </a:xfrm>
          <a:prstGeom prst="roundRect">
            <a:avLst>
              <a:gd name="adj" fmla="val 8889"/>
            </a:avLst>
          </a:prstGeom>
          <a:solidFill>
            <a:srgbClr val="B389FF"/>
          </a:solidFill>
          <a:ln w="12700">
            <a:solidFill>
              <a:srgbClr val="B389FF">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Alert owner</a:t>
            </a:r>
            <a:endParaRPr lang="en-US" sz="1250" dirty="0"/>
          </a:p>
        </p:txBody>
      </p:sp>
      <p:sp>
        <p:nvSpPr>
          <p:cNvPr id="17" name="Text 15"/>
          <p:cNvSpPr/>
          <p:nvPr/>
        </p:nvSpPr>
        <p:spPr>
          <a:xfrm>
            <a:off x="9272016" y="178308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628632" y="1508760"/>
            <a:ext cx="1755648" cy="822960"/>
          </a:xfrm>
          <a:prstGeom prst="roundRect">
            <a:avLst>
              <a:gd name="adj" fmla="val 8889"/>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Fix + rerun task</a:t>
            </a:r>
            <a:endParaRPr lang="en-US" sz="1250" dirty="0"/>
          </a:p>
        </p:txBody>
      </p:sp>
      <p:sp>
        <p:nvSpPr>
          <p:cNvPr id="19" name="Text 17"/>
          <p:cNvSpPr/>
          <p:nvPr/>
        </p:nvSpPr>
        <p:spPr>
          <a:xfrm>
            <a:off x="777240" y="2834640"/>
            <a:ext cx="3425952" cy="946404"/>
          </a:xfrm>
          <a:prstGeom prst="roundRect">
            <a:avLst>
              <a:gd name="adj" fmla="val 7729"/>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retries</a:t>
            </a:r>
            <a:endParaRPr lang="en-US" sz="1300" dirty="0"/>
          </a:p>
          <a:p>
            <a:pPr marL="0" indent="0" algn="l">
              <a:buNone/>
            </a:pPr>
            <a:r>
              <a:rPr lang="en-US" sz="1300" b="1" dirty="0">
                <a:solidFill>
                  <a:srgbClr val="F8FAFC"/>
                </a:solidFill>
              </a:rPr>
              <a:t>automatic retry count</a:t>
            </a:r>
            <a:endParaRPr lang="en-US" sz="1300" dirty="0"/>
          </a:p>
        </p:txBody>
      </p:sp>
      <p:sp>
        <p:nvSpPr>
          <p:cNvPr id="20" name="Text 18"/>
          <p:cNvSpPr/>
          <p:nvPr/>
        </p:nvSpPr>
        <p:spPr>
          <a:xfrm>
            <a:off x="4367784" y="2834640"/>
            <a:ext cx="3425952" cy="946404"/>
          </a:xfrm>
          <a:prstGeom prst="roundRect">
            <a:avLst>
              <a:gd name="adj" fmla="val 7729"/>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retry_delay</a:t>
            </a:r>
            <a:endParaRPr lang="en-US" sz="1300" dirty="0"/>
          </a:p>
          <a:p>
            <a:pPr marL="0" indent="0" algn="l">
              <a:buNone/>
            </a:pPr>
            <a:r>
              <a:rPr lang="en-US" sz="1300" b="1" dirty="0">
                <a:solidFill>
                  <a:srgbClr val="F8FAFC"/>
                </a:solidFill>
              </a:rPr>
              <a:t>wait before trying again</a:t>
            </a:r>
            <a:endParaRPr lang="en-US" sz="1300" dirty="0"/>
          </a:p>
        </p:txBody>
      </p:sp>
      <p:sp>
        <p:nvSpPr>
          <p:cNvPr id="21" name="Text 19"/>
          <p:cNvSpPr/>
          <p:nvPr/>
        </p:nvSpPr>
        <p:spPr>
          <a:xfrm>
            <a:off x="7958328" y="2834640"/>
            <a:ext cx="3425952" cy="946404"/>
          </a:xfrm>
          <a:prstGeom prst="roundRect">
            <a:avLst>
              <a:gd name="adj" fmla="val 7729"/>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execution_timeout</a:t>
            </a:r>
            <a:endParaRPr lang="en-US" sz="1300" dirty="0"/>
          </a:p>
          <a:p>
            <a:pPr marL="0" indent="0" algn="l">
              <a:buNone/>
            </a:pPr>
            <a:r>
              <a:rPr lang="en-US" sz="1300" b="1" dirty="0">
                <a:solidFill>
                  <a:srgbClr val="F8FAFC"/>
                </a:solidFill>
              </a:rPr>
              <a:t>stop long-hanging tasks</a:t>
            </a:r>
            <a:endParaRPr lang="en-US" sz="1300" dirty="0"/>
          </a:p>
        </p:txBody>
      </p:sp>
      <p:sp>
        <p:nvSpPr>
          <p:cNvPr id="22" name="Text 20"/>
          <p:cNvSpPr/>
          <p:nvPr/>
        </p:nvSpPr>
        <p:spPr>
          <a:xfrm>
            <a:off x="777240" y="3945636"/>
            <a:ext cx="3425952" cy="946404"/>
          </a:xfrm>
          <a:prstGeom prst="roundRect">
            <a:avLst>
              <a:gd name="adj" fmla="val 7729"/>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callbacks</a:t>
            </a:r>
            <a:endParaRPr lang="en-US" sz="1300" dirty="0"/>
          </a:p>
          <a:p>
            <a:pPr marL="0" indent="0" algn="l">
              <a:buNone/>
            </a:pPr>
            <a:r>
              <a:rPr lang="en-US" sz="1300" b="1" dirty="0">
                <a:solidFill>
                  <a:srgbClr val="F8FAFC"/>
                </a:solidFill>
              </a:rPr>
              <a:t>custom failure/success notifications</a:t>
            </a:r>
            <a:endParaRPr lang="en-US" sz="1300" dirty="0"/>
          </a:p>
        </p:txBody>
      </p:sp>
      <p:sp>
        <p:nvSpPr>
          <p:cNvPr id="23" name="Text 21"/>
          <p:cNvSpPr/>
          <p:nvPr/>
        </p:nvSpPr>
        <p:spPr>
          <a:xfrm>
            <a:off x="4367784" y="3945636"/>
            <a:ext cx="3425952" cy="946404"/>
          </a:xfrm>
          <a:prstGeom prst="roundRect">
            <a:avLst>
              <a:gd name="adj" fmla="val 7729"/>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logs</a:t>
            </a:r>
            <a:endParaRPr lang="en-US" sz="1300" dirty="0"/>
          </a:p>
          <a:p>
            <a:pPr marL="0" indent="0" algn="l">
              <a:buNone/>
            </a:pPr>
            <a:r>
              <a:rPr lang="en-US" sz="1300" b="1" dirty="0">
                <a:solidFill>
                  <a:srgbClr val="F8FAFC"/>
                </a:solidFill>
              </a:rPr>
              <a:t>inspect exact command, error, and duration</a:t>
            </a:r>
            <a:endParaRPr lang="en-US" sz="1300" dirty="0"/>
          </a:p>
        </p:txBody>
      </p:sp>
      <p:sp>
        <p:nvSpPr>
          <p:cNvPr id="24" name="Text 22"/>
          <p:cNvSpPr/>
          <p:nvPr/>
        </p:nvSpPr>
        <p:spPr>
          <a:xfrm>
            <a:off x="7958328" y="3945636"/>
            <a:ext cx="3425952" cy="946404"/>
          </a:xfrm>
          <a:prstGeom prst="roundRect">
            <a:avLst>
              <a:gd name="adj" fmla="val 7729"/>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idempotency</a:t>
            </a:r>
            <a:endParaRPr lang="en-US" sz="1300" dirty="0"/>
          </a:p>
          <a:p>
            <a:pPr marL="0" indent="0" algn="l">
              <a:buNone/>
            </a:pPr>
            <a:r>
              <a:rPr lang="en-US" sz="1300" b="1" dirty="0">
                <a:solidFill>
                  <a:srgbClr val="F8FAFC"/>
                </a:solidFill>
              </a:rPr>
              <a:t>rerun without duplicate business output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Advanced DAG authoring</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Advanced pattern: dynamic task mapping</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Create tasks at runtime based on current data</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822960" y="1417320"/>
            <a:ext cx="3840480" cy="777240"/>
          </a:xfrm>
          <a:prstGeom prst="roundRect">
            <a:avLst>
              <a:gd name="adj" fmla="val 9412"/>
            </a:avLst>
          </a:prstGeom>
          <a:solidFill>
            <a:srgbClr val="38D9FF"/>
          </a:solidFill>
          <a:ln w="12700">
            <a:solidFill>
              <a:srgbClr val="38D9FF">
                <a:alpha val="0"/>
              </a:srgbClr>
            </a:solidFill>
          </a:ln>
        </p:spPr>
        <p:txBody>
          <a:bodyPr wrap="square" lIns="1016" tIns="1016" rIns="1016" bIns="1016" rtlCol="0" anchor="ctr">
            <a:normAutofit/>
          </a:bodyPr>
          <a:lstStyle/>
          <a:p>
            <a:pPr marL="0" indent="0" algn="ctr">
              <a:buNone/>
            </a:pPr>
            <a:r>
              <a:rPr lang="en-US" sz="1400" b="1" dirty="0">
                <a:solidFill>
                  <a:srgbClr val="071827"/>
                </a:solidFill>
              </a:rPr>
              <a:t>Input list generated at runtime</a:t>
            </a:r>
            <a:endParaRPr lang="en-US" sz="1400" dirty="0"/>
          </a:p>
          <a:p>
            <a:pPr marL="0" indent="0" algn="ctr">
              <a:buNone/>
            </a:pPr>
            <a:r>
              <a:rPr lang="en-US" sz="1400" b="1" dirty="0">
                <a:solidFill>
                  <a:srgbClr val="071827"/>
                </a:solidFill>
              </a:rPr>
              <a:t>[Chennai, Bengaluru, Hyderabad, Mumbai]</a:t>
            </a:r>
            <a:endParaRPr lang="en-US" sz="1400" dirty="0"/>
          </a:p>
        </p:txBody>
      </p:sp>
      <p:sp>
        <p:nvSpPr>
          <p:cNvPr id="11" name="Text 9"/>
          <p:cNvSpPr/>
          <p:nvPr/>
        </p:nvSpPr>
        <p:spPr>
          <a:xfrm>
            <a:off x="4828032" y="1673352"/>
            <a:ext cx="320040"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5257800" y="1417320"/>
            <a:ext cx="2560320" cy="777240"/>
          </a:xfrm>
          <a:prstGeom prst="roundRect">
            <a:avLst>
              <a:gd name="adj" fmla="val 9412"/>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400" b="1" dirty="0">
                <a:solidFill>
                  <a:srgbClr val="F8FAFC"/>
                </a:solidFill>
              </a:rPr>
              <a:t>process_city.expand(city=cities)</a:t>
            </a:r>
            <a:endParaRPr lang="en-US" sz="1400" dirty="0"/>
          </a:p>
        </p:txBody>
      </p:sp>
      <p:sp>
        <p:nvSpPr>
          <p:cNvPr id="13" name="Text 11"/>
          <p:cNvSpPr/>
          <p:nvPr/>
        </p:nvSpPr>
        <p:spPr>
          <a:xfrm>
            <a:off x="8001000" y="1673352"/>
            <a:ext cx="320040"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8412480" y="1417320"/>
            <a:ext cx="2560320" cy="777240"/>
          </a:xfrm>
          <a:prstGeom prst="roundRect">
            <a:avLst>
              <a:gd name="adj" fmla="val 9412"/>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400" b="1" dirty="0">
                <a:solidFill>
                  <a:srgbClr val="071827"/>
                </a:solidFill>
              </a:rPr>
              <a:t>One task instance per city</a:t>
            </a:r>
            <a:endParaRPr lang="en-US" sz="1400" dirty="0"/>
          </a:p>
        </p:txBody>
      </p:sp>
      <p:sp>
        <p:nvSpPr>
          <p:cNvPr id="15" name="Text 13"/>
          <p:cNvSpPr/>
          <p:nvPr/>
        </p:nvSpPr>
        <p:spPr>
          <a:xfrm>
            <a:off x="868680" y="2971800"/>
            <a:ext cx="5129784" cy="740664"/>
          </a:xfrm>
          <a:prstGeom prst="roundRect">
            <a:avLst>
              <a:gd name="adj" fmla="val 9877"/>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Good for variable number of files, cities, partners, or tables</a:t>
            </a:r>
            <a:endParaRPr lang="en-US" sz="1300" dirty="0"/>
          </a:p>
        </p:txBody>
      </p:sp>
      <p:sp>
        <p:nvSpPr>
          <p:cNvPr id="16" name="Text 14"/>
          <p:cNvSpPr/>
          <p:nvPr/>
        </p:nvSpPr>
        <p:spPr>
          <a:xfrm>
            <a:off x="6163056" y="2971800"/>
            <a:ext cx="5129784" cy="740664"/>
          </a:xfrm>
          <a:prstGeom prst="roundRect">
            <a:avLst>
              <a:gd name="adj" fmla="val 9877"/>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Scheduler creates task instances based on upstream output</a:t>
            </a:r>
            <a:endParaRPr lang="en-US" sz="1300" dirty="0"/>
          </a:p>
        </p:txBody>
      </p:sp>
      <p:sp>
        <p:nvSpPr>
          <p:cNvPr id="17" name="Text 15"/>
          <p:cNvSpPr/>
          <p:nvPr/>
        </p:nvSpPr>
        <p:spPr>
          <a:xfrm>
            <a:off x="868680" y="3877056"/>
            <a:ext cx="5129784" cy="740664"/>
          </a:xfrm>
          <a:prstGeom prst="roundRect">
            <a:avLst>
              <a:gd name="adj" fmla="val 9877"/>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Cleaner than hardcoding one task per city in the DAG file</a:t>
            </a:r>
            <a:endParaRPr lang="en-US" sz="1300" dirty="0"/>
          </a:p>
        </p:txBody>
      </p:sp>
      <p:sp>
        <p:nvSpPr>
          <p:cNvPr id="18" name="Text 16"/>
          <p:cNvSpPr/>
          <p:nvPr/>
        </p:nvSpPr>
        <p:spPr>
          <a:xfrm>
            <a:off x="6163056" y="3877056"/>
            <a:ext cx="5129784" cy="740664"/>
          </a:xfrm>
          <a:prstGeom prst="roundRect">
            <a:avLst>
              <a:gd name="adj" fmla="val 9877"/>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Use carefully: thousands of mapped tasks need capacity planning</a:t>
            </a:r>
            <a:endParaRPr lang="en-US" sz="1300" dirty="0"/>
          </a:p>
        </p:txBody>
      </p:sp>
      <p:sp>
        <p:nvSpPr>
          <p:cNvPr id="19" name="Text 17"/>
          <p:cNvSpPr/>
          <p:nvPr/>
        </p:nvSpPr>
        <p:spPr>
          <a:xfrm>
            <a:off x="914400" y="5532120"/>
            <a:ext cx="10241280" cy="320040"/>
          </a:xfrm>
          <a:prstGeom prst="rect">
            <a:avLst/>
          </a:prstGeom>
          <a:noFill/>
          <a:ln/>
        </p:spPr>
        <p:txBody>
          <a:bodyPr wrap="square" lIns="381" tIns="381" rIns="381" bIns="381" rtlCol="0" anchor="t">
            <a:normAutofit/>
          </a:bodyPr>
          <a:lstStyle/>
          <a:p>
            <a:pPr marL="0" indent="0" algn="ctr">
              <a:buNone/>
            </a:pPr>
            <a:r>
              <a:rPr lang="en-US" sz="1600" b="1" dirty="0">
                <a:solidFill>
                  <a:srgbClr val="FFD166"/>
                </a:solidFill>
                <a:latin typeface="Aptos" pitchFamily="34" charset="0"/>
                <a:ea typeface="Aptos" pitchFamily="34" charset="-122"/>
                <a:cs typeface="Aptos" pitchFamily="34" charset="-120"/>
              </a:rPr>
              <a:t>Food example: create one validation task per restaurant partner file that arrived today.</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Production</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Production scaling and resource control</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Keep orchestration reliable when pipelines grow</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353312"/>
            <a:ext cx="3425952" cy="1700784"/>
          </a:xfrm>
          <a:prstGeom prst="roundRect">
            <a:avLst>
              <a:gd name="adj" fmla="val 430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Executors</a:t>
            </a:r>
            <a:endParaRPr lang="en-US" sz="1300" dirty="0"/>
          </a:p>
          <a:p>
            <a:pPr marL="0" indent="0" algn="l">
              <a:buNone/>
            </a:pPr>
            <a:r>
              <a:rPr lang="en-US" sz="1300" b="1" dirty="0">
                <a:solidFill>
                  <a:srgbClr val="F8FAFC"/>
                </a:solidFill>
              </a:rPr>
              <a:t>Local, Celery, Kubernetes-based execution patterns</a:t>
            </a:r>
            <a:endParaRPr lang="en-US" sz="1300" dirty="0"/>
          </a:p>
        </p:txBody>
      </p:sp>
      <p:sp>
        <p:nvSpPr>
          <p:cNvPr id="11" name="Text 9"/>
          <p:cNvSpPr/>
          <p:nvPr/>
        </p:nvSpPr>
        <p:spPr>
          <a:xfrm>
            <a:off x="4367784" y="1353312"/>
            <a:ext cx="3425952" cy="1700784"/>
          </a:xfrm>
          <a:prstGeom prst="roundRect">
            <a:avLst>
              <a:gd name="adj" fmla="val 4301"/>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Workers</a:t>
            </a:r>
            <a:endParaRPr lang="en-US" sz="1300" dirty="0"/>
          </a:p>
          <a:p>
            <a:pPr marL="0" indent="0" algn="l">
              <a:buNone/>
            </a:pPr>
            <a:r>
              <a:rPr lang="en-US" sz="1300" b="1" dirty="0">
                <a:solidFill>
                  <a:srgbClr val="F8FAFC"/>
                </a:solidFill>
              </a:rPr>
              <a:t>where task code actually runs</a:t>
            </a:r>
            <a:endParaRPr lang="en-US" sz="1300" dirty="0"/>
          </a:p>
        </p:txBody>
      </p:sp>
      <p:sp>
        <p:nvSpPr>
          <p:cNvPr id="12" name="Text 10"/>
          <p:cNvSpPr/>
          <p:nvPr/>
        </p:nvSpPr>
        <p:spPr>
          <a:xfrm>
            <a:off x="7958328" y="1353312"/>
            <a:ext cx="3425952" cy="1700784"/>
          </a:xfrm>
          <a:prstGeom prst="roundRect">
            <a:avLst>
              <a:gd name="adj" fmla="val 430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Pools</a:t>
            </a:r>
            <a:endParaRPr lang="en-US" sz="1300" dirty="0"/>
          </a:p>
          <a:p>
            <a:pPr marL="0" indent="0" algn="l">
              <a:buNone/>
            </a:pPr>
            <a:r>
              <a:rPr lang="en-US" sz="1300" b="1" dirty="0">
                <a:solidFill>
                  <a:srgbClr val="F8FAFC"/>
                </a:solidFill>
              </a:rPr>
              <a:t>limit access to scarce systems such as APIs or databases</a:t>
            </a:r>
            <a:endParaRPr lang="en-US" sz="1300" dirty="0"/>
          </a:p>
        </p:txBody>
      </p:sp>
      <p:sp>
        <p:nvSpPr>
          <p:cNvPr id="13" name="Text 11"/>
          <p:cNvSpPr/>
          <p:nvPr/>
        </p:nvSpPr>
        <p:spPr>
          <a:xfrm>
            <a:off x="777240" y="3218688"/>
            <a:ext cx="3425952" cy="1700784"/>
          </a:xfrm>
          <a:prstGeom prst="roundRect">
            <a:avLst>
              <a:gd name="adj" fmla="val 4301"/>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Parallelism</a:t>
            </a:r>
            <a:endParaRPr lang="en-US" sz="1300" dirty="0"/>
          </a:p>
          <a:p>
            <a:pPr marL="0" indent="0" algn="l">
              <a:buNone/>
            </a:pPr>
            <a:r>
              <a:rPr lang="en-US" sz="1300" b="1" dirty="0">
                <a:solidFill>
                  <a:srgbClr val="F8FAFC"/>
                </a:solidFill>
              </a:rPr>
              <a:t>control how many tasks can run at once</a:t>
            </a:r>
            <a:endParaRPr lang="en-US" sz="1300" dirty="0"/>
          </a:p>
        </p:txBody>
      </p:sp>
      <p:sp>
        <p:nvSpPr>
          <p:cNvPr id="14" name="Text 12"/>
          <p:cNvSpPr/>
          <p:nvPr/>
        </p:nvSpPr>
        <p:spPr>
          <a:xfrm>
            <a:off x="4367784" y="3218688"/>
            <a:ext cx="3425952" cy="1700784"/>
          </a:xfrm>
          <a:prstGeom prst="roundRect">
            <a:avLst>
              <a:gd name="adj" fmla="val 4301"/>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Multiple schedulers</a:t>
            </a:r>
            <a:endParaRPr lang="en-US" sz="1300" dirty="0"/>
          </a:p>
          <a:p>
            <a:pPr marL="0" indent="0" algn="l">
              <a:buNone/>
            </a:pPr>
            <a:r>
              <a:rPr lang="en-US" sz="1300" b="1" dirty="0">
                <a:solidFill>
                  <a:srgbClr val="F8FAFC"/>
                </a:solidFill>
              </a:rPr>
              <a:t>improve throughput and resiliency</a:t>
            </a:r>
            <a:endParaRPr lang="en-US" sz="1300" dirty="0"/>
          </a:p>
        </p:txBody>
      </p:sp>
      <p:sp>
        <p:nvSpPr>
          <p:cNvPr id="15" name="Text 13"/>
          <p:cNvSpPr/>
          <p:nvPr/>
        </p:nvSpPr>
        <p:spPr>
          <a:xfrm>
            <a:off x="7958328" y="3218688"/>
            <a:ext cx="3425952" cy="1700784"/>
          </a:xfrm>
          <a:prstGeom prst="roundRect">
            <a:avLst>
              <a:gd name="adj" fmla="val 4301"/>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Observability</a:t>
            </a:r>
            <a:endParaRPr lang="en-US" sz="1300" dirty="0"/>
          </a:p>
          <a:p>
            <a:pPr marL="0" indent="0" algn="l">
              <a:buNone/>
            </a:pPr>
            <a:r>
              <a:rPr lang="en-US" sz="1300" b="1" dirty="0">
                <a:solidFill>
                  <a:srgbClr val="F8FAFC"/>
                </a:solidFill>
              </a:rPr>
              <a:t>metrics, logs, alerts, run durations, queue time</a:t>
            </a:r>
            <a:endParaRPr lang="en-US" sz="1300" dirty="0"/>
          </a:p>
        </p:txBody>
      </p:sp>
      <p:sp>
        <p:nvSpPr>
          <p:cNvPr id="16" name="Text 14"/>
          <p:cNvSpPr/>
          <p:nvPr/>
        </p:nvSpPr>
        <p:spPr>
          <a:xfrm>
            <a:off x="1097280" y="5349240"/>
            <a:ext cx="9875520" cy="548640"/>
          </a:xfrm>
          <a:prstGeom prst="roundRect">
            <a:avLst>
              <a:gd name="adj" fmla="val 13333"/>
            </a:avLst>
          </a:prstGeom>
          <a:solidFill>
            <a:srgbClr val="0B2338"/>
          </a:solidFill>
          <a:ln w="12700">
            <a:solidFill>
              <a:srgbClr val="FF6B6B">
                <a:alpha val="0"/>
              </a:srgbClr>
            </a:solidFill>
          </a:ln>
        </p:spPr>
        <p:txBody>
          <a:bodyPr wrap="square" lIns="1016" tIns="1016" rIns="1016" bIns="1016" rtlCol="0" anchor="ctr">
            <a:normAutofit/>
          </a:bodyPr>
          <a:lstStyle/>
          <a:p>
            <a:pPr marL="0" indent="0" algn="ctr">
              <a:buNone/>
            </a:pPr>
            <a:r>
              <a:rPr lang="en-US" sz="1400" b="1" dirty="0">
                <a:solidFill>
                  <a:srgbClr val="FF6B6B"/>
                </a:solidFill>
              </a:rPr>
              <a:t>Production principle</a:t>
            </a:r>
            <a:endParaRPr lang="en-US" sz="1400" dirty="0"/>
          </a:p>
          <a:p>
            <a:pPr marL="0" indent="0" algn="ctr">
              <a:buNone/>
            </a:pPr>
            <a:r>
              <a:rPr lang="en-US" sz="1400" b="1" dirty="0">
                <a:solidFill>
                  <a:srgbClr val="FF6B6B"/>
                </a:solidFill>
              </a:rPr>
              <a:t>Do not let Airflow overload downstream systems. Use pools, concurrency limits, retries, and monitoring.</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Industry examples</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Common Airflow activities in industry</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What teams orchestrate in real projects</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353312"/>
            <a:ext cx="3425952" cy="1837944"/>
          </a:xfrm>
          <a:prstGeom prst="roundRect">
            <a:avLst>
              <a:gd name="adj" fmla="val 398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Daily batch ELT</a:t>
            </a:r>
            <a:endParaRPr lang="en-US" sz="1300" dirty="0"/>
          </a:p>
          <a:p>
            <a:pPr marL="0" indent="0" algn="l">
              <a:buNone/>
            </a:pPr>
            <a:r>
              <a:rPr lang="en-US" sz="1300" b="1" dirty="0">
                <a:solidFill>
                  <a:srgbClr val="F8FAFC"/>
                </a:solidFill>
              </a:rPr>
              <a:t>API/DB/file → lake → warehouse → dashboard</a:t>
            </a:r>
            <a:endParaRPr lang="en-US" sz="1300" dirty="0"/>
          </a:p>
        </p:txBody>
      </p:sp>
      <p:sp>
        <p:nvSpPr>
          <p:cNvPr id="11" name="Text 9"/>
          <p:cNvSpPr/>
          <p:nvPr/>
        </p:nvSpPr>
        <p:spPr>
          <a:xfrm>
            <a:off x="4367784" y="1353312"/>
            <a:ext cx="3425952" cy="1837944"/>
          </a:xfrm>
          <a:prstGeom prst="roundRect">
            <a:avLst>
              <a:gd name="adj" fmla="val 3980"/>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Data quality gates</a:t>
            </a:r>
            <a:endParaRPr lang="en-US" sz="1300" dirty="0"/>
          </a:p>
          <a:p>
            <a:pPr marL="0" indent="0" algn="l">
              <a:buNone/>
            </a:pPr>
            <a:r>
              <a:rPr lang="en-US" sz="1300" b="1" dirty="0">
                <a:solidFill>
                  <a:srgbClr val="F8FAFC"/>
                </a:solidFill>
              </a:rPr>
              <a:t>validate before publish</a:t>
            </a:r>
            <a:endParaRPr lang="en-US" sz="1300" dirty="0"/>
          </a:p>
        </p:txBody>
      </p:sp>
      <p:sp>
        <p:nvSpPr>
          <p:cNvPr id="12" name="Text 10"/>
          <p:cNvSpPr/>
          <p:nvPr/>
        </p:nvSpPr>
        <p:spPr>
          <a:xfrm>
            <a:off x="7958328" y="1353312"/>
            <a:ext cx="3425952" cy="1837944"/>
          </a:xfrm>
          <a:prstGeom prst="roundRect">
            <a:avLst>
              <a:gd name="adj" fmla="val 398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Warehouse maintenance</a:t>
            </a:r>
            <a:endParaRPr lang="en-US" sz="1300" dirty="0"/>
          </a:p>
          <a:p>
            <a:pPr marL="0" indent="0" algn="l">
              <a:buNone/>
            </a:pPr>
            <a:r>
              <a:rPr lang="en-US" sz="1300" b="1" dirty="0">
                <a:solidFill>
                  <a:srgbClr val="F8FAFC"/>
                </a:solidFill>
              </a:rPr>
              <a:t>vacuum, partition refresh, table optimize</a:t>
            </a:r>
            <a:endParaRPr lang="en-US" sz="1300" dirty="0"/>
          </a:p>
        </p:txBody>
      </p:sp>
      <p:sp>
        <p:nvSpPr>
          <p:cNvPr id="13" name="Text 11"/>
          <p:cNvSpPr/>
          <p:nvPr/>
        </p:nvSpPr>
        <p:spPr>
          <a:xfrm>
            <a:off x="777240" y="3355848"/>
            <a:ext cx="3425952" cy="1837944"/>
          </a:xfrm>
          <a:prstGeom prst="roundRect">
            <a:avLst>
              <a:gd name="adj" fmla="val 3980"/>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ML pipelines</a:t>
            </a:r>
            <a:endParaRPr lang="en-US" sz="1300" dirty="0"/>
          </a:p>
          <a:p>
            <a:pPr marL="0" indent="0" algn="l">
              <a:buNone/>
            </a:pPr>
            <a:r>
              <a:rPr lang="en-US" sz="1300" b="1" dirty="0">
                <a:solidFill>
                  <a:srgbClr val="F8FAFC"/>
                </a:solidFill>
              </a:rPr>
              <a:t>feature extraction, training, evaluation, deployment</a:t>
            </a:r>
            <a:endParaRPr lang="en-US" sz="1300" dirty="0"/>
          </a:p>
        </p:txBody>
      </p:sp>
      <p:sp>
        <p:nvSpPr>
          <p:cNvPr id="14" name="Text 12"/>
          <p:cNvSpPr/>
          <p:nvPr/>
        </p:nvSpPr>
        <p:spPr>
          <a:xfrm>
            <a:off x="4367784" y="3355848"/>
            <a:ext cx="3425952" cy="1837944"/>
          </a:xfrm>
          <a:prstGeom prst="roundRect">
            <a:avLst>
              <a:gd name="adj" fmla="val 398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Compliance/audit jobs</a:t>
            </a:r>
            <a:endParaRPr lang="en-US" sz="1300" dirty="0"/>
          </a:p>
          <a:p>
            <a:pPr marL="0" indent="0" algn="l">
              <a:buNone/>
            </a:pPr>
            <a:r>
              <a:rPr lang="en-US" sz="1300" b="1" dirty="0">
                <a:solidFill>
                  <a:srgbClr val="F8FAFC"/>
                </a:solidFill>
              </a:rPr>
              <a:t>reconciliation, lineage evidence, retention</a:t>
            </a:r>
            <a:endParaRPr lang="en-US" sz="1300" dirty="0"/>
          </a:p>
        </p:txBody>
      </p:sp>
      <p:sp>
        <p:nvSpPr>
          <p:cNvPr id="15" name="Text 13"/>
          <p:cNvSpPr/>
          <p:nvPr/>
        </p:nvSpPr>
        <p:spPr>
          <a:xfrm>
            <a:off x="7958328" y="3355848"/>
            <a:ext cx="3425952" cy="1837944"/>
          </a:xfrm>
          <a:prstGeom prst="roundRect">
            <a:avLst>
              <a:gd name="adj" fmla="val 3980"/>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Cross-system workflows</a:t>
            </a:r>
            <a:endParaRPr lang="en-US" sz="1300" dirty="0"/>
          </a:p>
          <a:p>
            <a:pPr marL="0" indent="0" algn="l">
              <a:buNone/>
            </a:pPr>
            <a:r>
              <a:rPr lang="en-US" sz="1300" b="1" dirty="0">
                <a:solidFill>
                  <a:srgbClr val="F8FAFC"/>
                </a:solidFill>
              </a:rPr>
              <a:t>Spark, dbt, cloud functions, containers, notifications</a:t>
            </a:r>
            <a:endParaRPr lang="en-US" sz="1300" dirty="0"/>
          </a:p>
        </p:txBody>
      </p:sp>
      <p:sp>
        <p:nvSpPr>
          <p:cNvPr id="16" name="Text 14"/>
          <p:cNvSpPr/>
          <p:nvPr/>
        </p:nvSpPr>
        <p:spPr>
          <a:xfrm>
            <a:off x="914400" y="5715000"/>
            <a:ext cx="10241280" cy="320040"/>
          </a:xfrm>
          <a:prstGeom prst="rect">
            <a:avLst/>
          </a:prstGeom>
          <a:noFill/>
          <a:ln/>
        </p:spPr>
        <p:txBody>
          <a:bodyPr wrap="square" lIns="381" tIns="381" rIns="381" bIns="381" rtlCol="0" anchor="t">
            <a:normAutofit/>
          </a:bodyPr>
          <a:lstStyle/>
          <a:p>
            <a:pPr marL="0" indent="0" algn="ctr">
              <a:buNone/>
            </a:pPr>
            <a:r>
              <a:rPr lang="en-US" sz="1600" b="1" dirty="0">
                <a:solidFill>
                  <a:srgbClr val="46E6A9"/>
                </a:solidFill>
                <a:latin typeface="Aptos" pitchFamily="34" charset="0"/>
                <a:ea typeface="Aptos" pitchFamily="34" charset="-122"/>
                <a:cs typeface="Aptos" pitchFamily="34" charset="-120"/>
              </a:rPr>
              <a:t>Airflow shines when tasks are finite, dependency-driven, and operationally important.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Implementation guide</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Step-by-step local implementation guidance</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Beginner-friendly path for a demo machine</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640080" y="1417320"/>
            <a:ext cx="1473490" cy="960120"/>
          </a:xfrm>
          <a:prstGeom prst="roundRect">
            <a:avLst>
              <a:gd name="adj" fmla="val 7619"/>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1</a:t>
            </a:r>
            <a:endParaRPr lang="en-US" sz="1200" dirty="0"/>
          </a:p>
          <a:p>
            <a:pPr marL="0" indent="0" algn="ctr">
              <a:buNone/>
            </a:pPr>
            <a:r>
              <a:rPr lang="en-US" sz="1200" b="1" dirty="0">
                <a:solidFill>
                  <a:srgbClr val="F8FAFC"/>
                </a:solidFill>
              </a:rPr>
              <a:t>Use WSL2 on Windows or Linux/Mac terminal</a:t>
            </a:r>
            <a:endParaRPr lang="en-US" sz="1200" dirty="0"/>
          </a:p>
        </p:txBody>
      </p:sp>
      <p:sp>
        <p:nvSpPr>
          <p:cNvPr id="11" name="Text 9"/>
          <p:cNvSpPr/>
          <p:nvPr/>
        </p:nvSpPr>
        <p:spPr>
          <a:xfrm>
            <a:off x="2223298" y="1417320"/>
            <a:ext cx="1473490" cy="960120"/>
          </a:xfrm>
          <a:prstGeom prst="roundRect">
            <a:avLst>
              <a:gd name="adj" fmla="val 761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2</a:t>
            </a:r>
            <a:endParaRPr lang="en-US" sz="1200" dirty="0"/>
          </a:p>
          <a:p>
            <a:pPr marL="0" indent="0" algn="ctr">
              <a:buNone/>
            </a:pPr>
            <a:r>
              <a:rPr lang="en-US" sz="1200" b="1" dirty="0">
                <a:solidFill>
                  <a:srgbClr val="F8FAFC"/>
                </a:solidFill>
              </a:rPr>
              <a:t>Create Python virtual environment</a:t>
            </a:r>
            <a:endParaRPr lang="en-US" sz="1200" dirty="0"/>
          </a:p>
        </p:txBody>
      </p:sp>
      <p:sp>
        <p:nvSpPr>
          <p:cNvPr id="12" name="Text 10"/>
          <p:cNvSpPr/>
          <p:nvPr/>
        </p:nvSpPr>
        <p:spPr>
          <a:xfrm>
            <a:off x="3806517" y="1417320"/>
            <a:ext cx="1473490" cy="960120"/>
          </a:xfrm>
          <a:prstGeom prst="roundRect">
            <a:avLst>
              <a:gd name="adj" fmla="val 7619"/>
            </a:avLst>
          </a:prstGeom>
          <a:solidFill>
            <a:srgbClr val="1E4A68"/>
          </a:solidFill>
          <a:ln w="12700">
            <a:solidFill>
              <a:srgbClr val="1E4A6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3</a:t>
            </a:r>
            <a:endParaRPr lang="en-US" sz="1200" dirty="0"/>
          </a:p>
          <a:p>
            <a:pPr marL="0" indent="0" algn="ctr">
              <a:buNone/>
            </a:pPr>
            <a:r>
              <a:rPr lang="en-US" sz="1200" b="1" dirty="0">
                <a:solidFill>
                  <a:srgbClr val="F8FAFC"/>
                </a:solidFill>
              </a:rPr>
              <a:t>Install Airflow with constraints</a:t>
            </a:r>
            <a:endParaRPr lang="en-US" sz="1200" dirty="0"/>
          </a:p>
        </p:txBody>
      </p:sp>
      <p:sp>
        <p:nvSpPr>
          <p:cNvPr id="13" name="Text 11"/>
          <p:cNvSpPr/>
          <p:nvPr/>
        </p:nvSpPr>
        <p:spPr>
          <a:xfrm>
            <a:off x="5389735" y="1417320"/>
            <a:ext cx="1473490" cy="960120"/>
          </a:xfrm>
          <a:prstGeom prst="roundRect">
            <a:avLst>
              <a:gd name="adj" fmla="val 761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4</a:t>
            </a:r>
            <a:endParaRPr lang="en-US" sz="1200" dirty="0"/>
          </a:p>
          <a:p>
            <a:pPr marL="0" indent="0" algn="ctr">
              <a:buNone/>
            </a:pPr>
            <a:r>
              <a:rPr lang="en-US" sz="1200" b="1" dirty="0">
                <a:solidFill>
                  <a:srgbClr val="F8FAFC"/>
                </a:solidFill>
              </a:rPr>
              <a:t>Run airflow standalone</a:t>
            </a:r>
            <a:endParaRPr lang="en-US" sz="1200" dirty="0"/>
          </a:p>
        </p:txBody>
      </p:sp>
      <p:sp>
        <p:nvSpPr>
          <p:cNvPr id="14" name="Text 12"/>
          <p:cNvSpPr/>
          <p:nvPr/>
        </p:nvSpPr>
        <p:spPr>
          <a:xfrm>
            <a:off x="6972953" y="1417320"/>
            <a:ext cx="1473490" cy="960120"/>
          </a:xfrm>
          <a:prstGeom prst="roundRect">
            <a:avLst>
              <a:gd name="adj" fmla="val 7619"/>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5</a:t>
            </a:r>
            <a:endParaRPr lang="en-US" sz="1200" dirty="0"/>
          </a:p>
          <a:p>
            <a:pPr marL="0" indent="0" algn="ctr">
              <a:buNone/>
            </a:pPr>
            <a:r>
              <a:rPr lang="en-US" sz="1200" b="1" dirty="0">
                <a:solidFill>
                  <a:srgbClr val="F8FAFC"/>
                </a:solidFill>
              </a:rPr>
              <a:t>Open localhost:8080</a:t>
            </a:r>
            <a:endParaRPr lang="en-US" sz="1200" dirty="0"/>
          </a:p>
        </p:txBody>
      </p:sp>
      <p:sp>
        <p:nvSpPr>
          <p:cNvPr id="15" name="Text 13"/>
          <p:cNvSpPr/>
          <p:nvPr/>
        </p:nvSpPr>
        <p:spPr>
          <a:xfrm>
            <a:off x="8556171" y="1417320"/>
            <a:ext cx="1473490" cy="960120"/>
          </a:xfrm>
          <a:prstGeom prst="roundRect">
            <a:avLst>
              <a:gd name="adj" fmla="val 7619"/>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6</a:t>
            </a:r>
            <a:endParaRPr lang="en-US" sz="1200" dirty="0"/>
          </a:p>
          <a:p>
            <a:pPr marL="0" indent="0" algn="ctr">
              <a:buNone/>
            </a:pPr>
            <a:r>
              <a:rPr lang="en-US" sz="1200" b="1" dirty="0">
                <a:solidFill>
                  <a:srgbClr val="F8FAFC"/>
                </a:solidFill>
              </a:rPr>
              <a:t>Create DAG in dags folder</a:t>
            </a:r>
            <a:endParaRPr lang="en-US" sz="1200" dirty="0"/>
          </a:p>
        </p:txBody>
      </p:sp>
      <p:sp>
        <p:nvSpPr>
          <p:cNvPr id="16" name="Text 14"/>
          <p:cNvSpPr/>
          <p:nvPr/>
        </p:nvSpPr>
        <p:spPr>
          <a:xfrm>
            <a:off x="10139390" y="1417320"/>
            <a:ext cx="1473490" cy="960120"/>
          </a:xfrm>
          <a:prstGeom prst="roundRect">
            <a:avLst>
              <a:gd name="adj" fmla="val 7619"/>
            </a:avLst>
          </a:prstGeom>
          <a:solidFill>
            <a:srgbClr val="1E4A68"/>
          </a:solidFill>
          <a:ln w="12700">
            <a:solidFill>
              <a:srgbClr val="1E4A68">
                <a:alpha val="0"/>
              </a:srgbClr>
            </a:solidFill>
          </a:ln>
        </p:spPr>
        <p:txBody>
          <a:bodyPr wrap="square" lIns="1016" tIns="1016" rIns="1016" bIns="1016" rtlCol="0" anchor="ctr">
            <a:normAutofit/>
          </a:bodyPr>
          <a:lstStyle/>
          <a:p>
            <a:pPr marL="0" indent="0" algn="ctr">
              <a:buNone/>
            </a:pPr>
            <a:r>
              <a:rPr lang="en-US" sz="1200" b="1" dirty="0">
                <a:solidFill>
                  <a:srgbClr val="F8FAFC"/>
                </a:solidFill>
              </a:rPr>
              <a:t>7</a:t>
            </a:r>
            <a:endParaRPr lang="en-US" sz="1200" dirty="0"/>
          </a:p>
          <a:p>
            <a:pPr marL="0" indent="0" algn="ctr">
              <a:buNone/>
            </a:pPr>
            <a:r>
              <a:rPr lang="en-US" sz="1200" b="1" dirty="0">
                <a:solidFill>
                  <a:srgbClr val="F8FAFC"/>
                </a:solidFill>
              </a:rPr>
              <a:t>Trigger DAG and inspect logs</a:t>
            </a:r>
            <a:endParaRPr lang="en-US" sz="1200" dirty="0"/>
          </a:p>
        </p:txBody>
      </p:sp>
      <p:sp>
        <p:nvSpPr>
          <p:cNvPr id="17" name="Text 15"/>
          <p:cNvSpPr/>
          <p:nvPr/>
        </p:nvSpPr>
        <p:spPr>
          <a:xfrm>
            <a:off x="868680" y="2926080"/>
            <a:ext cx="5129784" cy="877824"/>
          </a:xfrm>
          <a:prstGeom prst="roundRect">
            <a:avLst>
              <a:gd name="adj" fmla="val 8333"/>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Windows note</a:t>
            </a:r>
            <a:endParaRPr lang="en-US" sz="1300" dirty="0"/>
          </a:p>
          <a:p>
            <a:pPr marL="0" indent="0" algn="l">
              <a:buNone/>
            </a:pPr>
            <a:r>
              <a:rPr lang="en-US" sz="1300" b="1" dirty="0">
                <a:solidFill>
                  <a:srgbClr val="F8FAFC"/>
                </a:solidFill>
              </a:rPr>
              <a:t>Use WSL2 or Docker; do not install Airflow directly in native Windows PowerShell</a:t>
            </a:r>
            <a:endParaRPr lang="en-US" sz="1300" dirty="0"/>
          </a:p>
        </p:txBody>
      </p:sp>
      <p:sp>
        <p:nvSpPr>
          <p:cNvPr id="18" name="Text 16"/>
          <p:cNvSpPr/>
          <p:nvPr/>
        </p:nvSpPr>
        <p:spPr>
          <a:xfrm>
            <a:off x="6163056" y="2926080"/>
            <a:ext cx="5129784" cy="877824"/>
          </a:xfrm>
          <a:prstGeom prst="roundRect">
            <a:avLst>
              <a:gd name="adj" fmla="val 8333"/>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Local demo command</a:t>
            </a:r>
            <a:endParaRPr lang="en-US" sz="1300" dirty="0"/>
          </a:p>
          <a:p>
            <a:pPr marL="0" indent="0" algn="l">
              <a:buNone/>
            </a:pPr>
            <a:r>
              <a:rPr lang="en-US" sz="1300" b="1" dirty="0">
                <a:solidFill>
                  <a:srgbClr val="F8FAFC"/>
                </a:solidFill>
              </a:rPr>
              <a:t>airflow standalone starts DB, scheduler, API server, triggerer, and UI together</a:t>
            </a:r>
            <a:endParaRPr lang="en-US" sz="1300" dirty="0"/>
          </a:p>
        </p:txBody>
      </p:sp>
      <p:sp>
        <p:nvSpPr>
          <p:cNvPr id="19" name="Text 17"/>
          <p:cNvSpPr/>
          <p:nvPr/>
        </p:nvSpPr>
        <p:spPr>
          <a:xfrm>
            <a:off x="868680" y="3968496"/>
            <a:ext cx="5129784" cy="877824"/>
          </a:xfrm>
          <a:prstGeom prst="roundRect">
            <a:avLst>
              <a:gd name="adj" fmla="val 8333"/>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DAG folder</a:t>
            </a:r>
            <a:endParaRPr lang="en-US" sz="1300" dirty="0"/>
          </a:p>
          <a:p>
            <a:pPr marL="0" indent="0" algn="l">
              <a:buNone/>
            </a:pPr>
            <a:r>
              <a:rPr lang="en-US" sz="1300" b="1" dirty="0">
                <a:solidFill>
                  <a:srgbClr val="F8FAFC"/>
                </a:solidFill>
              </a:rPr>
              <a:t>Place food_delivery_daily_metrics.py under AIRFLOW_HOME/dags</a:t>
            </a:r>
            <a:endParaRPr lang="en-US" sz="1300" dirty="0"/>
          </a:p>
        </p:txBody>
      </p:sp>
      <p:sp>
        <p:nvSpPr>
          <p:cNvPr id="20" name="Text 18"/>
          <p:cNvSpPr/>
          <p:nvPr/>
        </p:nvSpPr>
        <p:spPr>
          <a:xfrm>
            <a:off x="6163056" y="3968496"/>
            <a:ext cx="5129784" cy="877824"/>
          </a:xfrm>
          <a:prstGeom prst="roundRect">
            <a:avLst>
              <a:gd name="adj" fmla="val 8333"/>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Verification</a:t>
            </a:r>
            <a:endParaRPr lang="en-US" sz="1300" dirty="0"/>
          </a:p>
          <a:p>
            <a:pPr marL="0" indent="0" algn="l">
              <a:buNone/>
            </a:pPr>
            <a:r>
              <a:rPr lang="en-US" sz="1300" b="1" dirty="0">
                <a:solidFill>
                  <a:srgbClr val="F8FAFC"/>
                </a:solidFill>
              </a:rPr>
              <a:t>DAG visible in UI, manual run succeeds, each task has logs</a:t>
            </a:r>
            <a:endParaRPr lang="en-US" sz="1300" dirty="0"/>
          </a:p>
        </p:txBody>
      </p:sp>
      <p:sp>
        <p:nvSpPr>
          <p:cNvPr id="21" name="Text 19"/>
          <p:cNvSpPr/>
          <p:nvPr/>
        </p:nvSpPr>
        <p:spPr>
          <a:xfrm>
            <a:off x="914400" y="5577840"/>
            <a:ext cx="10241280" cy="320040"/>
          </a:xfrm>
          <a:prstGeom prst="rect">
            <a:avLst/>
          </a:prstGeom>
          <a:noFill/>
          <a:ln/>
        </p:spPr>
        <p:txBody>
          <a:bodyPr wrap="square" lIns="381" tIns="381" rIns="381" bIns="381" rtlCol="0" anchor="t">
            <a:normAutofit/>
          </a:bodyPr>
          <a:lstStyle/>
          <a:p>
            <a:pPr marL="0" indent="0" algn="ctr">
              <a:buNone/>
            </a:pPr>
            <a:r>
              <a:rPr lang="en-US" sz="1400" b="1" dirty="0">
                <a:solidFill>
                  <a:srgbClr val="FFD166"/>
                </a:solidFill>
                <a:latin typeface="Aptos" pitchFamily="34" charset="0"/>
                <a:ea typeface="Aptos" pitchFamily="34" charset="-122"/>
                <a:cs typeface="Aptos" pitchFamily="34" charset="-120"/>
              </a:rPr>
              <a:t>Official docs also provide Docker Compose quick start for exploration; production needs stronger deployment design.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Implementation guide</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Minimal DAG code for the use case</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TaskFlow-style example learners can understand</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685800" y="1353312"/>
            <a:ext cx="6903720" cy="4800600"/>
          </a:xfrm>
          <a:prstGeom prst="rect">
            <a:avLst/>
          </a:prstGeom>
          <a:noFill/>
          <a:ln/>
        </p:spPr>
        <p:txBody>
          <a:bodyPr wrap="square" lIns="1016" tIns="1016" rIns="1016" bIns="1016" rtlCol="0" anchor="t">
            <a:normAutofit/>
          </a:bodyPr>
          <a:lstStyle/>
          <a:p>
            <a:pPr marL="0" indent="0" algn="l">
              <a:buNone/>
            </a:pPr>
            <a:r>
              <a:rPr lang="en-US" sz="1170" dirty="0">
                <a:solidFill>
                  <a:srgbClr val="E5F7FF"/>
                </a:solidFill>
                <a:latin typeface="Courier New" pitchFamily="34" charset="0"/>
                <a:ea typeface="Courier New" pitchFamily="34" charset="-122"/>
                <a:cs typeface="Courier New" pitchFamily="34" charset="-120"/>
              </a:rPr>
              <a:t>from datetime import datetime</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from airflow.sdk import DAG, task</a:t>
            </a:r>
            <a:endParaRPr lang="en-US" sz="1170" dirty="0"/>
          </a:p>
          <a:p>
            <a:pPr marL="0" indent="0" algn="l">
              <a:buNone/>
            </a:pP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with DAG(</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dag_id="food_delivery_daily_metrics",</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start_date=datetime(2026, 1, 1),</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schedule="0 1 * * *",</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catchup=False,</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tags=["food", "analytics"],</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@task(retries=2)</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def extract_orders():</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return {"bronze_path": "/data/bronze/orders/{{ ds }}"}</a:t>
            </a:r>
            <a:endParaRPr lang="en-US" sz="1170" dirty="0"/>
          </a:p>
          <a:p>
            <a:pPr marL="0" indent="0" algn="l">
              <a:buNone/>
            </a:pP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@task</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def validate_orders(meta):</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return {"row_count": 12500, **meta}</a:t>
            </a:r>
            <a:endParaRPr lang="en-US" sz="1170" dirty="0"/>
          </a:p>
          <a:p>
            <a:pPr marL="0" indent="0" algn="l">
              <a:buNone/>
            </a:pP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@task</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def build_gold_metrics(meta):</a:t>
            </a: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print("create city/category metrics", meta)</a:t>
            </a:r>
            <a:endParaRPr lang="en-US" sz="1170" dirty="0"/>
          </a:p>
          <a:p>
            <a:pPr marL="0" indent="0" algn="l">
              <a:buNone/>
            </a:pPr>
            <a:endParaRPr lang="en-US" sz="1170" dirty="0"/>
          </a:p>
          <a:p>
            <a:pPr marL="0" indent="0" algn="l">
              <a:buNone/>
            </a:pPr>
            <a:r>
              <a:rPr lang="en-US" sz="1170" dirty="0">
                <a:solidFill>
                  <a:srgbClr val="E5F7FF"/>
                </a:solidFill>
                <a:latin typeface="Courier New" pitchFamily="34" charset="0"/>
                <a:ea typeface="Courier New" pitchFamily="34" charset="-122"/>
                <a:cs typeface="Courier New" pitchFamily="34" charset="-120"/>
              </a:rPr>
              <a:t>    build_gold_metrics(validate_orders(extract_orders()))</a:t>
            </a:r>
            <a:endParaRPr lang="en-US" sz="1170" dirty="0"/>
          </a:p>
        </p:txBody>
      </p:sp>
      <p:sp>
        <p:nvSpPr>
          <p:cNvPr id="11" name="Text 9"/>
          <p:cNvSpPr/>
          <p:nvPr/>
        </p:nvSpPr>
        <p:spPr>
          <a:xfrm>
            <a:off x="7863840" y="1417320"/>
            <a:ext cx="3520440" cy="470916"/>
          </a:xfrm>
          <a:prstGeom prst="roundRect">
            <a:avLst>
              <a:gd name="adj" fmla="val 15534"/>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DAG block defines schedule and ownership</a:t>
            </a:r>
            <a:endParaRPr lang="en-US" sz="1300" dirty="0"/>
          </a:p>
        </p:txBody>
      </p:sp>
      <p:sp>
        <p:nvSpPr>
          <p:cNvPr id="12" name="Text 10"/>
          <p:cNvSpPr/>
          <p:nvPr/>
        </p:nvSpPr>
        <p:spPr>
          <a:xfrm>
            <a:off x="7863840" y="2052828"/>
            <a:ext cx="3520440" cy="470916"/>
          </a:xfrm>
          <a:prstGeom prst="roundRect">
            <a:avLst>
              <a:gd name="adj" fmla="val 15534"/>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@task turns Python functions into Airflow tasks</a:t>
            </a:r>
            <a:endParaRPr lang="en-US" sz="1300" dirty="0"/>
          </a:p>
        </p:txBody>
      </p:sp>
      <p:sp>
        <p:nvSpPr>
          <p:cNvPr id="13" name="Text 11"/>
          <p:cNvSpPr/>
          <p:nvPr/>
        </p:nvSpPr>
        <p:spPr>
          <a:xfrm>
            <a:off x="7863840" y="2688336"/>
            <a:ext cx="3520440" cy="470916"/>
          </a:xfrm>
          <a:prstGeom prst="roundRect">
            <a:avLst>
              <a:gd name="adj" fmla="val 15534"/>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Return values can pass small metadata by XCom</a:t>
            </a:r>
            <a:endParaRPr lang="en-US" sz="1300" dirty="0"/>
          </a:p>
        </p:txBody>
      </p:sp>
      <p:sp>
        <p:nvSpPr>
          <p:cNvPr id="14" name="Text 12"/>
          <p:cNvSpPr/>
          <p:nvPr/>
        </p:nvSpPr>
        <p:spPr>
          <a:xfrm>
            <a:off x="7863840" y="3323844"/>
            <a:ext cx="3520440" cy="470916"/>
          </a:xfrm>
          <a:prstGeom prst="roundRect">
            <a:avLst>
              <a:gd name="adj" fmla="val 15534"/>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Nested call order creates dependencies</a:t>
            </a:r>
            <a:endParaRPr lang="en-US" sz="1300" dirty="0"/>
          </a:p>
        </p:txBody>
      </p:sp>
      <p:sp>
        <p:nvSpPr>
          <p:cNvPr id="15" name="Text 13"/>
          <p:cNvSpPr/>
          <p:nvPr/>
        </p:nvSpPr>
        <p:spPr>
          <a:xfrm>
            <a:off x="7863840" y="4343400"/>
            <a:ext cx="3520440" cy="914400"/>
          </a:xfrm>
          <a:prstGeom prst="roundRect">
            <a:avLst>
              <a:gd name="adj" fmla="val 8000"/>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300" b="1" dirty="0">
                <a:solidFill>
                  <a:srgbClr val="071827"/>
                </a:solidFill>
              </a:rPr>
              <a:t>Production improvement</a:t>
            </a:r>
            <a:endParaRPr lang="en-US" sz="1300" dirty="0"/>
          </a:p>
          <a:p>
            <a:pPr marL="0" indent="0" algn="ctr">
              <a:buNone/>
            </a:pPr>
            <a:r>
              <a:rPr lang="en-US" sz="1300" b="1" dirty="0">
                <a:solidFill>
                  <a:srgbClr val="071827"/>
                </a:solidFill>
              </a:rPr>
              <a:t>Move heavy transforms to Spark/SQL/dbt; keep Airflow as orchestration layer.</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Demo flow</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How to demo and verify in the UI</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What learners should look at after the DAG runs</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31520" y="1508760"/>
            <a:ext cx="1773936" cy="777240"/>
          </a:xfrm>
          <a:prstGeom prst="roundRect">
            <a:avLst>
              <a:gd name="adj" fmla="val 9412"/>
            </a:avLst>
          </a:prstGeom>
          <a:solidFill>
            <a:srgbClr val="102E48"/>
          </a:solidFill>
          <a:ln w="12700">
            <a:solidFill>
              <a:srgbClr val="102E48">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DAG appears</a:t>
            </a:r>
            <a:endParaRPr lang="en-US" sz="1250" dirty="0"/>
          </a:p>
        </p:txBody>
      </p:sp>
      <p:sp>
        <p:nvSpPr>
          <p:cNvPr id="11" name="Text 9"/>
          <p:cNvSpPr/>
          <p:nvPr/>
        </p:nvSpPr>
        <p:spPr>
          <a:xfrm>
            <a:off x="2606040" y="17602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2" name="Text 10"/>
          <p:cNvSpPr/>
          <p:nvPr/>
        </p:nvSpPr>
        <p:spPr>
          <a:xfrm>
            <a:off x="2962656" y="1508760"/>
            <a:ext cx="1773936" cy="777240"/>
          </a:xfrm>
          <a:prstGeom prst="roundRect">
            <a:avLst>
              <a:gd name="adj" fmla="val 9412"/>
            </a:avLst>
          </a:prstGeom>
          <a:solidFill>
            <a:srgbClr val="143C5A"/>
          </a:solidFill>
          <a:ln w="12700">
            <a:solidFill>
              <a:srgbClr val="143C5A">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Unpause / trigger</a:t>
            </a:r>
            <a:endParaRPr lang="en-US" sz="1250" dirty="0"/>
          </a:p>
        </p:txBody>
      </p:sp>
      <p:sp>
        <p:nvSpPr>
          <p:cNvPr id="13" name="Text 11"/>
          <p:cNvSpPr/>
          <p:nvPr/>
        </p:nvSpPr>
        <p:spPr>
          <a:xfrm>
            <a:off x="4837176" y="17602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4" name="Text 12"/>
          <p:cNvSpPr/>
          <p:nvPr/>
        </p:nvSpPr>
        <p:spPr>
          <a:xfrm>
            <a:off x="5193792" y="1508760"/>
            <a:ext cx="1773936" cy="777240"/>
          </a:xfrm>
          <a:prstGeom prst="roundRect">
            <a:avLst>
              <a:gd name="adj" fmla="val 9412"/>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Graph view</a:t>
            </a:r>
            <a:endParaRPr lang="en-US" sz="1250" dirty="0"/>
          </a:p>
        </p:txBody>
      </p:sp>
      <p:sp>
        <p:nvSpPr>
          <p:cNvPr id="15" name="Text 13"/>
          <p:cNvSpPr/>
          <p:nvPr/>
        </p:nvSpPr>
        <p:spPr>
          <a:xfrm>
            <a:off x="7068312" y="17602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6" name="Text 14"/>
          <p:cNvSpPr/>
          <p:nvPr/>
        </p:nvSpPr>
        <p:spPr>
          <a:xfrm>
            <a:off x="7424928" y="1508760"/>
            <a:ext cx="1773936" cy="777240"/>
          </a:xfrm>
          <a:prstGeom prst="roundRect">
            <a:avLst>
              <a:gd name="adj" fmla="val 9412"/>
            </a:avLst>
          </a:prstGeom>
          <a:solidFill>
            <a:srgbClr val="FFD166"/>
          </a:solidFill>
          <a:ln w="12700">
            <a:solidFill>
              <a:srgbClr val="FFD166">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Grid view</a:t>
            </a:r>
            <a:endParaRPr lang="en-US" sz="1250" dirty="0"/>
          </a:p>
        </p:txBody>
      </p:sp>
      <p:sp>
        <p:nvSpPr>
          <p:cNvPr id="17" name="Text 15"/>
          <p:cNvSpPr/>
          <p:nvPr/>
        </p:nvSpPr>
        <p:spPr>
          <a:xfrm>
            <a:off x="9299448" y="1760220"/>
            <a:ext cx="256032" cy="274320"/>
          </a:xfrm>
          <a:prstGeom prst="rect">
            <a:avLst/>
          </a:prstGeom>
          <a:noFill/>
          <a:ln/>
        </p:spPr>
        <p:txBody>
          <a:bodyPr wrap="square" lIns="381" tIns="381" rIns="381" bIns="381" rtlCol="0" anchor="ctr">
            <a:normAutofit/>
          </a:bodyPr>
          <a:lstStyle/>
          <a:p>
            <a:pPr marL="0" indent="0" algn="ctr">
              <a:buNone/>
            </a:pPr>
            <a:r>
              <a:rPr lang="en-US" sz="2400" b="1" dirty="0">
                <a:solidFill>
                  <a:srgbClr val="38D9FF"/>
                </a:solidFill>
                <a:latin typeface="Aptos" pitchFamily="34" charset="0"/>
                <a:ea typeface="Aptos" pitchFamily="34" charset="-122"/>
                <a:cs typeface="Aptos" pitchFamily="34" charset="-120"/>
              </a:rPr>
              <a:t>→</a:t>
            </a:r>
            <a:endParaRPr lang="en-US" sz="2400" dirty="0"/>
          </a:p>
        </p:txBody>
      </p:sp>
      <p:sp>
        <p:nvSpPr>
          <p:cNvPr id="18" name="Text 16"/>
          <p:cNvSpPr/>
          <p:nvPr/>
        </p:nvSpPr>
        <p:spPr>
          <a:xfrm>
            <a:off x="9656064" y="1508760"/>
            <a:ext cx="1773936" cy="777240"/>
          </a:xfrm>
          <a:prstGeom prst="roundRect">
            <a:avLst>
              <a:gd name="adj" fmla="val 9412"/>
            </a:avLst>
          </a:prstGeom>
          <a:solidFill>
            <a:srgbClr val="B389FF"/>
          </a:solidFill>
          <a:ln w="12700">
            <a:solidFill>
              <a:srgbClr val="B389FF">
                <a:alpha val="0"/>
              </a:srgbClr>
            </a:solidFill>
          </a:ln>
        </p:spPr>
        <p:txBody>
          <a:bodyPr wrap="square" lIns="1016" tIns="1016" rIns="1016" bIns="1016" rtlCol="0" anchor="ctr">
            <a:normAutofit/>
          </a:bodyPr>
          <a:lstStyle/>
          <a:p>
            <a:pPr marL="0" indent="0" algn="ctr">
              <a:buNone/>
            </a:pPr>
            <a:r>
              <a:rPr lang="en-US" sz="1250" b="1" dirty="0">
                <a:solidFill>
                  <a:srgbClr val="F8FAFC"/>
                </a:solidFill>
              </a:rPr>
              <a:t>Task logs</a:t>
            </a:r>
            <a:endParaRPr lang="en-US" sz="1250" dirty="0"/>
          </a:p>
        </p:txBody>
      </p:sp>
      <p:sp>
        <p:nvSpPr>
          <p:cNvPr id="19" name="Text 17"/>
          <p:cNvSpPr/>
          <p:nvPr/>
        </p:nvSpPr>
        <p:spPr>
          <a:xfrm>
            <a:off x="868680" y="2880360"/>
            <a:ext cx="2482596" cy="1920240"/>
          </a:xfrm>
          <a:prstGeom prst="roundRect">
            <a:avLst>
              <a:gd name="adj" fmla="val 381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Graph View</a:t>
            </a:r>
            <a:endParaRPr lang="en-US" sz="1300" dirty="0"/>
          </a:p>
          <a:p>
            <a:pPr marL="0" indent="0" algn="l">
              <a:buNone/>
            </a:pPr>
            <a:r>
              <a:rPr lang="en-US" sz="1300" b="1" dirty="0">
                <a:solidFill>
                  <a:srgbClr val="F8FAFC"/>
                </a:solidFill>
              </a:rPr>
              <a:t>Understand task dependencies visually</a:t>
            </a:r>
            <a:endParaRPr lang="en-US" sz="1300" dirty="0"/>
          </a:p>
        </p:txBody>
      </p:sp>
      <p:sp>
        <p:nvSpPr>
          <p:cNvPr id="20" name="Text 18"/>
          <p:cNvSpPr/>
          <p:nvPr/>
        </p:nvSpPr>
        <p:spPr>
          <a:xfrm>
            <a:off x="3515868" y="2880360"/>
            <a:ext cx="2482596" cy="1920240"/>
          </a:xfrm>
          <a:prstGeom prst="roundRect">
            <a:avLst>
              <a:gd name="adj" fmla="val 381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Grid View</a:t>
            </a:r>
            <a:endParaRPr lang="en-US" sz="1300" dirty="0"/>
          </a:p>
          <a:p>
            <a:pPr marL="0" indent="0" algn="l">
              <a:buNone/>
            </a:pPr>
            <a:r>
              <a:rPr lang="en-US" sz="1300" b="1" dirty="0">
                <a:solidFill>
                  <a:srgbClr val="F8FAFC"/>
                </a:solidFill>
              </a:rPr>
              <a:t>Understand daily run history and task status</a:t>
            </a:r>
            <a:endParaRPr lang="en-US" sz="1300" dirty="0"/>
          </a:p>
        </p:txBody>
      </p:sp>
      <p:sp>
        <p:nvSpPr>
          <p:cNvPr id="21" name="Text 19"/>
          <p:cNvSpPr/>
          <p:nvPr/>
        </p:nvSpPr>
        <p:spPr>
          <a:xfrm>
            <a:off x="6163056" y="2880360"/>
            <a:ext cx="2482596" cy="1920240"/>
          </a:xfrm>
          <a:prstGeom prst="roundRect">
            <a:avLst>
              <a:gd name="adj" fmla="val 381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Task Logs</a:t>
            </a:r>
            <a:endParaRPr lang="en-US" sz="1300" dirty="0"/>
          </a:p>
          <a:p>
            <a:pPr marL="0" indent="0" algn="l">
              <a:buNone/>
            </a:pPr>
            <a:r>
              <a:rPr lang="en-US" sz="1300" b="1" dirty="0">
                <a:solidFill>
                  <a:srgbClr val="F8FAFC"/>
                </a:solidFill>
              </a:rPr>
              <a:t>See print statements, exceptions, retries</a:t>
            </a:r>
            <a:endParaRPr lang="en-US" sz="1300" dirty="0"/>
          </a:p>
        </p:txBody>
      </p:sp>
      <p:sp>
        <p:nvSpPr>
          <p:cNvPr id="22" name="Text 20"/>
          <p:cNvSpPr/>
          <p:nvPr/>
        </p:nvSpPr>
        <p:spPr>
          <a:xfrm>
            <a:off x="8810244" y="2880360"/>
            <a:ext cx="2482596" cy="1920240"/>
          </a:xfrm>
          <a:prstGeom prst="roundRect">
            <a:avLst>
              <a:gd name="adj" fmla="val 3810"/>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Run Details</a:t>
            </a:r>
            <a:endParaRPr lang="en-US" sz="1300" dirty="0"/>
          </a:p>
          <a:p>
            <a:pPr marL="0" indent="0" algn="l">
              <a:buNone/>
            </a:pPr>
            <a:r>
              <a:rPr lang="en-US" sz="1300" b="1" dirty="0">
                <a:solidFill>
                  <a:srgbClr val="F8FAFC"/>
                </a:solidFill>
              </a:rPr>
              <a:t>Check start time, duration, state, logical date</a:t>
            </a:r>
            <a:endParaRPr lang="en-US" sz="1300" dirty="0"/>
          </a:p>
        </p:txBody>
      </p:sp>
      <p:sp>
        <p:nvSpPr>
          <p:cNvPr id="23" name="Text 21"/>
          <p:cNvSpPr/>
          <p:nvPr/>
        </p:nvSpPr>
        <p:spPr>
          <a:xfrm>
            <a:off x="914400" y="5532120"/>
            <a:ext cx="10241280" cy="320040"/>
          </a:xfrm>
          <a:prstGeom prst="rect">
            <a:avLst/>
          </a:prstGeom>
          <a:noFill/>
          <a:ln/>
        </p:spPr>
        <p:txBody>
          <a:bodyPr wrap="square" lIns="381" tIns="381" rIns="381" bIns="381" rtlCol="0" anchor="t">
            <a:normAutofit/>
          </a:bodyPr>
          <a:lstStyle/>
          <a:p>
            <a:pPr marL="0" indent="0" algn="ctr">
              <a:buNone/>
            </a:pPr>
            <a:r>
              <a:rPr lang="en-US" sz="1600" b="1" dirty="0">
                <a:solidFill>
                  <a:srgbClr val="38D9FF"/>
                </a:solidFill>
                <a:latin typeface="Aptos" pitchFamily="34" charset="0"/>
                <a:ea typeface="Aptos" pitchFamily="34" charset="-122"/>
                <a:cs typeface="Aptos" pitchFamily="34" charset="-120"/>
              </a:rPr>
              <a:t>Demo question for learners: If validate_orders fails, which downstream tasks should not run?</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Best practices</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Best practices and common mistakes</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Design DAGs that are easy to operate, not just easy to write</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31520" y="1417320"/>
            <a:ext cx="5193792" cy="475488"/>
          </a:xfrm>
          <a:prstGeom prst="roundRect">
            <a:avLst>
              <a:gd name="adj" fmla="val 15385"/>
            </a:avLst>
          </a:prstGeom>
          <a:solidFill>
            <a:srgbClr val="FF6B6B"/>
          </a:solidFill>
          <a:ln w="12700">
            <a:solidFill>
              <a:srgbClr val="FF6B6B">
                <a:alpha val="0"/>
              </a:srgbClr>
            </a:solidFill>
          </a:ln>
        </p:spPr>
        <p:txBody>
          <a:bodyPr wrap="square" lIns="1016" tIns="1016" rIns="1016" bIns="1016" rtlCol="0" anchor="ctr">
            <a:normAutofit/>
          </a:bodyPr>
          <a:lstStyle/>
          <a:p>
            <a:pPr marL="0" indent="0" algn="ctr">
              <a:buNone/>
            </a:pPr>
            <a:r>
              <a:rPr lang="en-US" sz="1700" b="1" dirty="0">
                <a:solidFill>
                  <a:srgbClr val="F8FAFC"/>
                </a:solidFill>
              </a:rPr>
              <a:t>Common mistakes</a:t>
            </a:r>
            <a:endParaRPr lang="en-US" sz="1700" dirty="0"/>
          </a:p>
        </p:txBody>
      </p:sp>
      <p:sp>
        <p:nvSpPr>
          <p:cNvPr id="11" name="Text 9"/>
          <p:cNvSpPr/>
          <p:nvPr/>
        </p:nvSpPr>
        <p:spPr>
          <a:xfrm>
            <a:off x="6236208" y="1417320"/>
            <a:ext cx="5193792" cy="475488"/>
          </a:xfrm>
          <a:prstGeom prst="roundRect">
            <a:avLst>
              <a:gd name="adj" fmla="val 15385"/>
            </a:avLst>
          </a:prstGeom>
          <a:solidFill>
            <a:srgbClr val="46E6A9"/>
          </a:solidFill>
          <a:ln w="12700">
            <a:solidFill>
              <a:srgbClr val="46E6A9">
                <a:alpha val="0"/>
              </a:srgbClr>
            </a:solidFill>
          </a:ln>
        </p:spPr>
        <p:txBody>
          <a:bodyPr wrap="square" lIns="1016" tIns="1016" rIns="1016" bIns="1016" rtlCol="0" anchor="ctr">
            <a:normAutofit/>
          </a:bodyPr>
          <a:lstStyle/>
          <a:p>
            <a:pPr marL="0" indent="0" algn="ctr">
              <a:buNone/>
            </a:pPr>
            <a:r>
              <a:rPr lang="en-US" sz="1700" b="1" dirty="0">
                <a:solidFill>
                  <a:srgbClr val="071827"/>
                </a:solidFill>
              </a:rPr>
              <a:t>Better practice</a:t>
            </a:r>
            <a:endParaRPr lang="en-US" sz="1700" dirty="0"/>
          </a:p>
        </p:txBody>
      </p:sp>
      <p:sp>
        <p:nvSpPr>
          <p:cNvPr id="12" name="Text 10"/>
          <p:cNvSpPr/>
          <p:nvPr/>
        </p:nvSpPr>
        <p:spPr>
          <a:xfrm>
            <a:off x="841248" y="2194560"/>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Huge all-in-one task</a:t>
            </a:r>
            <a:endParaRPr lang="en-US" sz="1350" dirty="0"/>
          </a:p>
        </p:txBody>
      </p:sp>
      <p:sp>
        <p:nvSpPr>
          <p:cNvPr id="13" name="Text 11"/>
          <p:cNvSpPr/>
          <p:nvPr/>
        </p:nvSpPr>
        <p:spPr>
          <a:xfrm>
            <a:off x="841248" y="2724912"/>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Hardcoded credentials in DAG file</a:t>
            </a:r>
            <a:endParaRPr lang="en-US" sz="1350" dirty="0"/>
          </a:p>
        </p:txBody>
      </p:sp>
      <p:sp>
        <p:nvSpPr>
          <p:cNvPr id="14" name="Text 12"/>
          <p:cNvSpPr/>
          <p:nvPr/>
        </p:nvSpPr>
        <p:spPr>
          <a:xfrm>
            <a:off x="841248" y="3255264"/>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Passing large data via XCom</a:t>
            </a:r>
            <a:endParaRPr lang="en-US" sz="1350" dirty="0"/>
          </a:p>
        </p:txBody>
      </p:sp>
      <p:sp>
        <p:nvSpPr>
          <p:cNvPr id="15" name="Text 13"/>
          <p:cNvSpPr/>
          <p:nvPr/>
        </p:nvSpPr>
        <p:spPr>
          <a:xfrm>
            <a:off x="841248" y="3785616"/>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No retries or timeouts</a:t>
            </a:r>
            <a:endParaRPr lang="en-US" sz="1350" dirty="0"/>
          </a:p>
        </p:txBody>
      </p:sp>
      <p:sp>
        <p:nvSpPr>
          <p:cNvPr id="16" name="Text 14"/>
          <p:cNvSpPr/>
          <p:nvPr/>
        </p:nvSpPr>
        <p:spPr>
          <a:xfrm>
            <a:off x="841248" y="4315968"/>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Non-idempotent loads that duplicate rows</a:t>
            </a:r>
            <a:endParaRPr lang="en-US" sz="1350" dirty="0"/>
          </a:p>
        </p:txBody>
      </p:sp>
      <p:sp>
        <p:nvSpPr>
          <p:cNvPr id="17" name="Text 15"/>
          <p:cNvSpPr/>
          <p:nvPr/>
        </p:nvSpPr>
        <p:spPr>
          <a:xfrm>
            <a:off x="841248" y="4846320"/>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Complex top-level code during DAG parsing</a:t>
            </a:r>
            <a:endParaRPr lang="en-US" sz="1350" dirty="0"/>
          </a:p>
        </p:txBody>
      </p:sp>
      <p:sp>
        <p:nvSpPr>
          <p:cNvPr id="18" name="Text 16"/>
          <p:cNvSpPr/>
          <p:nvPr/>
        </p:nvSpPr>
        <p:spPr>
          <a:xfrm>
            <a:off x="6345936" y="2194560"/>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Small retryable tasks</a:t>
            </a:r>
            <a:endParaRPr lang="en-US" sz="1350" dirty="0"/>
          </a:p>
        </p:txBody>
      </p:sp>
      <p:sp>
        <p:nvSpPr>
          <p:cNvPr id="19" name="Text 17"/>
          <p:cNvSpPr/>
          <p:nvPr/>
        </p:nvSpPr>
        <p:spPr>
          <a:xfrm>
            <a:off x="6345936" y="2724912"/>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Use Connections / secrets backend</a:t>
            </a:r>
            <a:endParaRPr lang="en-US" sz="1350" dirty="0"/>
          </a:p>
        </p:txBody>
      </p:sp>
      <p:sp>
        <p:nvSpPr>
          <p:cNvPr id="20" name="Text 18"/>
          <p:cNvSpPr/>
          <p:nvPr/>
        </p:nvSpPr>
        <p:spPr>
          <a:xfrm>
            <a:off x="6345936" y="3255264"/>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Pass paths/counts/status only</a:t>
            </a:r>
            <a:endParaRPr lang="en-US" sz="1350" dirty="0"/>
          </a:p>
        </p:txBody>
      </p:sp>
      <p:sp>
        <p:nvSpPr>
          <p:cNvPr id="21" name="Text 19"/>
          <p:cNvSpPr/>
          <p:nvPr/>
        </p:nvSpPr>
        <p:spPr>
          <a:xfrm>
            <a:off x="6345936" y="3785616"/>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Add retries, timeout, alerts</a:t>
            </a:r>
            <a:endParaRPr lang="en-US" sz="1350" dirty="0"/>
          </a:p>
        </p:txBody>
      </p:sp>
      <p:sp>
        <p:nvSpPr>
          <p:cNvPr id="22" name="Text 20"/>
          <p:cNvSpPr/>
          <p:nvPr/>
        </p:nvSpPr>
        <p:spPr>
          <a:xfrm>
            <a:off x="6345936" y="4315968"/>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Partitioned overwrite / merge strategy</a:t>
            </a:r>
            <a:endParaRPr lang="en-US" sz="1350" dirty="0"/>
          </a:p>
        </p:txBody>
      </p:sp>
      <p:sp>
        <p:nvSpPr>
          <p:cNvPr id="23" name="Text 21"/>
          <p:cNvSpPr/>
          <p:nvPr/>
        </p:nvSpPr>
        <p:spPr>
          <a:xfrm>
            <a:off x="6345936" y="4846320"/>
            <a:ext cx="5010912" cy="320040"/>
          </a:xfrm>
          <a:prstGeom prst="rect">
            <a:avLst/>
          </a:prstGeom>
          <a:noFill/>
          <a:ln/>
        </p:spPr>
        <p:txBody>
          <a:bodyPr wrap="square" lIns="381" tIns="381" rIns="381" bIns="381" rtlCol="0" anchor="t">
            <a:normAutofit/>
          </a:bodyPr>
          <a:lstStyle/>
          <a:p>
            <a:pPr marL="0" indent="0" algn="l">
              <a:buNone/>
            </a:pPr>
            <a:r>
              <a:rPr lang="en-US" sz="1350" dirty="0">
                <a:solidFill>
                  <a:srgbClr val="F8FAFC"/>
                </a:solidFill>
                <a:latin typeface="Aptos" pitchFamily="34" charset="0"/>
                <a:ea typeface="Aptos" pitchFamily="34" charset="-122"/>
                <a:cs typeface="Aptos" pitchFamily="34" charset="-120"/>
              </a:rPr>
              <a:t>• Keep DAG parse fast and deterministic</a:t>
            </a:r>
            <a:endParaRPr lang="en-US" sz="1350" dirty="0"/>
          </a:p>
        </p:txBody>
      </p:sp>
      <p:sp>
        <p:nvSpPr>
          <p:cNvPr id="24" name="Text 22"/>
          <p:cNvSpPr/>
          <p:nvPr/>
        </p:nvSpPr>
        <p:spPr>
          <a:xfrm>
            <a:off x="914400" y="5943600"/>
            <a:ext cx="10241280" cy="320040"/>
          </a:xfrm>
          <a:prstGeom prst="rect">
            <a:avLst/>
          </a:prstGeom>
          <a:noFill/>
          <a:ln/>
        </p:spPr>
        <p:txBody>
          <a:bodyPr wrap="square" lIns="381" tIns="381" rIns="381" bIns="381" rtlCol="0" anchor="t">
            <a:normAutofit/>
          </a:bodyPr>
          <a:lstStyle/>
          <a:p>
            <a:pPr marL="0" indent="0" algn="ctr">
              <a:buNone/>
            </a:pPr>
            <a:r>
              <a:rPr lang="en-US" sz="1700" b="1" dirty="0">
                <a:solidFill>
                  <a:srgbClr val="46E6A9"/>
                </a:solidFill>
                <a:latin typeface="Aptos" pitchFamily="34" charset="0"/>
                <a:ea typeface="Aptos" pitchFamily="34" charset="-122"/>
                <a:cs typeface="Aptos" pitchFamily="34" charset="-120"/>
              </a:rPr>
              <a:t>Best Airflow DAGs are boring: predictable, readable, observable, and safe to rerun.</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Summary</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Key takeaways</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Airflow gives structure to production data workflows</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371600"/>
            <a:ext cx="5221224" cy="1261872"/>
          </a:xfrm>
          <a:prstGeom prst="roundRect">
            <a:avLst>
              <a:gd name="adj" fmla="val 5797"/>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Airflow solves orchestration pain: dependencies, scheduling, retries, monitoring</a:t>
            </a:r>
            <a:endParaRPr lang="en-US" sz="1300" dirty="0"/>
          </a:p>
        </p:txBody>
      </p:sp>
      <p:sp>
        <p:nvSpPr>
          <p:cNvPr id="11" name="Text 9"/>
          <p:cNvSpPr/>
          <p:nvPr/>
        </p:nvSpPr>
        <p:spPr>
          <a:xfrm>
            <a:off x="6163056" y="1371600"/>
            <a:ext cx="5221224" cy="1261872"/>
          </a:xfrm>
          <a:prstGeom prst="roundRect">
            <a:avLst>
              <a:gd name="adj" fmla="val 5797"/>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DAG is the workflow plan; Tasks are executable units; Operators are reusable templates</a:t>
            </a:r>
            <a:endParaRPr lang="en-US" sz="1300" dirty="0"/>
          </a:p>
        </p:txBody>
      </p:sp>
      <p:sp>
        <p:nvSpPr>
          <p:cNvPr id="12" name="Text 10"/>
          <p:cNvSpPr/>
          <p:nvPr/>
        </p:nvSpPr>
        <p:spPr>
          <a:xfrm>
            <a:off x="777240" y="2798064"/>
            <a:ext cx="5221224" cy="1261872"/>
          </a:xfrm>
          <a:prstGeom prst="roundRect">
            <a:avLst>
              <a:gd name="adj" fmla="val 5797"/>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Scheduler decides what should run when dependencies and schedule are ready</a:t>
            </a:r>
            <a:endParaRPr lang="en-US" sz="1300" dirty="0"/>
          </a:p>
        </p:txBody>
      </p:sp>
      <p:sp>
        <p:nvSpPr>
          <p:cNvPr id="13" name="Text 11"/>
          <p:cNvSpPr/>
          <p:nvPr/>
        </p:nvSpPr>
        <p:spPr>
          <a:xfrm>
            <a:off x="6163056" y="2798064"/>
            <a:ext cx="5221224" cy="1261872"/>
          </a:xfrm>
          <a:prstGeom prst="roundRect">
            <a:avLst>
              <a:gd name="adj" fmla="val 5797"/>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Use Airflow to orchestrate compute engines, not as a large data processing engine</a:t>
            </a:r>
            <a:endParaRPr lang="en-US" sz="1300" dirty="0"/>
          </a:p>
        </p:txBody>
      </p:sp>
      <p:sp>
        <p:nvSpPr>
          <p:cNvPr id="14" name="Text 12"/>
          <p:cNvSpPr/>
          <p:nvPr/>
        </p:nvSpPr>
        <p:spPr>
          <a:xfrm>
            <a:off x="777240" y="4224528"/>
            <a:ext cx="5221224" cy="1261872"/>
          </a:xfrm>
          <a:prstGeom prst="roundRect">
            <a:avLst>
              <a:gd name="adj" fmla="val 5797"/>
            </a:avLst>
          </a:prstGeom>
          <a:solidFill>
            <a:srgbClr val="102E48"/>
          </a:solidFill>
          <a:ln w="12700">
            <a:solidFill>
              <a:srgbClr val="102E48">
                <a:alpha val="0"/>
              </a:srgbClr>
            </a:solidFill>
          </a:ln>
        </p:spPr>
        <p:txBody>
          <a:bodyPr wrap="square" lIns="1397" tIns="1397" rIns="1397" bIns="1397" rtlCol="0" anchor="ctr">
            <a:normAutofit/>
          </a:bodyPr>
          <a:lstStyle/>
          <a:p>
            <a:pPr marL="0" indent="0" algn="l">
              <a:buNone/>
            </a:pPr>
            <a:r>
              <a:rPr lang="en-US" sz="1300" b="1" dirty="0">
                <a:solidFill>
                  <a:srgbClr val="F8FAFC"/>
                </a:solidFill>
              </a:rPr>
              <a:t>A real pipeline needs extraction, validation, transformation, loading, notification, and recovery</a:t>
            </a:r>
            <a:endParaRPr lang="en-US" sz="1300" dirty="0"/>
          </a:p>
        </p:txBody>
      </p:sp>
      <p:sp>
        <p:nvSpPr>
          <p:cNvPr id="15" name="Text 13"/>
          <p:cNvSpPr/>
          <p:nvPr/>
        </p:nvSpPr>
        <p:spPr>
          <a:xfrm>
            <a:off x="6163056" y="4224528"/>
            <a:ext cx="5221224" cy="1261872"/>
          </a:xfrm>
          <a:prstGeom prst="roundRect">
            <a:avLst>
              <a:gd name="adj" fmla="val 5797"/>
            </a:avLst>
          </a:prstGeom>
          <a:solidFill>
            <a:srgbClr val="143C5A"/>
          </a:solidFill>
          <a:ln w="12700">
            <a:solidFill>
              <a:srgbClr val="143C5A">
                <a:alpha val="0"/>
              </a:srgbClr>
            </a:solidFill>
          </a:ln>
        </p:spPr>
        <p:txBody>
          <a:bodyPr wrap="square" lIns="1397" tIns="1397" rIns="1397" bIns="1397" rtlCol="0" anchor="ctr">
            <a:normAutofit/>
          </a:bodyPr>
          <a:lstStyle/>
          <a:p>
            <a:pPr marL="0" indent="0" algn="l">
              <a:buNone/>
            </a:pPr>
            <a:r>
              <a:rPr lang="en-US" sz="1300" b="1" dirty="0">
                <a:solidFill>
                  <a:srgbClr val="F8FAFC"/>
                </a:solidFill>
              </a:rPr>
              <a:t>Production readiness means idempotency, observability, resource controls, and safe backfills</a:t>
            </a:r>
            <a:endParaRPr lang="en-US" sz="1300" dirty="0"/>
          </a:p>
        </p:txBody>
      </p:sp>
      <p:sp>
        <p:nvSpPr>
          <p:cNvPr id="16" name="Text 14"/>
          <p:cNvSpPr/>
          <p:nvPr/>
        </p:nvSpPr>
        <p:spPr>
          <a:xfrm>
            <a:off x="914400" y="5806440"/>
            <a:ext cx="10241280" cy="320040"/>
          </a:xfrm>
          <a:prstGeom prst="rect">
            <a:avLst/>
          </a:prstGeom>
          <a:noFill/>
          <a:ln/>
        </p:spPr>
        <p:txBody>
          <a:bodyPr wrap="square" lIns="381" tIns="381" rIns="381" bIns="381" rtlCol="0" anchor="t">
            <a:normAutofit/>
          </a:bodyPr>
          <a:lstStyle/>
          <a:p>
            <a:pPr marL="0" indent="0" algn="ctr">
              <a:buNone/>
            </a:pPr>
            <a:r>
              <a:rPr lang="en-US" sz="1700" b="1" dirty="0">
                <a:solidFill>
                  <a:srgbClr val="FFD166"/>
                </a:solidFill>
                <a:latin typeface="Aptos" pitchFamily="34" charset="0"/>
                <a:ea typeface="Aptos" pitchFamily="34" charset="-122"/>
                <a:cs typeface="Aptos" pitchFamily="34" charset="-120"/>
              </a:rPr>
              <a:t>Mental model: Airflow is the control tower that coordinates every flight in your data platform.</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18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7"/>
          </a:solidFill>
          <a:ln w="12700">
            <a:solidFill>
              <a:srgbClr val="071827">
                <a:alpha val="0"/>
              </a:srgbClr>
            </a:solidFill>
            <a:prstDash val="solid"/>
          </a:ln>
        </p:spPr>
      </p:sp>
      <p:sp>
        <p:nvSpPr>
          <p:cNvPr id="3" name="Shape 1"/>
          <p:cNvSpPr/>
          <p:nvPr/>
        </p:nvSpPr>
        <p:spPr>
          <a:xfrm>
            <a:off x="0" y="0"/>
            <a:ext cx="12191695" cy="146304"/>
          </a:xfrm>
          <a:prstGeom prst="rect">
            <a:avLst/>
          </a:prstGeom>
          <a:solidFill>
            <a:srgbClr val="38D9FF"/>
          </a:solidFill>
          <a:ln w="12700">
            <a:solidFill>
              <a:srgbClr val="38D9FF">
                <a:alpha val="0"/>
              </a:srgbClr>
            </a:solidFill>
            <a:prstDash val="solid"/>
          </a:ln>
        </p:spPr>
      </p:sp>
      <p:sp>
        <p:nvSpPr>
          <p:cNvPr id="4" name="Text 2"/>
          <p:cNvSpPr/>
          <p:nvPr/>
        </p:nvSpPr>
        <p:spPr>
          <a:xfrm>
            <a:off x="502920" y="6455664"/>
            <a:ext cx="6035040" cy="228600"/>
          </a:xfrm>
          <a:prstGeom prst="rect">
            <a:avLst/>
          </a:prstGeom>
          <a:noFill/>
          <a:ln/>
        </p:spPr>
        <p:txBody>
          <a:bodyPr wrap="square" lIns="0" tIns="0" rIns="0" bIns="0" rtlCol="0" anchor="ctr"/>
          <a:lstStyle/>
          <a:p>
            <a:pPr marL="0" indent="0">
              <a:buNone/>
            </a:pPr>
            <a:r>
              <a:rPr lang="en-US" sz="800" dirty="0">
                <a:solidFill>
                  <a:srgbClr val="7AA7C2"/>
                </a:solidFill>
                <a:latin typeface="Aptos" pitchFamily="34" charset="0"/>
                <a:ea typeface="Aptos" pitchFamily="34" charset="-122"/>
                <a:cs typeface="Aptos" pitchFamily="34" charset="-120"/>
              </a:rPr>
              <a:t>References</a:t>
            </a:r>
            <a:endParaRPr lang="en-US" sz="800" dirty="0"/>
          </a:p>
        </p:txBody>
      </p:sp>
      <p:sp>
        <p:nvSpPr>
          <p:cNvPr id="5" name="Text 3"/>
          <p:cNvSpPr/>
          <p:nvPr/>
        </p:nvSpPr>
        <p:spPr>
          <a:xfrm>
            <a:off x="7589520" y="6455664"/>
            <a:ext cx="4069080" cy="228600"/>
          </a:xfrm>
          <a:prstGeom prst="rect">
            <a:avLst/>
          </a:prstGeom>
          <a:noFill/>
          <a:ln/>
        </p:spPr>
        <p:txBody>
          <a:bodyPr wrap="square" lIns="0" tIns="0" rIns="0" bIns="0" rtlCol="0" anchor="ctr"/>
          <a:lstStyle/>
          <a:p>
            <a:pPr marL="0" indent="0" algn="r">
              <a:buNone/>
            </a:pPr>
            <a:r>
              <a:rPr lang="en-US" sz="800" dirty="0">
                <a:solidFill>
                  <a:srgbClr val="7AA7C2"/>
                </a:solidFill>
                <a:latin typeface="Aptos" pitchFamily="34" charset="0"/>
                <a:ea typeface="Aptos" pitchFamily="34" charset="-122"/>
                <a:cs typeface="Aptos" pitchFamily="34" charset="-120"/>
              </a:rPr>
              <a:t>Apache Airflow • Workflow Orchestration</a:t>
            </a:r>
            <a:endParaRPr lang="en-US" sz="800" dirty="0"/>
          </a:p>
        </p:txBody>
      </p:sp>
      <p:sp>
        <p:nvSpPr>
          <p:cNvPr id="6" name="Text 4"/>
          <p:cNvSpPr/>
          <p:nvPr/>
        </p:nvSpPr>
        <p:spPr>
          <a:xfrm>
            <a:off x="502920" y="347472"/>
            <a:ext cx="9966960" cy="411480"/>
          </a:xfrm>
          <a:prstGeom prst="rect">
            <a:avLst/>
          </a:prstGeom>
          <a:noFill/>
          <a:ln/>
        </p:spPr>
        <p:txBody>
          <a:bodyPr wrap="square" lIns="0" tIns="0" rIns="0" bIns="0" rtlCol="0" anchor="ctr"/>
          <a:lstStyle/>
          <a:p>
            <a:pPr marL="0" indent="0">
              <a:buNone/>
            </a:pPr>
            <a:r>
              <a:rPr lang="en-US" sz="2700" b="1" dirty="0">
                <a:solidFill>
                  <a:srgbClr val="F8FAFC"/>
                </a:solidFill>
                <a:latin typeface="Aptos Display" pitchFamily="34" charset="0"/>
                <a:ea typeface="Aptos Display" pitchFamily="34" charset="-122"/>
                <a:cs typeface="Aptos Display" pitchFamily="34" charset="-120"/>
              </a:rPr>
              <a:t>Reference sources used</a:t>
            </a:r>
            <a:endParaRPr lang="en-US" sz="2700" dirty="0"/>
          </a:p>
        </p:txBody>
      </p:sp>
      <p:sp>
        <p:nvSpPr>
          <p:cNvPr id="7" name="Text 5"/>
          <p:cNvSpPr/>
          <p:nvPr/>
        </p:nvSpPr>
        <p:spPr>
          <a:xfrm>
            <a:off x="530352" y="804672"/>
            <a:ext cx="9875520" cy="310896"/>
          </a:xfrm>
          <a:prstGeom prst="rect">
            <a:avLst/>
          </a:prstGeom>
          <a:noFill/>
          <a:ln/>
        </p:spPr>
        <p:txBody>
          <a:bodyPr wrap="square" lIns="0" tIns="0" rIns="0" bIns="0" rtlCol="0" anchor="ctr"/>
          <a:lstStyle/>
          <a:p>
            <a:pPr marL="0" indent="0">
              <a:buNone/>
            </a:pPr>
            <a:r>
              <a:rPr lang="en-US" sz="1200" dirty="0">
                <a:solidFill>
                  <a:srgbClr val="B9C9D8"/>
                </a:solidFill>
                <a:latin typeface="Aptos" pitchFamily="34" charset="0"/>
                <a:ea typeface="Aptos" pitchFamily="34" charset="-122"/>
                <a:cs typeface="Aptos" pitchFamily="34" charset="-120"/>
              </a:rPr>
              <a:t>Official Apache Airflow documentation pages used to prepare this deck</a:t>
            </a:r>
            <a:endParaRPr lang="en-US" sz="1200" dirty="0"/>
          </a:p>
        </p:txBody>
      </p:sp>
      <p:sp>
        <p:nvSpPr>
          <p:cNvPr id="8" name="Shape 6"/>
          <p:cNvSpPr/>
          <p:nvPr/>
        </p:nvSpPr>
        <p:spPr>
          <a:xfrm>
            <a:off x="10652760" y="384048"/>
            <a:ext cx="1005840" cy="329184"/>
          </a:xfrm>
          <a:prstGeom prst="roundRect">
            <a:avLst>
              <a:gd name="adj" fmla="val 19444"/>
            </a:avLst>
          </a:prstGeom>
          <a:solidFill>
            <a:srgbClr val="143C5A"/>
          </a:solidFill>
          <a:ln w="12700">
            <a:solidFill>
              <a:srgbClr val="143C5A">
                <a:alpha val="0"/>
              </a:srgbClr>
            </a:solidFill>
            <a:prstDash val="solid"/>
          </a:ln>
        </p:spPr>
      </p:sp>
      <p:sp>
        <p:nvSpPr>
          <p:cNvPr id="9" name="Text 7"/>
          <p:cNvSpPr/>
          <p:nvPr/>
        </p:nvSpPr>
        <p:spPr>
          <a:xfrm>
            <a:off x="10652760" y="457200"/>
            <a:ext cx="1005840" cy="128016"/>
          </a:xfrm>
          <a:prstGeom prst="rect">
            <a:avLst/>
          </a:prstGeom>
          <a:noFill/>
          <a:ln/>
        </p:spPr>
        <p:txBody>
          <a:bodyPr wrap="square" lIns="0" tIns="0" rIns="0" bIns="0" rtlCol="0" anchor="ctr"/>
          <a:lstStyle/>
          <a:p>
            <a:pPr marL="0" indent="0" algn="ctr">
              <a:buNone/>
            </a:pPr>
            <a:r>
              <a:rPr lang="en-US" sz="1000" b="1" dirty="0">
                <a:solidFill>
                  <a:srgbClr val="38D9FF"/>
                </a:solidFill>
              </a:rPr>
              <a:t>2026</a:t>
            </a:r>
            <a:endParaRPr lang="en-US" sz="1000" dirty="0"/>
          </a:p>
        </p:txBody>
      </p:sp>
      <p:sp>
        <p:nvSpPr>
          <p:cNvPr id="10" name="Text 8"/>
          <p:cNvSpPr/>
          <p:nvPr/>
        </p:nvSpPr>
        <p:spPr>
          <a:xfrm>
            <a:off x="777240" y="1417320"/>
            <a:ext cx="10698480" cy="347472"/>
          </a:xfrm>
          <a:prstGeom prst="rect">
            <a:avLst/>
          </a:prstGeom>
          <a:noFill/>
          <a:ln/>
        </p:spPr>
        <p:txBody>
          <a:bodyPr wrap="square" lIns="381" tIns="381" rIns="381" bIns="381" rtlCol="0" anchor="t">
            <a:normAutofit/>
          </a:bodyPr>
          <a:lstStyle/>
          <a:p>
            <a:pPr marL="0" indent="0" algn="l">
              <a:buNone/>
            </a:pPr>
            <a:r>
              <a:rPr lang="en-US" sz="1250" dirty="0">
                <a:solidFill>
                  <a:srgbClr val="F8FAFC"/>
                </a:solidFill>
                <a:latin typeface="Aptos" pitchFamily="34" charset="0"/>
                <a:ea typeface="Aptos" pitchFamily="34" charset="-122"/>
                <a:cs typeface="Aptos" pitchFamily="34" charset="-120"/>
              </a:rPr>
              <a:t>1. Airflow Architecture Overview — airflow.apache.org/docs/apache-airflow/stable/core-concepts/overview.html</a:t>
            </a:r>
            <a:endParaRPr lang="en-US" sz="1250" dirty="0"/>
          </a:p>
        </p:txBody>
      </p:sp>
      <p:sp>
        <p:nvSpPr>
          <p:cNvPr id="11" name="Text 9"/>
          <p:cNvSpPr/>
          <p:nvPr/>
        </p:nvSpPr>
        <p:spPr>
          <a:xfrm>
            <a:off x="777240" y="1892808"/>
            <a:ext cx="10698480" cy="347472"/>
          </a:xfrm>
          <a:prstGeom prst="rect">
            <a:avLst/>
          </a:prstGeom>
          <a:noFill/>
          <a:ln/>
        </p:spPr>
        <p:txBody>
          <a:bodyPr wrap="square" lIns="381" tIns="381" rIns="381" bIns="381" rtlCol="0" anchor="t">
            <a:normAutofit/>
          </a:bodyPr>
          <a:lstStyle/>
          <a:p>
            <a:pPr marL="0" indent="0" algn="l">
              <a:buNone/>
            </a:pPr>
            <a:r>
              <a:rPr lang="en-US" sz="1250" dirty="0">
                <a:solidFill>
                  <a:srgbClr val="F8FAFC"/>
                </a:solidFill>
                <a:latin typeface="Aptos" pitchFamily="34" charset="0"/>
                <a:ea typeface="Aptos" pitchFamily="34" charset="-122"/>
                <a:cs typeface="Aptos" pitchFamily="34" charset="-120"/>
              </a:rPr>
              <a:t>2. DAGs — airflow.apache.org/docs/apache-airflow/stable/core-concepts/dags.html</a:t>
            </a:r>
            <a:endParaRPr lang="en-US" sz="1250" dirty="0"/>
          </a:p>
        </p:txBody>
      </p:sp>
      <p:sp>
        <p:nvSpPr>
          <p:cNvPr id="12" name="Text 10"/>
          <p:cNvSpPr/>
          <p:nvPr/>
        </p:nvSpPr>
        <p:spPr>
          <a:xfrm>
            <a:off x="777240" y="2368296"/>
            <a:ext cx="10698480" cy="347472"/>
          </a:xfrm>
          <a:prstGeom prst="rect">
            <a:avLst/>
          </a:prstGeom>
          <a:noFill/>
          <a:ln/>
        </p:spPr>
        <p:txBody>
          <a:bodyPr wrap="square" lIns="381" tIns="381" rIns="381" bIns="381" rtlCol="0" anchor="t">
            <a:normAutofit/>
          </a:bodyPr>
          <a:lstStyle/>
          <a:p>
            <a:pPr marL="0" indent="0" algn="l">
              <a:buNone/>
            </a:pPr>
            <a:r>
              <a:rPr lang="en-US" sz="1250" dirty="0">
                <a:solidFill>
                  <a:srgbClr val="F8FAFC"/>
                </a:solidFill>
                <a:latin typeface="Aptos" pitchFamily="34" charset="0"/>
                <a:ea typeface="Aptos" pitchFamily="34" charset="-122"/>
                <a:cs typeface="Aptos" pitchFamily="34" charset="-120"/>
              </a:rPr>
              <a:t>3. Tasks — airflow.apache.org/docs/apache-airflow/stable/core-concepts/tasks.html</a:t>
            </a:r>
            <a:endParaRPr lang="en-US" sz="1250" dirty="0"/>
          </a:p>
        </p:txBody>
      </p:sp>
      <p:sp>
        <p:nvSpPr>
          <p:cNvPr id="13" name="Text 11"/>
          <p:cNvSpPr/>
          <p:nvPr/>
        </p:nvSpPr>
        <p:spPr>
          <a:xfrm>
            <a:off x="777240" y="2843784"/>
            <a:ext cx="10698480" cy="347472"/>
          </a:xfrm>
          <a:prstGeom prst="rect">
            <a:avLst/>
          </a:prstGeom>
          <a:noFill/>
          <a:ln/>
        </p:spPr>
        <p:txBody>
          <a:bodyPr wrap="square" lIns="381" tIns="381" rIns="381" bIns="381" rtlCol="0" anchor="t">
            <a:normAutofit/>
          </a:bodyPr>
          <a:lstStyle/>
          <a:p>
            <a:pPr marL="0" indent="0" algn="l">
              <a:buNone/>
            </a:pPr>
            <a:r>
              <a:rPr lang="en-US" sz="1250" dirty="0">
                <a:solidFill>
                  <a:srgbClr val="F8FAFC"/>
                </a:solidFill>
                <a:latin typeface="Aptos" pitchFamily="34" charset="0"/>
                <a:ea typeface="Aptos" pitchFamily="34" charset="-122"/>
                <a:cs typeface="Aptos" pitchFamily="34" charset="-120"/>
              </a:rPr>
              <a:t>4. Operators — airflow.apache.org/docs/apache-airflow/stable/core-concepts/operators.html</a:t>
            </a:r>
            <a:endParaRPr lang="en-US" sz="1250" dirty="0"/>
          </a:p>
        </p:txBody>
      </p:sp>
      <p:sp>
        <p:nvSpPr>
          <p:cNvPr id="14" name="Text 12"/>
          <p:cNvSpPr/>
          <p:nvPr/>
        </p:nvSpPr>
        <p:spPr>
          <a:xfrm>
            <a:off x="777240" y="3319272"/>
            <a:ext cx="10698480" cy="347472"/>
          </a:xfrm>
          <a:prstGeom prst="rect">
            <a:avLst/>
          </a:prstGeom>
          <a:noFill/>
          <a:ln/>
        </p:spPr>
        <p:txBody>
          <a:bodyPr wrap="square" lIns="381" tIns="381" rIns="381" bIns="381" rtlCol="0" anchor="t">
            <a:normAutofit/>
          </a:bodyPr>
          <a:lstStyle/>
          <a:p>
            <a:pPr marL="0" indent="0" algn="l">
              <a:buNone/>
            </a:pPr>
            <a:r>
              <a:rPr lang="en-US" sz="1250" dirty="0">
                <a:solidFill>
                  <a:srgbClr val="F8FAFC"/>
                </a:solidFill>
                <a:latin typeface="Aptos" pitchFamily="34" charset="0"/>
                <a:ea typeface="Aptos" pitchFamily="34" charset="-122"/>
                <a:cs typeface="Aptos" pitchFamily="34" charset="-120"/>
              </a:rPr>
              <a:t>5. Scheduler — airflow.apache.org/docs/apache-airflow/stable/administration-and-deployment/scheduler.html</a:t>
            </a:r>
            <a:endParaRPr lang="en-US" sz="1250" dirty="0"/>
          </a:p>
        </p:txBody>
      </p:sp>
      <p:sp>
        <p:nvSpPr>
          <p:cNvPr id="15" name="Text 13"/>
          <p:cNvSpPr/>
          <p:nvPr/>
        </p:nvSpPr>
        <p:spPr>
          <a:xfrm>
            <a:off x="777240" y="3794760"/>
            <a:ext cx="10698480" cy="347472"/>
          </a:xfrm>
          <a:prstGeom prst="rect">
            <a:avLst/>
          </a:prstGeom>
          <a:noFill/>
          <a:ln/>
        </p:spPr>
        <p:txBody>
          <a:bodyPr wrap="square" lIns="381" tIns="381" rIns="381" bIns="381" rtlCol="0" anchor="t">
            <a:normAutofit/>
          </a:bodyPr>
          <a:lstStyle/>
          <a:p>
            <a:pPr marL="0" indent="0" algn="l">
              <a:buNone/>
            </a:pPr>
            <a:r>
              <a:rPr lang="en-US" sz="1250" dirty="0">
                <a:solidFill>
                  <a:srgbClr val="F8FAFC"/>
                </a:solidFill>
                <a:latin typeface="Aptos" pitchFamily="34" charset="0"/>
                <a:ea typeface="Aptos" pitchFamily="34" charset="-122"/>
                <a:cs typeface="Aptos" pitchFamily="34" charset="-120"/>
              </a:rPr>
              <a:t>6. Quick Start — airflow.apache.org/docs/apache-airflow/stable/start.html</a:t>
            </a:r>
            <a:endParaRPr lang="en-US" sz="1250" dirty="0"/>
          </a:p>
        </p:txBody>
      </p:sp>
      <p:sp>
        <p:nvSpPr>
          <p:cNvPr id="16" name="Text 14"/>
          <p:cNvSpPr/>
          <p:nvPr/>
        </p:nvSpPr>
        <p:spPr>
          <a:xfrm>
            <a:off x="777240" y="4270248"/>
            <a:ext cx="10698480" cy="347472"/>
          </a:xfrm>
          <a:prstGeom prst="rect">
            <a:avLst/>
          </a:prstGeom>
          <a:noFill/>
          <a:ln/>
        </p:spPr>
        <p:txBody>
          <a:bodyPr wrap="square" lIns="381" tIns="381" rIns="381" bIns="381" rtlCol="0" anchor="t">
            <a:normAutofit/>
          </a:bodyPr>
          <a:lstStyle/>
          <a:p>
            <a:pPr marL="0" indent="0" algn="l">
              <a:buNone/>
            </a:pPr>
            <a:r>
              <a:rPr lang="en-US" sz="1250" dirty="0">
                <a:solidFill>
                  <a:srgbClr val="F8FAFC"/>
                </a:solidFill>
                <a:latin typeface="Aptos" pitchFamily="34" charset="0"/>
                <a:ea typeface="Aptos" pitchFamily="34" charset="-122"/>
                <a:cs typeface="Aptos" pitchFamily="34" charset="-120"/>
              </a:rPr>
              <a:t>7. Docker Compose Quick Start — airflow.apache.org/docs/apache-airflow/stable/howto/docker-compose/index.html</a:t>
            </a:r>
            <a:endParaRPr lang="en-US" sz="1250" dirty="0"/>
          </a:p>
        </p:txBody>
      </p:sp>
      <p:sp>
        <p:nvSpPr>
          <p:cNvPr id="17" name="Text 15"/>
          <p:cNvSpPr/>
          <p:nvPr/>
        </p:nvSpPr>
        <p:spPr>
          <a:xfrm>
            <a:off x="777240" y="4745736"/>
            <a:ext cx="10698480" cy="347472"/>
          </a:xfrm>
          <a:prstGeom prst="rect">
            <a:avLst/>
          </a:prstGeom>
          <a:noFill/>
          <a:ln/>
        </p:spPr>
        <p:txBody>
          <a:bodyPr wrap="square" lIns="381" tIns="381" rIns="381" bIns="381" rtlCol="0" anchor="t">
            <a:normAutofit/>
          </a:bodyPr>
          <a:lstStyle/>
          <a:p>
            <a:pPr marL="0" indent="0" algn="l">
              <a:buNone/>
            </a:pPr>
            <a:r>
              <a:rPr lang="en-US" sz="1250" dirty="0">
                <a:solidFill>
                  <a:srgbClr val="F8FAFC"/>
                </a:solidFill>
                <a:latin typeface="Aptos" pitchFamily="34" charset="0"/>
                <a:ea typeface="Aptos" pitchFamily="34" charset="-122"/>
                <a:cs typeface="Aptos" pitchFamily="34" charset="-120"/>
              </a:rPr>
              <a:t>8. Dynamic Task Mapping — airflow.apache.org/docs/apache-airflow/stable/authoring-and-scheduling/dynamic-task-mapping.html</a:t>
            </a:r>
            <a:endParaRPr lang="en-US" sz="1250" dirty="0"/>
          </a:p>
        </p:txBody>
      </p:sp>
      <p:sp>
        <p:nvSpPr>
          <p:cNvPr id="18" name="Text 16"/>
          <p:cNvSpPr/>
          <p:nvPr/>
        </p:nvSpPr>
        <p:spPr>
          <a:xfrm>
            <a:off x="914400" y="5486400"/>
            <a:ext cx="10287000" cy="822960"/>
          </a:xfrm>
          <a:prstGeom prst="roundRect">
            <a:avLst>
              <a:gd name="adj" fmla="val 8889"/>
            </a:avLst>
          </a:prstGeom>
          <a:solidFill>
            <a:srgbClr val="0B2338"/>
          </a:solidFill>
          <a:ln w="12700">
            <a:solidFill>
              <a:srgbClr val="38D9FF">
                <a:alpha val="0"/>
              </a:srgbClr>
            </a:solidFill>
          </a:ln>
        </p:spPr>
        <p:txBody>
          <a:bodyPr wrap="square" lIns="1016" tIns="1016" rIns="1016" bIns="1016" rtlCol="0" anchor="ctr">
            <a:normAutofit/>
          </a:bodyPr>
          <a:lstStyle/>
          <a:p>
            <a:pPr marL="0" indent="0" algn="ctr">
              <a:buNone/>
            </a:pPr>
            <a:r>
              <a:rPr lang="en-US" sz="1400" b="1" dirty="0">
                <a:solidFill>
                  <a:srgbClr val="38D9FF"/>
                </a:solidFill>
              </a:rPr>
              <a:t>Suggested next hands-on lab</a:t>
            </a:r>
            <a:endParaRPr lang="en-US" sz="1400" dirty="0"/>
          </a:p>
          <a:p>
            <a:pPr marL="0" indent="0" algn="ctr">
              <a:buNone/>
            </a:pPr>
            <a:r>
              <a:rPr lang="en-US" sz="1400" b="1" dirty="0">
                <a:solidFill>
                  <a:srgbClr val="38D9FF"/>
                </a:solidFill>
              </a:rPr>
              <a:t>Build the food_delivery_daily_metrics DAG, trigger it manually, break validation intentionally, inspect logs, fix it, then rerun only failed tasks.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5355</Words>
  <Application>Microsoft Office PowerPoint</Application>
  <PresentationFormat>Widescreen</PresentationFormat>
  <Paragraphs>774</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Airflow: Workflow Orchestration from Basics to Production</dc:title>
  <dc:subject>Apache Airflow training deck with presenter notes</dc:subject>
  <dc:creator>OpenAI</dc:creator>
  <cp:lastModifiedBy>Geetha eswaramurthi</cp:lastModifiedBy>
  <cp:revision>2</cp:revision>
  <dcterms:created xsi:type="dcterms:W3CDTF">2026-07-29T03:26:07Z</dcterms:created>
  <dcterms:modified xsi:type="dcterms:W3CDTF">2026-07-29T16:25:49Z</dcterms:modified>
</cp:coreProperties>
</file>