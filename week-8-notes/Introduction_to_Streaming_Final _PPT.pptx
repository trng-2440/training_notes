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3" d="2"/>
        <a:sy n="3" d="2"/>
      </p:scale>
      <p:origin x="0" y="0"/>
    </p:cViewPr>
  </p:notesTextViewPr>
  <p:notesViewPr>
    <p:cSldViewPr snapToGrid="0" snapToObjects="1">
      <p:cViewPr>
        <p:scale>
          <a:sx n="100" d="100"/>
          <a:sy n="100" d="100"/>
        </p:scale>
        <p:origin x="2400" y="-90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95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 ordered food online. The app did not wait until the end of the day to confirm your order. It immediately told you that the order was placed, the restaurant accepted it, the driver picked it up, and the map started moving. That is the feeling of streaming.”</a:t>
            </a:r>
          </a:p>
          <a:p>
            <a:r>
              <a:rPr lang="en-US" dirty="0"/>
              <a:t>Then point to the title and say: “Today we are not learning only one tool. We are learning the data engineering idea behind real-time systems: data is generated continuously, it travels through a pipeline, it is processed quickly, and some action happens immediately.”</a:t>
            </a:r>
          </a:p>
          <a:p>
            <a:r>
              <a:rPr lang="en-US" dirty="0"/>
              <a:t>Set the learner expectation: “The slides will show only the main ideas. I will explain the full story using examples like food delivery, fraud detection, live dashboards, and Spark Structured Streaming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‘What streaming means’: “Streaming means continuous event processing. Data does not arrive as one final file; it arrives as many small events.”</a:t>
            </a:r>
          </a:p>
          <a:p>
            <a:r>
              <a:rPr lang="en-US" dirty="0"/>
              <a:t>Batch vs streaming’: “You should know when a daily batch report is enough and when a real-time pipeline is required.</a:t>
            </a:r>
            <a:br>
              <a:rPr lang="en-US" dirty="0"/>
            </a:br>
            <a:endParaRPr lang="en-US" dirty="0"/>
          </a:p>
          <a:p>
            <a:r>
              <a:rPr lang="en-US" dirty="0"/>
              <a:t>Architecture: You should understand the path: source systems create events, a broker buffers them, a processor transforms them, and sinks serve dashboards or alerts.</a:t>
            </a:r>
            <a:br>
              <a:rPr lang="en-US" dirty="0"/>
            </a:br>
            <a:endParaRPr lang="en-US" dirty="0"/>
          </a:p>
          <a:p>
            <a:r>
              <a:rPr lang="en-US" dirty="0"/>
              <a:t>Real-world flow: We will use food delivery because everyone understands live order tracking.</a:t>
            </a:r>
          </a:p>
          <a:p>
            <a:br>
              <a:rPr lang="en-US" dirty="0"/>
            </a:br>
            <a:r>
              <a:rPr lang="en-US" dirty="0"/>
              <a:t>Why it is </a:t>
            </a:r>
            <a:r>
              <a:rPr lang="en-US" dirty="0" err="1"/>
              <a:t>fast:Speed</a:t>
            </a:r>
            <a:r>
              <a:rPr lang="en-US" dirty="0"/>
              <a:t> comes from always-on processing, small chunks, parallelism, and immediate output.</a:t>
            </a:r>
            <a:br>
              <a:rPr lang="en-US" dirty="0"/>
            </a:br>
            <a:br>
              <a:rPr lang="en-US" dirty="0"/>
            </a:br>
            <a:r>
              <a:rPr lang="en-US" dirty="0"/>
              <a:t>Key concepts: Event time, windows, and watermarks are where streaming becomes different from normal batch jobs.</a:t>
            </a:r>
          </a:p>
          <a:p>
            <a:br>
              <a:rPr lang="en-US" dirty="0"/>
            </a:br>
            <a:r>
              <a:rPr lang="en-US" dirty="0"/>
              <a:t>Transition: “Now let us see why streaming exists in the first place.”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business question behind streaming is: what is happening right now?</a:t>
            </a:r>
            <a:br>
              <a:rPr lang="en-US" dirty="0"/>
            </a:br>
            <a:endParaRPr lang="en-US" dirty="0"/>
          </a:p>
          <a:p>
            <a:r>
              <a:rPr lang="en-US" dirty="0"/>
              <a:t>first bullet: Customers expect instant updates. If they click Pay, they expect confirmation immediately. If a driver moves, the map should move.</a:t>
            </a:r>
            <a:br>
              <a:rPr lang="en-US" dirty="0"/>
            </a:br>
            <a:endParaRPr lang="en-US" dirty="0"/>
          </a:p>
          <a:p>
            <a:r>
              <a:rPr lang="en-US" dirty="0"/>
              <a:t>second bullet: “Operations teams need live alerts. If many orders are delayed in Chennai right now, waiting for a night batch job is useless.</a:t>
            </a:r>
            <a:br>
              <a:rPr lang="en-US" dirty="0"/>
            </a:br>
            <a:endParaRPr lang="en-US" dirty="0"/>
          </a:p>
          <a:p>
            <a:r>
              <a:rPr lang="en-US" dirty="0"/>
              <a:t>third bullet: Fraud and failures cannot wait. A suspicious payment must be blocked in seconds, not tomorrow morning.</a:t>
            </a:r>
            <a:br>
              <a:rPr lang="en-US" dirty="0"/>
            </a:br>
            <a:endParaRPr lang="en-US" dirty="0"/>
          </a:p>
          <a:p>
            <a:r>
              <a:rPr lang="en-US" dirty="0"/>
              <a:t>fourth bullet: Dashboards are no longer only historical reports. Businesses want live dashboards showing current demand,</a:t>
            </a:r>
            <a:br>
              <a:rPr lang="en-US" dirty="0"/>
            </a:br>
            <a:r>
              <a:rPr lang="en-US" dirty="0"/>
              <a:t> current failures, current revenue, and current delays.</a:t>
            </a:r>
            <a:br>
              <a:rPr lang="en-US" dirty="0"/>
            </a:br>
            <a:endParaRPr lang="en-US" dirty="0"/>
          </a:p>
          <a:p>
            <a:r>
              <a:rPr lang="en-US" dirty="0"/>
              <a:t>“Streaming turns new data into action in seconds. That is the business value.”</a:t>
            </a:r>
            <a:br>
              <a:rPr lang="en-US" dirty="0"/>
            </a:br>
            <a:endParaRPr lang="en-US" dirty="0"/>
          </a:p>
          <a:p>
            <a:r>
              <a:rPr lang="en-US" dirty="0"/>
              <a:t>Transition: “Now that we know why it exists, let us define streaming clearly.”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is the continuous movement and processing of data events as soon as they are generated.”</a:t>
            </a:r>
          </a:p>
          <a:p>
            <a:br>
              <a:rPr lang="en-US" dirty="0"/>
            </a:br>
            <a:r>
              <a:rPr lang="en-US" dirty="0"/>
              <a:t>An event is a small record that says something happened. Examples: order placed, payment completed, driver location changed, sensor temperature received, user clicked a button.”</a:t>
            </a:r>
          </a:p>
          <a:p>
            <a:br>
              <a:rPr lang="en-US" dirty="0"/>
            </a:br>
            <a:r>
              <a:rPr lang="en-US" dirty="0"/>
              <a:t>Think of many sources pushing small dots of data into a pipeline. The system does not wait for a big file. It keeps listening.”</a:t>
            </a:r>
          </a:p>
          <a:p>
            <a:br>
              <a:rPr lang="en-US" dirty="0"/>
            </a:br>
            <a:br>
              <a:rPr lang="en-US" dirty="0"/>
            </a:br>
            <a:r>
              <a:rPr lang="en-US" dirty="0"/>
              <a:t>“In a food delivery app, every status change becomes an event. In banking, every card swipe becomes an event. In IoT, every sensor reading becomes an event.”</a:t>
            </a:r>
          </a:p>
          <a:p>
            <a:br>
              <a:rPr lang="en-US" dirty="0"/>
            </a:br>
            <a:r>
              <a:rPr lang="en-US" dirty="0"/>
              <a:t>LIVE memory cue: “Listen means receive events. Inspect means validate and clean them. Value means calculate something useful. Emit means send the result to a table, dashboard, alert, or another service.”</a:t>
            </a:r>
          </a:p>
          <a:p>
            <a:br>
              <a:rPr lang="en-US" dirty="0"/>
            </a:br>
            <a:r>
              <a:rPr lang="en-US" dirty="0"/>
              <a:t>Transition: “A common question is: how is this different from batch processing? Let us compare.”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and streaming are not enemies. They solve different problems.</a:t>
            </a:r>
            <a:br>
              <a:rPr lang="en-US" dirty="0"/>
            </a:br>
            <a:endParaRPr lang="en-US" dirty="0"/>
          </a:p>
          <a:p>
            <a:r>
              <a:rPr lang="en-US" dirty="0"/>
              <a:t>Batch answers ‘What happened yesterday? </a:t>
            </a:r>
            <a:br>
              <a:rPr lang="en-US" dirty="0"/>
            </a:br>
            <a:r>
              <a:rPr lang="en-US" dirty="0"/>
              <a:t>Streaming answers ‘What is happening now?</a:t>
            </a:r>
            <a:br>
              <a:rPr lang="en-US" dirty="0"/>
            </a:br>
            <a:br>
              <a:rPr lang="en-US" dirty="0"/>
            </a:br>
            <a:endParaRPr lang="en-US" dirty="0"/>
          </a:p>
          <a:p>
            <a:r>
              <a:rPr lang="en-US" dirty="0"/>
              <a:t>Batch has a bounded dataset. For example, yesterday’s sales file has a start and an end. </a:t>
            </a:r>
            <a:br>
              <a:rPr lang="en-US" dirty="0"/>
            </a:br>
            <a:r>
              <a:rPr lang="en-US" dirty="0"/>
              <a:t>Streaming is unbounded. Events keep coming.”</a:t>
            </a:r>
          </a:p>
          <a:p>
            <a:endParaRPr lang="en-US" dirty="0"/>
          </a:p>
          <a:p>
            <a:br>
              <a:rPr lang="en-US" dirty="0"/>
            </a:br>
            <a:r>
              <a:rPr lang="en-US" dirty="0"/>
              <a:t>run pattern: “A batch job runs on a schedule, maybe every night. </a:t>
            </a:r>
            <a:br>
              <a:rPr lang="en-US" dirty="0"/>
            </a:br>
            <a:r>
              <a:rPr lang="en-US" dirty="0"/>
              <a:t>A streaming query is usually always on.</a:t>
            </a:r>
          </a:p>
          <a:p>
            <a:endParaRPr lang="en-US" dirty="0"/>
          </a:p>
          <a:p>
            <a:r>
              <a:rPr lang="en-US" dirty="0"/>
              <a:t>latency: Batch can take minutes or hours. </a:t>
            </a:r>
            <a:br>
              <a:rPr lang="en-US" dirty="0"/>
            </a:br>
            <a:r>
              <a:rPr lang="en-US" dirty="0"/>
              <a:t>Streaming aims for milliseconds or seconds.”</a:t>
            </a:r>
          </a:p>
          <a:p>
            <a:br>
              <a:rPr lang="en-US" dirty="0"/>
            </a:br>
            <a:r>
              <a:rPr lang="en-US" dirty="0"/>
              <a:t>example row: Daily sales report is batch. Live fraud alert is streaming. Food delivery live tracking is streaming. </a:t>
            </a:r>
            <a:br>
              <a:rPr lang="en-US" dirty="0"/>
            </a:br>
            <a:r>
              <a:rPr lang="en-US" dirty="0"/>
              <a:t>Monthly revenue summary can still be batch.</a:t>
            </a:r>
          </a:p>
          <a:p>
            <a:endParaRPr lang="en-US" dirty="0"/>
          </a:p>
          <a:p>
            <a:r>
              <a:rPr lang="en-US" dirty="0"/>
              <a:t>In real data engineering platforms, we normally use both. Streaming gives immediate action; batch gives complete historical reporting.</a:t>
            </a:r>
          </a:p>
          <a:p>
            <a:br>
              <a:rPr lang="en-US" dirty="0"/>
            </a:br>
            <a:r>
              <a:rPr lang="en-US" dirty="0"/>
              <a:t>Transition: Let us make this practical using a food delivery 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food-delivery slide:</a:t>
            </a:r>
          </a:p>
          <a:p>
            <a:r>
              <a:rPr lang="en-US"/>
              <a:t>Say: “Imagine a customer opens a food delivery app and places an order.”</a:t>
            </a:r>
          </a:p>
          <a:p>
            <a:r>
              <a:rPr lang="en-US"/>
              <a:t>Step 1: “Customer places order. The app creates an ORDER_CREATED event. This event may contain order_id, customer_id, restaurant_id, city, amount, and event_time.”</a:t>
            </a:r>
          </a:p>
          <a:p>
            <a:r>
              <a:rPr lang="en-US"/>
              <a:t>Step 2: “Restaurant accepts. That creates another event: RESTAURANT_ACCEPTED. The customer sees the status change.”</a:t>
            </a:r>
          </a:p>
          <a:p>
            <a:r>
              <a:rPr lang="en-US"/>
              <a:t>Step 3: “Driver picks up. The driver app sends PICKED_UP or OUT_FOR_DELIVERY events.”</a:t>
            </a:r>
          </a:p>
          <a:p>
            <a:r>
              <a:rPr lang="en-US"/>
              <a:t>Step 4: “Customer tracks live. Driver GPS keeps sending location events every few seconds.”</a:t>
            </a:r>
          </a:p>
          <a:p>
            <a:r>
              <a:rPr lang="en-US"/>
              <a:t>Step 5: “Operations sees alerts. If the restaurant takes too long or a driver is stuck, the operations dashboard receives a delay alert.”</a:t>
            </a:r>
          </a:p>
          <a:p>
            <a:r>
              <a:rPr lang="en-US"/>
              <a:t>Explain the bottom statement: “This platform cannot wait until night to process data because the customer experience depends on live updates.”</a:t>
            </a:r>
          </a:p>
          <a:p>
            <a:r>
              <a:rPr lang="en-US"/>
              <a:t>Transition: “Now let us identify all the places where streaming data can come from.”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data sources slide:</a:t>
            </a:r>
          </a:p>
          <a:p>
            <a:r>
              <a:rPr lang="en-US"/>
              <a:t>Say: “Streaming data can come from many producers. A producer is any application, device, or system that emits events.”</a:t>
            </a:r>
          </a:p>
          <a:p>
            <a:r>
              <a:rPr lang="en-US"/>
              <a:t>Mobile apps: “A food app emits orders, clicks, payments, and location changes.”</a:t>
            </a:r>
          </a:p>
          <a:p>
            <a:r>
              <a:rPr lang="en-US"/>
              <a:t>Websites and APIs: “A website emits page views, searches, cart actions, purchases, and API transactions.”</a:t>
            </a:r>
          </a:p>
          <a:p>
            <a:r>
              <a:rPr lang="en-US"/>
              <a:t>IoT and GPS devices: “Sensors send temperature, pressure, vibration, and vehicle movement events.”</a:t>
            </a:r>
          </a:p>
          <a:p>
            <a:r>
              <a:rPr lang="en-US"/>
              <a:t>Databases: “Databases can emit change-data-capture events when rows are inserted, updated, or deleted.”</a:t>
            </a:r>
          </a:p>
          <a:p>
            <a:r>
              <a:rPr lang="en-US"/>
              <a:t>Logs and security: “Application logs, login attempts, error messages, and suspicious behavior can all be streamed.”</a:t>
            </a:r>
          </a:p>
          <a:p>
            <a:r>
              <a:rPr lang="en-US"/>
              <a:t>Trainer tip: “Ask students to name one system they use daily and identify what events it can produce.”</a:t>
            </a:r>
          </a:p>
          <a:p>
            <a:r>
              <a:rPr lang="en-US"/>
              <a:t>Transition: “Once these sources produce events, they need a pipeline. Let us look at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architecture slide:</a:t>
            </a:r>
          </a:p>
          <a:p>
            <a:r>
              <a:rPr lang="en-US"/>
              <a:t>Say: “This is the core streaming architecture. Read it from left to right.”</a:t>
            </a:r>
          </a:p>
          <a:p>
            <a:r>
              <a:rPr lang="en-US"/>
              <a:t>Producer: “The producer is the source: mobile apps, databases, sensors, logs, or APIs. It creates events.”</a:t>
            </a:r>
          </a:p>
          <a:p>
            <a:r>
              <a:rPr lang="en-US"/>
              <a:t>Broker: “The broker is the buffer and traffic controller. Kafka, Event Hubs, or Pub/Sub can receive events from many producers and hold them safely.”</a:t>
            </a:r>
          </a:p>
          <a:p>
            <a:r>
              <a:rPr lang="en-US"/>
              <a:t>Processor: “The processor is where business logic happens. Spark or Flink reads the events, filters bad records, enriches data, aggregates metrics, or detects delays.”</a:t>
            </a:r>
          </a:p>
          <a:p>
            <a:r>
              <a:rPr lang="en-US"/>
              <a:t>Sink: “The sink is where the result goes: lakehouse tables, databases, search systems, dashboards, or alert queues.”</a:t>
            </a:r>
          </a:p>
          <a:p>
            <a:r>
              <a:rPr lang="en-US"/>
              <a:t>Consumer: “The consumer is the final user or system: operations team, customer app, fraud service, or reporting dashboard.”</a:t>
            </a:r>
          </a:p>
          <a:p>
            <a:r>
              <a:rPr lang="en-US"/>
              <a:t>Close: “A strong data engineer should be able to draw this pipeline for any real-time use case.”</a:t>
            </a:r>
          </a:p>
          <a:p>
            <a:r>
              <a:rPr lang="en-US"/>
              <a:t>Transition: “The most misunderstood component is often the broker, so let us zoom into that.”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broker slide:</a:t>
            </a:r>
          </a:p>
          <a:p>
            <a:r>
              <a:rPr lang="en-US"/>
              <a:t>Say: “A message broker is like a traffic controller and waiting area for events.”</a:t>
            </a:r>
          </a:p>
          <a:p>
            <a:r>
              <a:rPr lang="en-US"/>
              <a:t>Explain receives events: “Many producers can send events at the same time. The broker receives them and organizes them.”</a:t>
            </a:r>
          </a:p>
          <a:p>
            <a:r>
              <a:rPr lang="en-US"/>
              <a:t>Explain stores messages safely: “If the processor is temporarily slow or down, the broker keeps messages for a retention period instead of losing them immediately.”</a:t>
            </a:r>
          </a:p>
          <a:p>
            <a:r>
              <a:rPr lang="en-US"/>
              <a:t>Explain partitions: “Partitioning allows the broker to split traffic across multiple lanes. This helps scale throughput.”</a:t>
            </a:r>
          </a:p>
          <a:p>
            <a:r>
              <a:rPr lang="en-US"/>
              <a:t>Explain consumers read at their own pace: “Different consumers can read the same stream for different purposes. One consumer can update a dashboard; another can store raw data; another can detect fraud.”</a:t>
            </a:r>
          </a:p>
          <a:p>
            <a:r>
              <a:rPr lang="en-US"/>
              <a:t>Use a simple analogy: “It is like a railway station. Trains bring passengers, platforms hold them, and different exits take them to different destinations.”</a:t>
            </a:r>
          </a:p>
          <a:p>
            <a:r>
              <a:rPr lang="en-US"/>
              <a:t>Transition: “Now let us connect this to speed. Why does streaming feel fast?”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speed slide:</a:t>
            </a:r>
          </a:p>
          <a:p>
            <a:r>
              <a:rPr lang="en-US"/>
              <a:t>Say: “Streaming becomes fast because the system avoids waiting for a complete file or a full day of data.”</a:t>
            </a:r>
          </a:p>
          <a:p>
            <a:r>
              <a:rPr lang="en-US"/>
              <a:t>Always listening: “The query is already running. It does not start only after someone uploads a file.”</a:t>
            </a:r>
          </a:p>
          <a:p>
            <a:r>
              <a:rPr lang="en-US"/>
              <a:t>Small chunks: “Instead of processing one huge dataset later, the engine processes events or micro-batches continuously.”</a:t>
            </a:r>
          </a:p>
          <a:p>
            <a:r>
              <a:rPr lang="en-US"/>
              <a:t>Parallel work: “Partitions allow many workers to process different portions of the stream at the same time.”</a:t>
            </a:r>
          </a:p>
          <a:p>
            <a:r>
              <a:rPr lang="en-US"/>
              <a:t>Immediate sinks: “The result is written quickly to a dashboard, alert system, table, or API.”</a:t>
            </a:r>
          </a:p>
          <a:p>
            <a:r>
              <a:rPr lang="en-US"/>
              <a:t>Food delivery example: “When the driver location changes, the event flows immediately and the customer map updates. That is low latency.”</a:t>
            </a:r>
          </a:p>
          <a:p>
            <a:r>
              <a:rPr lang="en-US"/>
              <a:t>Close: “Fast does not mean careless. The system still needs reliability, checkpoints, and monitoring.”</a:t>
            </a:r>
          </a:p>
          <a:p>
            <a:r>
              <a:rPr lang="en-US"/>
              <a:t>Transition: “Now let us see where Spark Structured Streaming fits into this.”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Spark Structured Streaming slide:</a:t>
            </a:r>
          </a:p>
          <a:p>
            <a:r>
              <a:rPr lang="en-US"/>
              <a:t>Say: “Spark Structured Streaming lets us process streaming data using the same DataFrame-style logic many of you already know.”</a:t>
            </a:r>
          </a:p>
          <a:p>
            <a:r>
              <a:rPr lang="en-US"/>
              <a:t>Input stream: “Input can come from Kafka, files arriving in a folder, socket data for demos, or cloud queues.”</a:t>
            </a:r>
          </a:p>
          <a:p>
            <a:r>
              <a:rPr lang="en-US"/>
              <a:t>Streaming query: “This is where we write transformations. We filter invalid records, select columns, group data, calculate counts, and create windows.”</a:t>
            </a:r>
          </a:p>
          <a:p>
            <a:r>
              <a:rPr lang="en-US"/>
              <a:t>Output sink: “The result can go to console for learning, Delta Lake for storage, database for serving, or dashboard for live monitoring.”</a:t>
            </a:r>
          </a:p>
          <a:p>
            <a:r>
              <a:rPr lang="en-US"/>
              <a:t>Key explanation: “A streaming DataFrame is like a table that keeps receiving new rows. The query keeps applying the same logic as new data arrives.”</a:t>
            </a:r>
          </a:p>
          <a:p>
            <a:r>
              <a:rPr lang="en-US"/>
              <a:t>Micro-batch explanation: “In many Spark jobs, Spark processes streaming data in very small batches. The user gets near real-time results while still using DataFrame operations.”</a:t>
            </a:r>
          </a:p>
          <a:p>
            <a:r>
              <a:rPr lang="en-US"/>
              <a:t>Transition: “Let us see what a live dashboard receives from this kind of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live dashboard slide:</a:t>
            </a:r>
          </a:p>
          <a:p>
            <a:r>
              <a:rPr lang="en-US"/>
              <a:t>Say: “A dashboard is one of the most visible outputs of streaming.”</a:t>
            </a:r>
          </a:p>
          <a:p>
            <a:r>
              <a:rPr lang="en-US"/>
              <a:t>Orders per minute: “This tells the business current demand. If orders suddenly increase, operations can react.”</a:t>
            </a:r>
          </a:p>
          <a:p>
            <a:r>
              <a:rPr lang="en-US"/>
              <a:t>Delayed orders: “This is an alert metric. If delayed orders cross a threshold, the team can call the restaurant or reassign drivers.”</a:t>
            </a:r>
          </a:p>
          <a:p>
            <a:r>
              <a:rPr lang="en-US"/>
              <a:t>Revenue by city: “This shows the live business pulse. Managers can see which city is active right now.”</a:t>
            </a:r>
          </a:p>
          <a:p>
            <a:r>
              <a:rPr lang="en-US"/>
              <a:t>Driver movement: “This powers customer tracking and operations monitoring.”</a:t>
            </a:r>
          </a:p>
          <a:p>
            <a:r>
              <a:rPr lang="en-US"/>
              <a:t>Explain the main idea: “The dashboard is not waiting for a final daily CSV. It is being refreshed as events are processed.”</a:t>
            </a:r>
          </a:p>
          <a:p>
            <a:r>
              <a:rPr lang="en-US"/>
              <a:t>Trainer example: “Ask students what metric they would show live if they owned this food-delivery company.”</a:t>
            </a:r>
          </a:p>
          <a:p>
            <a:r>
              <a:rPr lang="en-US"/>
              <a:t>Transition: “To make live metrics correct, we must understand event time and processing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event-time slide:</a:t>
            </a:r>
          </a:p>
          <a:p>
            <a:r>
              <a:rPr lang="en-US"/>
              <a:t>Say: “Event time and processing time are extremely important in streaming interviews and real projects.”</a:t>
            </a:r>
          </a:p>
          <a:p>
            <a:r>
              <a:rPr lang="en-US"/>
              <a:t>Event time: “This is when the real-world event actually happened. Example: the driver reached the restaurant at 10:15:05.”</a:t>
            </a:r>
          </a:p>
          <a:p>
            <a:r>
              <a:rPr lang="en-US"/>
              <a:t>Processing time: “This is when the engine processed the event. Example: Spark processed it at 10:15:12.”</a:t>
            </a:r>
          </a:p>
          <a:p>
            <a:r>
              <a:rPr lang="en-US"/>
              <a:t>Explain late events: “If the network is slow, the event may arrive late. The actual event happened earlier, but the system sees it later.”</a:t>
            </a:r>
          </a:p>
          <a:p>
            <a:r>
              <a:rPr lang="en-US"/>
              <a:t>Food delivery example: “A driver may lose network for 30 seconds. When the phone reconnects, old location updates may arrive late.”</a:t>
            </a:r>
          </a:p>
          <a:p>
            <a:r>
              <a:rPr lang="en-US"/>
              <a:t>Why it matters: “If we calculate ‘orders per 5 minutes’ using processing time only, late events may be counted in the wrong time bucket.”</a:t>
            </a:r>
          </a:p>
          <a:p>
            <a:r>
              <a:rPr lang="en-US"/>
              <a:t>Transition: “The next concept, windows and watermarks, solves this counting problem.”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windows and watermarks slide:</a:t>
            </a:r>
          </a:p>
          <a:p>
            <a:r>
              <a:rPr lang="en-US"/>
              <a:t>Say: “When events never stop arriving, we need time buckets to calculate useful metrics.”</a:t>
            </a:r>
          </a:p>
          <a:p>
            <a:r>
              <a:rPr lang="en-US"/>
              <a:t>Window: “A window groups events into intervals. For example, count orders every 5 minutes: 10:00 to 10:05, 10:05 to 10:10, and so on.”</a:t>
            </a:r>
          </a:p>
          <a:p>
            <a:r>
              <a:rPr lang="en-US"/>
              <a:t>Use the buckets image: “Imagine each bucket as one time window. Events fall into the correct bucket based on event time.”</a:t>
            </a:r>
          </a:p>
          <a:p>
            <a:r>
              <a:rPr lang="en-US"/>
              <a:t>Watermark: “A watermark tells the system how long to wait for late events. Example: accept late events up to 10 minutes.”</a:t>
            </a:r>
          </a:p>
          <a:p>
            <a:r>
              <a:rPr lang="en-US"/>
              <a:t>Explain trade-off: “Longer waiting gives better accuracy for late data, but it keeps more state in memory and costs more. Shorter waiting reduces memory but may drop very late events.”</a:t>
            </a:r>
          </a:p>
          <a:p>
            <a:r>
              <a:rPr lang="en-US"/>
              <a:t>Food delivery example: “If a driver’s phone sends a late update, the watermark decides whether we still include it in the earlier window.”</a:t>
            </a:r>
          </a:p>
          <a:p>
            <a:r>
              <a:rPr lang="en-US"/>
              <a:t>Transition: “Now let us talk about reliability when failures and retries happen.”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delivery guarantees slide:</a:t>
            </a:r>
          </a:p>
          <a:p>
            <a:r>
              <a:rPr lang="en-US"/>
              <a:t>Say: “In streaming, failures and retries are normal. We must understand delivery guarantees.”</a:t>
            </a:r>
          </a:p>
          <a:p>
            <a:r>
              <a:rPr lang="en-US"/>
              <a:t>At most once: “An event may be lost, but it will not be processed again. This is fast but risky. It may be acceptable for low-risk telemetry.”</a:t>
            </a:r>
          </a:p>
          <a:p>
            <a:r>
              <a:rPr lang="en-US"/>
              <a:t>At least once: “The event will not be lost, but it may be processed more than once. This is common because systems retry when uncertain.”</a:t>
            </a:r>
          </a:p>
          <a:p>
            <a:r>
              <a:rPr lang="en-US"/>
              <a:t>Exactly once: “The final result is affected once, but this requires support across broker, processor, checkpointing, and sink.”</a:t>
            </a:r>
          </a:p>
          <a:p>
            <a:r>
              <a:rPr lang="en-US"/>
              <a:t>Important warning: “Exactly once is not a button. It is an end-to-end design.”</a:t>
            </a:r>
          </a:p>
          <a:p>
            <a:r>
              <a:rPr lang="en-US"/>
              <a:t>Food delivery example: “If ORDER_CREATED is processed twice, the dashboard may count two orders unless we deduplicate using event_id.”</a:t>
            </a:r>
          </a:p>
          <a:p>
            <a:r>
              <a:rPr lang="en-US"/>
              <a:t>Close: “That is why data engineers design idempotent writes and deduplication.”</a:t>
            </a:r>
          </a:p>
          <a:p>
            <a:r>
              <a:rPr lang="en-US"/>
              <a:t>Transition: “This pattern appears across many industries, not just food delivery.”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applications slide:</a:t>
            </a:r>
          </a:p>
          <a:p>
            <a:r>
              <a:rPr lang="en-US"/>
              <a:t>Say: “The same streaming pattern repeats across industries.”</a:t>
            </a:r>
          </a:p>
          <a:p>
            <a:r>
              <a:rPr lang="en-US"/>
              <a:t>Banking: “Card transactions are streamed to detect fraud immediately.”</a:t>
            </a:r>
          </a:p>
          <a:p>
            <a:r>
              <a:rPr lang="en-US"/>
              <a:t>E-commerce: “Orders, payments, carts, and inventory events update recommendations and stock status.”</a:t>
            </a:r>
          </a:p>
          <a:p>
            <a:r>
              <a:rPr lang="en-US"/>
              <a:t>Manufacturing: “Machine sensors stream temperature and vibration data to detect failures early.”</a:t>
            </a:r>
          </a:p>
          <a:p>
            <a:r>
              <a:rPr lang="en-US"/>
              <a:t>Transport: “Vehicles send GPS locations for live tracking and ETA prediction.”</a:t>
            </a:r>
          </a:p>
          <a:p>
            <a:r>
              <a:rPr lang="en-US"/>
              <a:t>Healthcare: “Devices can stream patient readings and trigger alerts.”</a:t>
            </a:r>
          </a:p>
          <a:p>
            <a:r>
              <a:rPr lang="en-US"/>
              <a:t>Security: “Logs and login attempts are streamed to detect suspicious behavior.”</a:t>
            </a:r>
          </a:p>
          <a:p>
            <a:r>
              <a:rPr lang="en-US"/>
              <a:t>Trainer question: “Which of these examples can wait for a nightly batch? Which examples need streaming? Let students answer.”</a:t>
            </a:r>
          </a:p>
          <a:p>
            <a:r>
              <a:rPr lang="en-US"/>
              <a:t>Transition: “Streaming is powerful, but it also comes with design challenges.”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challenges slide:</a:t>
            </a:r>
          </a:p>
          <a:p>
            <a:r>
              <a:rPr lang="en-US"/>
              <a:t>Say: “Fast systems are not automatically correct. Streaming needs careful engineering.”</a:t>
            </a:r>
          </a:p>
          <a:p>
            <a:r>
              <a:rPr lang="en-US"/>
              <a:t>Late data: “Events may arrive late because of mobile network delays, system retries, or temporary outages.”</a:t>
            </a:r>
          </a:p>
          <a:p>
            <a:r>
              <a:rPr lang="en-US"/>
              <a:t>Duplicates: “A producer may retry and send the same event again. Without event_id, deduplication becomes difficult.”</a:t>
            </a:r>
          </a:p>
          <a:p>
            <a:r>
              <a:rPr lang="en-US"/>
              <a:t>Ordering: “In distributed systems, events may not always arrive in the exact order they happened.”</a:t>
            </a:r>
          </a:p>
          <a:p>
            <a:r>
              <a:rPr lang="en-US"/>
              <a:t>Backpressure: “If input is faster than processing, the pipeline falls behind. This creates lag.”</a:t>
            </a:r>
          </a:p>
          <a:p>
            <a:r>
              <a:rPr lang="en-US"/>
              <a:t>Schema changes: “Producers may add or rename fields. Consumers must handle schema evolution safely.”</a:t>
            </a:r>
          </a:p>
          <a:p>
            <a:r>
              <a:rPr lang="en-US"/>
              <a:t>Cost and state: “Long windows and large state stores increase memory and storage cost.”</a:t>
            </a:r>
          </a:p>
          <a:p>
            <a:r>
              <a:rPr lang="en-US"/>
              <a:t>Close: “Good streaming design means planning for these problems from day one.”</a:t>
            </a:r>
          </a:p>
          <a:p>
            <a:r>
              <a:rPr lang="en-US"/>
              <a:t>Transition: “Let us convert these problems into a practical design checklist.”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checklist slide:</a:t>
            </a:r>
          </a:p>
          <a:p>
            <a:r>
              <a:rPr lang="en-US"/>
              <a:t>Say: “This slide is a practical checklist you can use when designing streaming pipelines.”</a:t>
            </a:r>
          </a:p>
          <a:p>
            <a:r>
              <a:rPr lang="en-US"/>
              <a:t>Schema and versioning: “Define the event structure clearly. If the producer changes the schema, consumers should not break suddenly.”</a:t>
            </a:r>
          </a:p>
          <a:p>
            <a:r>
              <a:rPr lang="en-US"/>
              <a:t>Unique event_id and event_time: “event_id helps deduplicate. event_time helps place the event into the correct time window.”</a:t>
            </a:r>
          </a:p>
          <a:p>
            <a:r>
              <a:rPr lang="en-US"/>
              <a:t>Reliable broker: “A broker gives buffering, retention, and decoupling between producers and consumers.”</a:t>
            </a:r>
          </a:p>
          <a:p>
            <a:r>
              <a:rPr lang="en-US"/>
              <a:t>Checkpoint: “Checkpointing allows the streaming job to restart from the last known progress instead of starting blindly.”</a:t>
            </a:r>
          </a:p>
          <a:p>
            <a:r>
              <a:rPr lang="en-US"/>
              <a:t>Duplicates and bad records: “Separate bad records into a dead-letter path or quarantine table. Do not allow bad data to silently corrupt metrics.”</a:t>
            </a:r>
          </a:p>
          <a:p>
            <a:r>
              <a:rPr lang="en-US"/>
              <a:t>Monitor lag and latency: “Streaming jobs are always-on, so monitoring is part of the solution, not an afterthought.”</a:t>
            </a:r>
          </a:p>
          <a:p>
            <a:r>
              <a:rPr lang="en-US"/>
              <a:t>Transition: “Now we will connect the design to PySpark Structured Streaming commands.”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PySpark commands slide:</a:t>
            </a:r>
          </a:p>
          <a:p>
            <a:r>
              <a:rPr lang="en-US"/>
              <a:t>Say: “This slide shows the skeleton of almost every Spark Structured Streaming program.”</a:t>
            </a:r>
          </a:p>
          <a:p>
            <a:r>
              <a:rPr lang="en-US"/>
              <a:t>readStream: “This creates a streaming input DataFrame. Example sources are Kafka, files, socket, or cloud queues.”</a:t>
            </a:r>
          </a:p>
          <a:p>
            <a:r>
              <a:rPr lang="en-US"/>
              <a:t>transform: “Here we write normal DataFrame logic: filter, select, groupBy, joins, windows, or aggregations.”</a:t>
            </a:r>
          </a:p>
          <a:p>
            <a:r>
              <a:rPr lang="en-US"/>
              <a:t>writeStream: “This defines where results go: console, Delta table, database, memory table, or another stream.”</a:t>
            </a:r>
          </a:p>
          <a:p>
            <a:r>
              <a:rPr lang="en-US"/>
              <a:t>checkpoint: “This saves progress and state. Without checkpointing, recovery after failure becomes unreliable.”</a:t>
            </a:r>
          </a:p>
          <a:p>
            <a:r>
              <a:rPr lang="en-US"/>
              <a:t>awaitTermination: “This keeps the streaming query alive. Unlike batch jobs, a streaming job should keep running.”</a:t>
            </a:r>
          </a:p>
          <a:p>
            <a:r>
              <a:rPr lang="en-US"/>
              <a:t>Explain the mental model: “The code looks like DataFrame code, but the input table keeps growing and Spark repeatedly processes new data.”</a:t>
            </a:r>
          </a:p>
          <a:p>
            <a:r>
              <a:rPr lang="en-US"/>
              <a:t>Transition: “Let us now connect all pieces into a full food-delivery pipeline.”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end-to-end pipeline slide:</a:t>
            </a:r>
          </a:p>
          <a:p>
            <a:r>
              <a:rPr lang="en-US"/>
              <a:t>Say: “Now we can tell the full story from event creation to action.”</a:t>
            </a:r>
          </a:p>
          <a:p>
            <a:r>
              <a:rPr lang="en-US"/>
              <a:t>Step 1: “The customer app emits ORDER_CREATED with order_id, customer_id, city, amount, and event_time.”</a:t>
            </a:r>
          </a:p>
          <a:p>
            <a:r>
              <a:rPr lang="en-US"/>
              <a:t>Step 2: “Kafka stores the event safely. This protects us if Spark is slow or temporarily unavailable.”</a:t>
            </a:r>
          </a:p>
          <a:p>
            <a:r>
              <a:rPr lang="en-US"/>
              <a:t>Step 3: “Spark validates and aggregates. It filters invalid records, groups by city, counts orders, calculates revenue, and detects delays.”</a:t>
            </a:r>
          </a:p>
          <a:p>
            <a:r>
              <a:rPr lang="en-US"/>
              <a:t>Step 4: “The dashboard updates live metrics such as orders per minute, revenue by city, active drivers, and delayed orders.”</a:t>
            </a:r>
          </a:p>
          <a:p>
            <a:r>
              <a:rPr lang="en-US"/>
              <a:t>Step 5: “The alert service notifies operations if delay rules are violated.”</a:t>
            </a:r>
          </a:p>
          <a:p>
            <a:r>
              <a:rPr lang="en-US"/>
              <a:t>Explain the sentence: “The value is not collecting data. The value is reacting to it quickly and reliably.”</a:t>
            </a:r>
          </a:p>
          <a:p>
            <a:r>
              <a:rPr lang="en-US"/>
              <a:t>Close: “This is what a complete streaming data engineering pipeline looks like.”</a:t>
            </a:r>
          </a:p>
          <a:p>
            <a:r>
              <a:rPr lang="en-US"/>
              <a:t>Transition: “Let us summarize the main things students should remember.”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key takeaways slide:</a:t>
            </a:r>
          </a:p>
          <a:p>
            <a:r>
              <a:rPr lang="en-US"/>
              <a:t>Say: “Let us quickly revise the eight ideas on this slide.”</a:t>
            </a:r>
          </a:p>
          <a:p>
            <a:r>
              <a:rPr lang="en-US"/>
              <a:t>Streaming: “Process data while it arrives, instead of waiting for a complete dataset.”</a:t>
            </a:r>
          </a:p>
          <a:p>
            <a:r>
              <a:rPr lang="en-US"/>
              <a:t>Events: “Small records describing what happened.”</a:t>
            </a:r>
          </a:p>
          <a:p>
            <a:r>
              <a:rPr lang="en-US"/>
              <a:t>Broker: “Decouples producers and consumers and provides buffering.”</a:t>
            </a:r>
          </a:p>
          <a:p>
            <a:r>
              <a:rPr lang="en-US"/>
              <a:t>Processor: “Applies validation, transformation, aggregation, and business rules.”</a:t>
            </a:r>
          </a:p>
          <a:p>
            <a:r>
              <a:rPr lang="en-US"/>
              <a:t>Windows: “Group events by time so we can calculate metrics continuously.”</a:t>
            </a:r>
          </a:p>
          <a:p>
            <a:r>
              <a:rPr lang="en-US"/>
              <a:t>Watermarks: “Handle late arrivals with a controlled waiting period.”</a:t>
            </a:r>
          </a:p>
          <a:p>
            <a:r>
              <a:rPr lang="en-US"/>
              <a:t>Checkpoint: “Stores progress and state for recovery.”</a:t>
            </a:r>
          </a:p>
          <a:p>
            <a:r>
              <a:rPr lang="en-US"/>
              <a:t>Monitoring: “Keeps always-on jobs healthy by tracking lag, latency, failures, and throughput.”</a:t>
            </a:r>
          </a:p>
          <a:p>
            <a:r>
              <a:rPr lang="en-US"/>
              <a:t>Close: “If learners can explain these eight words with a real example, they understand the foundation of streaming.”</a:t>
            </a:r>
          </a:p>
          <a:p>
            <a:r>
              <a:rPr lang="en-US"/>
              <a:t>Transition: “Now we will use discussion questions to test whether the idea is clear.”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story for this discussion slide:</a:t>
            </a:r>
          </a:p>
          <a:p>
            <a:r>
              <a:rPr lang="en-US"/>
              <a:t>Say: “I want you to apply streaming to your own project or a system you use daily.”</a:t>
            </a:r>
          </a:p>
          <a:p>
            <a:r>
              <a:rPr lang="en-US"/>
              <a:t>Question 1: “Where is streaming needed? Look for places where waiting creates business loss, poor customer experience, or operational risk.”</a:t>
            </a:r>
          </a:p>
          <a:p>
            <a:r>
              <a:rPr lang="en-US"/>
              <a:t>Question 2: “What event would your system publish? Example: ORDER_CREATED, PAYMENT_FAILED, DRIVER_LOCATION_UPDATED, TEMPERATURE_EXCEEDED, LOGIN_FAILED.”</a:t>
            </a:r>
          </a:p>
          <a:p>
            <a:r>
              <a:rPr lang="en-US"/>
              <a:t>Question 3: “What needs to be shown in real time? It could be a live dashboard, alert, map, notification, fraud score, or availability status.”</a:t>
            </a:r>
          </a:p>
          <a:p>
            <a:r>
              <a:rPr lang="en-US"/>
              <a:t>Question 4: “What can remain batch? Monthly reports, historical reconciliation, and deep analytics can often remain batch.”</a:t>
            </a:r>
          </a:p>
          <a:p>
            <a:r>
              <a:rPr lang="en-US"/>
              <a:t>Close the session: “Streaming is not only a technology. It is a way of designing systems that react to data as it happens.”</a:t>
            </a:r>
          </a:p>
          <a:p>
            <a:r>
              <a:rPr lang="en-US"/>
              <a:t>Optional activity: “Ask each student to draw Producer → Broker → Processor → Sink → Consumer for one use case.”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bright_colorful_3d_isometric_illustration_of_a.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594360" y="502920"/>
            <a:ext cx="1920240" cy="292608"/>
          </a:xfrm>
          <a:prstGeom prst="roundRect">
            <a:avLst>
              <a:gd name="adj" fmla="val 21875"/>
            </a:avLst>
          </a:prstGeom>
          <a:solidFill>
            <a:srgbClr val="7C3AED">
              <a:alpha val="90000"/>
            </a:srgbClr>
          </a:solidFill>
          <a:ln w="12700">
            <a:solidFill>
              <a:srgbClr val="7C3AED">
                <a:alpha val="0"/>
              </a:srgbClr>
            </a:solidFill>
            <a:prstDash val="solid"/>
          </a:ln>
        </p:spPr>
      </p:sp>
      <p:sp>
        <p:nvSpPr>
          <p:cNvPr id="4" name="Text 1"/>
          <p:cNvSpPr/>
          <p:nvPr/>
        </p:nvSpPr>
        <p:spPr>
          <a:xfrm>
            <a:off x="704088" y="571500"/>
            <a:ext cx="1691640"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DATA ENGINEERING TRAINING</a:t>
            </a:r>
            <a:endParaRPr lang="en-US" sz="850" dirty="0"/>
          </a:p>
        </p:txBody>
      </p:sp>
      <p:sp>
        <p:nvSpPr>
          <p:cNvPr id="5" name="Text 2"/>
          <p:cNvSpPr/>
          <p:nvPr/>
        </p:nvSpPr>
        <p:spPr>
          <a:xfrm>
            <a:off x="594360" y="1234440"/>
            <a:ext cx="5120640" cy="1417320"/>
          </a:xfrm>
          <a:prstGeom prst="rect">
            <a:avLst/>
          </a:prstGeom>
          <a:noFill/>
          <a:ln/>
        </p:spPr>
        <p:txBody>
          <a:bodyPr wrap="square" lIns="0" tIns="0" rIns="0" bIns="0" rtlCol="0" anchor="ctr">
            <a:normAutofit/>
          </a:bodyPr>
          <a:lstStyle/>
          <a:p>
            <a:pPr marL="0" indent="0">
              <a:buNone/>
            </a:pPr>
            <a:r>
              <a:rPr lang="en-US" sz="4800" b="1" dirty="0">
                <a:solidFill>
                  <a:srgbClr val="FFFFFF"/>
                </a:solidFill>
                <a:latin typeface="Aptos Display" pitchFamily="34" charset="0"/>
                <a:ea typeface="Aptos Display" pitchFamily="34" charset="-122"/>
                <a:cs typeface="Aptos Display" pitchFamily="34" charset="-120"/>
              </a:rPr>
              <a:t>Introduction</a:t>
            </a:r>
            <a:endParaRPr lang="en-US" sz="4800" dirty="0"/>
          </a:p>
          <a:p>
            <a:pPr marL="0" indent="0">
              <a:buNone/>
            </a:pPr>
            <a:r>
              <a:rPr lang="en-US" sz="4800" b="1" dirty="0">
                <a:solidFill>
                  <a:srgbClr val="FFFFFF"/>
                </a:solidFill>
                <a:latin typeface="Aptos Display" pitchFamily="34" charset="0"/>
                <a:ea typeface="Aptos Display" pitchFamily="34" charset="-122"/>
                <a:cs typeface="Aptos Display" pitchFamily="34" charset="-120"/>
              </a:rPr>
              <a:t>to Streaming</a:t>
            </a:r>
            <a:endParaRPr lang="en-US" sz="4800" dirty="0"/>
          </a:p>
        </p:txBody>
      </p:sp>
      <p:sp>
        <p:nvSpPr>
          <p:cNvPr id="6" name="Text 3"/>
          <p:cNvSpPr/>
          <p:nvPr/>
        </p:nvSpPr>
        <p:spPr>
          <a:xfrm>
            <a:off x="640080" y="3063240"/>
            <a:ext cx="4937760" cy="685800"/>
          </a:xfrm>
          <a:prstGeom prst="rect">
            <a:avLst/>
          </a:prstGeom>
          <a:noFill/>
          <a:ln/>
        </p:spPr>
        <p:txBody>
          <a:bodyPr wrap="square" lIns="254" tIns="254" rIns="254" bIns="254" rtlCol="0" anchor="ctr">
            <a:normAutofit/>
          </a:bodyPr>
          <a:lstStyle/>
          <a:p>
            <a:pPr marL="0" indent="0">
              <a:buNone/>
            </a:pPr>
            <a:r>
              <a:rPr lang="en-US" sz="2000" dirty="0">
                <a:solidFill>
                  <a:srgbClr val="E0F2FE"/>
                </a:solidFill>
              </a:rPr>
              <a:t>How real-time events move from apps, devices, and systems into fast analytics and action.</a:t>
            </a:r>
            <a:endParaRPr lang="en-US" sz="2000" dirty="0"/>
          </a:p>
        </p:txBody>
      </p:sp>
      <p:sp>
        <p:nvSpPr>
          <p:cNvPr id="10" name="Text 6"/>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What students should understand</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Learning objectives for this session</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sp>
        <p:nvSpPr>
          <p:cNvPr id="5" name="Shape 3"/>
          <p:cNvSpPr/>
          <p:nvPr/>
        </p:nvSpPr>
        <p:spPr>
          <a:xfrm>
            <a:off x="685800" y="155448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6" name="Text 4"/>
          <p:cNvSpPr/>
          <p:nvPr/>
        </p:nvSpPr>
        <p:spPr>
          <a:xfrm>
            <a:off x="850392" y="179222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7" name="Text 5"/>
          <p:cNvSpPr/>
          <p:nvPr/>
        </p:nvSpPr>
        <p:spPr>
          <a:xfrm>
            <a:off x="1463040" y="181051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What streaming means</a:t>
            </a:r>
            <a:endParaRPr lang="en-US" sz="1700" dirty="0"/>
          </a:p>
        </p:txBody>
      </p:sp>
      <p:sp>
        <p:nvSpPr>
          <p:cNvPr id="8" name="Text 6"/>
          <p:cNvSpPr/>
          <p:nvPr/>
        </p:nvSpPr>
        <p:spPr>
          <a:xfrm>
            <a:off x="1463040" y="217627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Continuous event processing</a:t>
            </a:r>
            <a:endParaRPr lang="en-US" sz="1150" dirty="0"/>
          </a:p>
        </p:txBody>
      </p:sp>
      <p:sp>
        <p:nvSpPr>
          <p:cNvPr id="9" name="Shape 7"/>
          <p:cNvSpPr/>
          <p:nvPr/>
        </p:nvSpPr>
        <p:spPr>
          <a:xfrm>
            <a:off x="4389120" y="155448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10" name="Text 8"/>
          <p:cNvSpPr/>
          <p:nvPr/>
        </p:nvSpPr>
        <p:spPr>
          <a:xfrm>
            <a:off x="4553712" y="179222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1" name="Text 9"/>
          <p:cNvSpPr/>
          <p:nvPr/>
        </p:nvSpPr>
        <p:spPr>
          <a:xfrm>
            <a:off x="5166360" y="181051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Batch vs streaming</a:t>
            </a:r>
            <a:endParaRPr lang="en-US" sz="1700" dirty="0"/>
          </a:p>
        </p:txBody>
      </p:sp>
      <p:sp>
        <p:nvSpPr>
          <p:cNvPr id="12" name="Text 10"/>
          <p:cNvSpPr/>
          <p:nvPr/>
        </p:nvSpPr>
        <p:spPr>
          <a:xfrm>
            <a:off x="5166360" y="217627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When each approach fits</a:t>
            </a:r>
            <a:endParaRPr lang="en-US" sz="1150" dirty="0"/>
          </a:p>
        </p:txBody>
      </p:sp>
      <p:sp>
        <p:nvSpPr>
          <p:cNvPr id="13" name="Shape 11"/>
          <p:cNvSpPr/>
          <p:nvPr/>
        </p:nvSpPr>
        <p:spPr>
          <a:xfrm>
            <a:off x="8092440" y="155448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14" name="Text 12"/>
          <p:cNvSpPr/>
          <p:nvPr/>
        </p:nvSpPr>
        <p:spPr>
          <a:xfrm>
            <a:off x="8257032" y="179222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5" name="Text 13"/>
          <p:cNvSpPr/>
          <p:nvPr/>
        </p:nvSpPr>
        <p:spPr>
          <a:xfrm>
            <a:off x="8869680" y="181051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Architecture</a:t>
            </a:r>
            <a:endParaRPr lang="en-US" sz="1700" dirty="0"/>
          </a:p>
        </p:txBody>
      </p:sp>
      <p:sp>
        <p:nvSpPr>
          <p:cNvPr id="16" name="Text 14"/>
          <p:cNvSpPr/>
          <p:nvPr/>
        </p:nvSpPr>
        <p:spPr>
          <a:xfrm>
            <a:off x="8869680" y="217627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Sources → broker → processor → sink</a:t>
            </a:r>
            <a:endParaRPr lang="en-US" sz="1150" dirty="0"/>
          </a:p>
        </p:txBody>
      </p:sp>
      <p:sp>
        <p:nvSpPr>
          <p:cNvPr id="17" name="Shape 15"/>
          <p:cNvSpPr/>
          <p:nvPr/>
        </p:nvSpPr>
        <p:spPr>
          <a:xfrm>
            <a:off x="685800" y="342900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18" name="Text 16"/>
          <p:cNvSpPr/>
          <p:nvPr/>
        </p:nvSpPr>
        <p:spPr>
          <a:xfrm>
            <a:off x="850392" y="366674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9" name="Text 17"/>
          <p:cNvSpPr/>
          <p:nvPr/>
        </p:nvSpPr>
        <p:spPr>
          <a:xfrm>
            <a:off x="1463040" y="368503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Real-world flow</a:t>
            </a:r>
            <a:endParaRPr lang="en-US" sz="1700" dirty="0"/>
          </a:p>
        </p:txBody>
      </p:sp>
      <p:sp>
        <p:nvSpPr>
          <p:cNvPr id="20" name="Text 18"/>
          <p:cNvSpPr/>
          <p:nvPr/>
        </p:nvSpPr>
        <p:spPr>
          <a:xfrm>
            <a:off x="1463040" y="405079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Food delivery live tracking</a:t>
            </a:r>
            <a:endParaRPr lang="en-US" sz="1150" dirty="0"/>
          </a:p>
        </p:txBody>
      </p:sp>
      <p:sp>
        <p:nvSpPr>
          <p:cNvPr id="21" name="Shape 19"/>
          <p:cNvSpPr/>
          <p:nvPr/>
        </p:nvSpPr>
        <p:spPr>
          <a:xfrm>
            <a:off x="4389120" y="342900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22" name="Text 20"/>
          <p:cNvSpPr/>
          <p:nvPr/>
        </p:nvSpPr>
        <p:spPr>
          <a:xfrm>
            <a:off x="4553712" y="366674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3" name="Text 21"/>
          <p:cNvSpPr/>
          <p:nvPr/>
        </p:nvSpPr>
        <p:spPr>
          <a:xfrm>
            <a:off x="5166360" y="368503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Why it is fast</a:t>
            </a:r>
            <a:endParaRPr lang="en-US" sz="1700" dirty="0"/>
          </a:p>
        </p:txBody>
      </p:sp>
      <p:sp>
        <p:nvSpPr>
          <p:cNvPr id="24" name="Text 22"/>
          <p:cNvSpPr/>
          <p:nvPr/>
        </p:nvSpPr>
        <p:spPr>
          <a:xfrm>
            <a:off x="5166360" y="405079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Low latency + continuous processing</a:t>
            </a:r>
            <a:endParaRPr lang="en-US" sz="1150" dirty="0"/>
          </a:p>
        </p:txBody>
      </p:sp>
      <p:sp>
        <p:nvSpPr>
          <p:cNvPr id="25" name="Shape 23"/>
          <p:cNvSpPr/>
          <p:nvPr/>
        </p:nvSpPr>
        <p:spPr>
          <a:xfrm>
            <a:off x="8092440" y="3429000"/>
            <a:ext cx="3108960" cy="1325880"/>
          </a:xfrm>
          <a:prstGeom prst="roundRect">
            <a:avLst>
              <a:gd name="adj" fmla="val 5517"/>
            </a:avLst>
          </a:prstGeom>
          <a:solidFill>
            <a:srgbClr val="111B35">
              <a:alpha val="98000"/>
            </a:srgbClr>
          </a:solidFill>
          <a:ln w="12700">
            <a:solidFill>
              <a:srgbClr val="FFFFFF">
                <a:alpha val="12000"/>
              </a:srgbClr>
            </a:solidFill>
            <a:prstDash val="solid"/>
          </a:ln>
        </p:spPr>
      </p:sp>
      <p:sp>
        <p:nvSpPr>
          <p:cNvPr id="26" name="Text 24"/>
          <p:cNvSpPr/>
          <p:nvPr/>
        </p:nvSpPr>
        <p:spPr>
          <a:xfrm>
            <a:off x="8257032" y="3666744"/>
            <a:ext cx="457200" cy="4114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7" name="Text 25"/>
          <p:cNvSpPr/>
          <p:nvPr/>
        </p:nvSpPr>
        <p:spPr>
          <a:xfrm>
            <a:off x="8869680" y="3685032"/>
            <a:ext cx="2057400" cy="228600"/>
          </a:xfrm>
          <a:prstGeom prst="rect">
            <a:avLst/>
          </a:prstGeom>
          <a:noFill/>
          <a:ln/>
        </p:spPr>
        <p:txBody>
          <a:bodyPr wrap="square" lIns="0" tIns="0" rIns="0" bIns="0" rtlCol="0" anchor="ctr">
            <a:normAutofit/>
          </a:bodyPr>
          <a:lstStyle/>
          <a:p>
            <a:pPr marL="0" indent="0">
              <a:buNone/>
            </a:pPr>
            <a:r>
              <a:rPr lang="en-US" sz="1700" b="1" dirty="0">
                <a:solidFill>
                  <a:srgbClr val="FFFFFF"/>
                </a:solidFill>
              </a:rPr>
              <a:t>Key concepts</a:t>
            </a:r>
            <a:endParaRPr lang="en-US" sz="1700" dirty="0"/>
          </a:p>
        </p:txBody>
      </p:sp>
      <p:sp>
        <p:nvSpPr>
          <p:cNvPr id="28" name="Text 26"/>
          <p:cNvSpPr/>
          <p:nvPr/>
        </p:nvSpPr>
        <p:spPr>
          <a:xfrm>
            <a:off x="8869680" y="4050792"/>
            <a:ext cx="196596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Event time, windows, watermarks</a:t>
            </a:r>
            <a:endParaRPr lang="en-US" sz="1150" dirty="0"/>
          </a:p>
        </p:txBody>
      </p:sp>
      <p:sp>
        <p:nvSpPr>
          <p:cNvPr id="30" name="Text 27"/>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a_vibrant_high_detail_colorful_illustration_3d_v.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Why streaming exists</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The business question is: “What is happening right now?”</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594360" y="1600200"/>
            <a:ext cx="4754880" cy="3931920"/>
          </a:xfrm>
          <a:prstGeom prst="roundRect">
            <a:avLst>
              <a:gd name="adj" fmla="val 1860"/>
            </a:avLst>
          </a:prstGeom>
          <a:solidFill>
            <a:srgbClr val="081224">
              <a:alpha val="92000"/>
            </a:srgbClr>
          </a:solidFill>
          <a:ln w="12700">
            <a:solidFill>
              <a:srgbClr val="FFFFFF">
                <a:alpha val="12000"/>
              </a:srgbClr>
            </a:solidFill>
            <a:prstDash val="solid"/>
          </a:ln>
        </p:spPr>
      </p:sp>
      <p:sp>
        <p:nvSpPr>
          <p:cNvPr id="7" name="Text 4"/>
          <p:cNvSpPr/>
          <p:nvPr/>
        </p:nvSpPr>
        <p:spPr>
          <a:xfrm>
            <a:off x="868680" y="1874520"/>
            <a:ext cx="4160520" cy="301752"/>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 Customers expect instant updates</a:t>
            </a:r>
            <a:endParaRPr lang="en-US" sz="1800" dirty="0"/>
          </a:p>
        </p:txBody>
      </p:sp>
      <p:sp>
        <p:nvSpPr>
          <p:cNvPr id="8" name="Text 5"/>
          <p:cNvSpPr/>
          <p:nvPr/>
        </p:nvSpPr>
        <p:spPr>
          <a:xfrm>
            <a:off x="868680" y="2560320"/>
            <a:ext cx="4160520" cy="301752"/>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 Operations teams need live alerts</a:t>
            </a:r>
            <a:endParaRPr lang="en-US" sz="1800" dirty="0"/>
          </a:p>
        </p:txBody>
      </p:sp>
      <p:sp>
        <p:nvSpPr>
          <p:cNvPr id="9" name="Text 6"/>
          <p:cNvSpPr/>
          <p:nvPr/>
        </p:nvSpPr>
        <p:spPr>
          <a:xfrm>
            <a:off x="868680" y="3246120"/>
            <a:ext cx="4160520" cy="301752"/>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 Fraud and failures cannot wait for daily batch jobs</a:t>
            </a:r>
            <a:endParaRPr lang="en-US" sz="1800" dirty="0"/>
          </a:p>
        </p:txBody>
      </p:sp>
      <p:sp>
        <p:nvSpPr>
          <p:cNvPr id="10" name="Text 7"/>
          <p:cNvSpPr/>
          <p:nvPr/>
        </p:nvSpPr>
        <p:spPr>
          <a:xfrm>
            <a:off x="868680" y="3931920"/>
            <a:ext cx="4160520" cy="301752"/>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 Dashboards must update while events arrive</a:t>
            </a:r>
            <a:endParaRPr lang="en-US" sz="1800" dirty="0"/>
          </a:p>
        </p:txBody>
      </p:sp>
      <p:sp>
        <p:nvSpPr>
          <p:cNvPr id="11" name="Text 8"/>
          <p:cNvSpPr/>
          <p:nvPr/>
        </p:nvSpPr>
        <p:spPr>
          <a:xfrm>
            <a:off x="868680" y="5166360"/>
            <a:ext cx="4114800" cy="320040"/>
          </a:xfrm>
          <a:prstGeom prst="rect">
            <a:avLst/>
          </a:prstGeom>
          <a:noFill/>
          <a:ln/>
        </p:spPr>
        <p:txBody>
          <a:bodyPr wrap="square" lIns="0" tIns="0" rIns="0" bIns="0" rtlCol="0" anchor="ctr"/>
          <a:lstStyle/>
          <a:p>
            <a:pPr marL="0" indent="0">
              <a:buNone/>
            </a:pPr>
            <a:r>
              <a:rPr lang="en-US" sz="1800" b="1" dirty="0">
                <a:solidFill>
                  <a:srgbClr val="93C5FD"/>
                </a:solidFill>
              </a:rPr>
              <a:t>Streaming turns new data into action in seconds.</a:t>
            </a:r>
            <a:endParaRPr lang="en-US" sz="1800" dirty="0"/>
          </a:p>
        </p:txBody>
      </p:sp>
      <p:sp>
        <p:nvSpPr>
          <p:cNvPr id="13" name="Text 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What is streaming?</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Simple definition</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pic>
        <p:nvPicPr>
          <p:cNvPr id="5" name="Image 0" descr="/mnt/data/a_high_detail_futuristic_infographic_diagram_scene.png"/>
          <p:cNvPicPr>
            <a:picLocks noChangeAspect="1"/>
          </p:cNvPicPr>
          <p:nvPr/>
        </p:nvPicPr>
        <p:blipFill>
          <a:blip r:embed="rId3"/>
          <a:srcRect l="18644" r="18644"/>
          <a:stretch/>
        </p:blipFill>
        <p:spPr>
          <a:xfrm>
            <a:off x="6263640" y="1417320"/>
            <a:ext cx="5349240" cy="4800600"/>
          </a:xfrm>
          <a:prstGeom prst="rect">
            <a:avLst/>
          </a:prstGeom>
        </p:spPr>
      </p:pic>
      <p:sp>
        <p:nvSpPr>
          <p:cNvPr id="6" name="Shape 3"/>
          <p:cNvSpPr/>
          <p:nvPr/>
        </p:nvSpPr>
        <p:spPr>
          <a:xfrm>
            <a:off x="6263640" y="1417320"/>
            <a:ext cx="5349240" cy="4800600"/>
          </a:xfrm>
          <a:prstGeom prst="roundRect">
            <a:avLst>
              <a:gd name="adj" fmla="val 1524"/>
            </a:avLst>
          </a:prstGeom>
          <a:solidFill>
            <a:srgbClr val="FFFFFF">
              <a:alpha val="0"/>
            </a:srgbClr>
          </a:solidFill>
          <a:ln w="15240">
            <a:solidFill>
              <a:srgbClr val="FFFFFF">
                <a:alpha val="25000"/>
              </a:srgbClr>
            </a:solidFill>
            <a:prstDash val="solid"/>
          </a:ln>
        </p:spPr>
      </p:sp>
      <p:sp>
        <p:nvSpPr>
          <p:cNvPr id="7" name="Text 4"/>
          <p:cNvSpPr/>
          <p:nvPr/>
        </p:nvSpPr>
        <p:spPr>
          <a:xfrm>
            <a:off x="685800" y="1508760"/>
            <a:ext cx="4983480" cy="1143000"/>
          </a:xfrm>
          <a:prstGeom prst="rect">
            <a:avLst/>
          </a:prstGeom>
          <a:noFill/>
          <a:ln/>
        </p:spPr>
        <p:txBody>
          <a:bodyPr wrap="square" lIns="254" tIns="254" rIns="254" bIns="254" rtlCol="0" anchor="ctr">
            <a:normAutofit/>
          </a:bodyPr>
          <a:lstStyle/>
          <a:p>
            <a:pPr marL="0" indent="0">
              <a:buNone/>
            </a:pPr>
            <a:r>
              <a:rPr lang="en-US" sz="2600" b="1" dirty="0">
                <a:solidFill>
                  <a:srgbClr val="172033"/>
                </a:solidFill>
              </a:rPr>
              <a:t>Streaming is the continuous movement and processing of data events as soon as they are generated.</a:t>
            </a:r>
            <a:endParaRPr lang="en-US" sz="2600" dirty="0"/>
          </a:p>
        </p:txBody>
      </p:sp>
      <p:sp>
        <p:nvSpPr>
          <p:cNvPr id="8" name="Shape 5"/>
          <p:cNvSpPr/>
          <p:nvPr/>
        </p:nvSpPr>
        <p:spPr>
          <a:xfrm>
            <a:off x="685800" y="2971800"/>
            <a:ext cx="4937760" cy="1280160"/>
          </a:xfrm>
          <a:prstGeom prst="roundRect">
            <a:avLst>
              <a:gd name="adj" fmla="val 5714"/>
            </a:avLst>
          </a:prstGeom>
          <a:solidFill>
            <a:srgbClr val="E0F2FE"/>
          </a:solidFill>
          <a:ln w="12700">
            <a:solidFill>
              <a:srgbClr val="FFFFFF">
                <a:alpha val="12000"/>
              </a:srgbClr>
            </a:solidFill>
            <a:prstDash val="solid"/>
          </a:ln>
        </p:spPr>
      </p:sp>
      <p:sp>
        <p:nvSpPr>
          <p:cNvPr id="9" name="Text 6"/>
          <p:cNvSpPr/>
          <p:nvPr/>
        </p:nvSpPr>
        <p:spPr>
          <a:xfrm>
            <a:off x="960120" y="3246120"/>
            <a:ext cx="1828800" cy="256032"/>
          </a:xfrm>
          <a:prstGeom prst="rect">
            <a:avLst/>
          </a:prstGeom>
          <a:noFill/>
          <a:ln/>
        </p:spPr>
        <p:txBody>
          <a:bodyPr wrap="square" lIns="0" tIns="0" rIns="0" bIns="0" rtlCol="0" anchor="ctr"/>
          <a:lstStyle/>
          <a:p>
            <a:pPr marL="0" indent="0">
              <a:buNone/>
            </a:pPr>
            <a:r>
              <a:rPr lang="en-US" sz="1600" b="1" dirty="0">
                <a:solidFill>
                  <a:srgbClr val="2563EB"/>
                </a:solidFill>
              </a:rPr>
              <a:t>Example event</a:t>
            </a:r>
            <a:endParaRPr lang="en-US" sz="1600" dirty="0"/>
          </a:p>
        </p:txBody>
      </p:sp>
      <p:sp>
        <p:nvSpPr>
          <p:cNvPr id="10" name="Text 7"/>
          <p:cNvSpPr/>
          <p:nvPr/>
        </p:nvSpPr>
        <p:spPr>
          <a:xfrm>
            <a:off x="960120" y="3611880"/>
            <a:ext cx="4206240" cy="256032"/>
          </a:xfrm>
          <a:prstGeom prst="rect">
            <a:avLst/>
          </a:prstGeom>
          <a:noFill/>
          <a:ln/>
        </p:spPr>
        <p:txBody>
          <a:bodyPr wrap="square" lIns="0" tIns="0" rIns="0" bIns="0" rtlCol="0" anchor="ctr">
            <a:normAutofit/>
          </a:bodyPr>
          <a:lstStyle/>
          <a:p>
            <a:pPr marL="0" indent="0">
              <a:buNone/>
            </a:pPr>
            <a:r>
              <a:rPr lang="en-US" sz="1400" dirty="0">
                <a:solidFill>
                  <a:srgbClr val="172033"/>
                </a:solidFill>
              </a:rPr>
              <a:t>Order placed • Payment done • Driver moved • Sensor reading • Web click</a:t>
            </a:r>
            <a:endParaRPr lang="en-US" sz="1400" dirty="0"/>
          </a:p>
        </p:txBody>
      </p:sp>
      <p:sp>
        <p:nvSpPr>
          <p:cNvPr id="11" name="Text 8"/>
          <p:cNvSpPr/>
          <p:nvPr/>
        </p:nvSpPr>
        <p:spPr>
          <a:xfrm>
            <a:off x="713232" y="4983480"/>
            <a:ext cx="4937760" cy="365760"/>
          </a:xfrm>
          <a:prstGeom prst="rect">
            <a:avLst/>
          </a:prstGeom>
          <a:noFill/>
          <a:ln/>
        </p:spPr>
        <p:txBody>
          <a:bodyPr wrap="square" lIns="0" tIns="0" rIns="0" bIns="0" rtlCol="0" anchor="ctr">
            <a:normAutofit/>
          </a:bodyPr>
          <a:lstStyle/>
          <a:p>
            <a:pPr marL="0" indent="0">
              <a:buNone/>
            </a:pPr>
            <a:r>
              <a:rPr lang="en-US" sz="1800" b="1" dirty="0">
                <a:solidFill>
                  <a:srgbClr val="7C3AED"/>
                </a:solidFill>
              </a:rPr>
              <a:t>Memory cue: LIVE = Listen • Inspect • Value • Emit</a:t>
            </a:r>
            <a:endParaRPr lang="en-US" sz="1800" dirty="0"/>
          </a:p>
        </p:txBody>
      </p:sp>
      <p:sp>
        <p:nvSpPr>
          <p:cNvPr id="13" name="Text 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224"/>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Batch vs streaming</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Both are important; they answer different questions</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sp>
        <p:nvSpPr>
          <p:cNvPr id="5" name="Shape 3"/>
          <p:cNvSpPr/>
          <p:nvPr/>
        </p:nvSpPr>
        <p:spPr>
          <a:xfrm>
            <a:off x="685800" y="1508760"/>
            <a:ext cx="2148840" cy="658368"/>
          </a:xfrm>
          <a:prstGeom prst="rect">
            <a:avLst/>
          </a:prstGeom>
          <a:solidFill>
            <a:srgbClr val="1D4ED8"/>
          </a:solidFill>
          <a:ln w="10160">
            <a:solidFill>
              <a:srgbClr val="3B82F6">
                <a:alpha val="75000"/>
              </a:srgbClr>
            </a:solidFill>
            <a:prstDash val="solid"/>
          </a:ln>
        </p:spPr>
      </p:sp>
      <p:sp>
        <p:nvSpPr>
          <p:cNvPr id="6" name="Text 4"/>
          <p:cNvSpPr/>
          <p:nvPr/>
        </p:nvSpPr>
        <p:spPr>
          <a:xfrm>
            <a:off x="795528" y="1700784"/>
            <a:ext cx="1929384" cy="219456"/>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rPr>
              <a:t>Question</a:t>
            </a:r>
            <a:endParaRPr lang="en-US" sz="1350" dirty="0"/>
          </a:p>
        </p:txBody>
      </p:sp>
      <p:sp>
        <p:nvSpPr>
          <p:cNvPr id="7" name="Shape 5"/>
          <p:cNvSpPr/>
          <p:nvPr/>
        </p:nvSpPr>
        <p:spPr>
          <a:xfrm>
            <a:off x="2971800" y="1508760"/>
            <a:ext cx="4023360" cy="658368"/>
          </a:xfrm>
          <a:prstGeom prst="rect">
            <a:avLst/>
          </a:prstGeom>
          <a:solidFill>
            <a:srgbClr val="1D4ED8"/>
          </a:solidFill>
          <a:ln w="10160">
            <a:solidFill>
              <a:srgbClr val="3B82F6">
                <a:alpha val="75000"/>
              </a:srgbClr>
            </a:solidFill>
            <a:prstDash val="solid"/>
          </a:ln>
        </p:spPr>
      </p:sp>
      <p:sp>
        <p:nvSpPr>
          <p:cNvPr id="8" name="Text 6"/>
          <p:cNvSpPr/>
          <p:nvPr/>
        </p:nvSpPr>
        <p:spPr>
          <a:xfrm>
            <a:off x="3081528" y="1700784"/>
            <a:ext cx="3803904" cy="219456"/>
          </a:xfrm>
          <a:prstGeom prst="rect">
            <a:avLst/>
          </a:prstGeom>
          <a:noFill/>
          <a:ln/>
        </p:spPr>
        <p:txBody>
          <a:bodyPr wrap="square" lIns="0" tIns="0" rIns="0" bIns="0" rtlCol="0" anchor="ctr">
            <a:normAutofit/>
          </a:bodyPr>
          <a:lstStyle/>
          <a:p>
            <a:pPr marL="0" indent="0" algn="l">
              <a:buNone/>
            </a:pPr>
            <a:r>
              <a:rPr lang="en-US" sz="1350" b="1" dirty="0">
                <a:solidFill>
                  <a:srgbClr val="FFFFFF"/>
                </a:solidFill>
              </a:rPr>
              <a:t>Batch: what happened yesterday?</a:t>
            </a:r>
            <a:endParaRPr lang="en-US" sz="1350" dirty="0"/>
          </a:p>
        </p:txBody>
      </p:sp>
      <p:sp>
        <p:nvSpPr>
          <p:cNvPr id="9" name="Shape 7"/>
          <p:cNvSpPr/>
          <p:nvPr/>
        </p:nvSpPr>
        <p:spPr>
          <a:xfrm>
            <a:off x="7223760" y="1508760"/>
            <a:ext cx="4023360" cy="658368"/>
          </a:xfrm>
          <a:prstGeom prst="rect">
            <a:avLst/>
          </a:prstGeom>
          <a:solidFill>
            <a:srgbClr val="1D4ED8"/>
          </a:solidFill>
          <a:ln w="10160">
            <a:solidFill>
              <a:srgbClr val="3B82F6">
                <a:alpha val="75000"/>
              </a:srgbClr>
            </a:solidFill>
            <a:prstDash val="solid"/>
          </a:ln>
        </p:spPr>
      </p:sp>
      <p:sp>
        <p:nvSpPr>
          <p:cNvPr id="10" name="Text 8"/>
          <p:cNvSpPr/>
          <p:nvPr/>
        </p:nvSpPr>
        <p:spPr>
          <a:xfrm>
            <a:off x="7333488" y="1700784"/>
            <a:ext cx="3803904" cy="219456"/>
          </a:xfrm>
          <a:prstGeom prst="rect">
            <a:avLst/>
          </a:prstGeom>
          <a:noFill/>
          <a:ln/>
        </p:spPr>
        <p:txBody>
          <a:bodyPr wrap="square" lIns="0" tIns="0" rIns="0" bIns="0" rtlCol="0" anchor="ctr">
            <a:normAutofit/>
          </a:bodyPr>
          <a:lstStyle/>
          <a:p>
            <a:pPr marL="0" indent="0" algn="l">
              <a:buNone/>
            </a:pPr>
            <a:r>
              <a:rPr lang="en-US" sz="1350" b="1" dirty="0">
                <a:solidFill>
                  <a:srgbClr val="FFFFFF"/>
                </a:solidFill>
              </a:rPr>
              <a:t>Streaming: what is happening now?</a:t>
            </a:r>
            <a:endParaRPr lang="en-US" sz="1350" dirty="0"/>
          </a:p>
        </p:txBody>
      </p:sp>
      <p:sp>
        <p:nvSpPr>
          <p:cNvPr id="11" name="Shape 9"/>
          <p:cNvSpPr/>
          <p:nvPr/>
        </p:nvSpPr>
        <p:spPr>
          <a:xfrm>
            <a:off x="685800" y="2221992"/>
            <a:ext cx="2148840" cy="658368"/>
          </a:xfrm>
          <a:prstGeom prst="rect">
            <a:avLst/>
          </a:prstGeom>
          <a:solidFill>
            <a:srgbClr val="111827"/>
          </a:solidFill>
          <a:ln w="10160">
            <a:solidFill>
              <a:srgbClr val="3B82F6">
                <a:alpha val="75000"/>
              </a:srgbClr>
            </a:solidFill>
            <a:prstDash val="solid"/>
          </a:ln>
        </p:spPr>
      </p:sp>
      <p:sp>
        <p:nvSpPr>
          <p:cNvPr id="12" name="Text 10"/>
          <p:cNvSpPr/>
          <p:nvPr/>
        </p:nvSpPr>
        <p:spPr>
          <a:xfrm>
            <a:off x="795528" y="2414016"/>
            <a:ext cx="1929384" cy="219456"/>
          </a:xfrm>
          <a:prstGeom prst="rect">
            <a:avLst/>
          </a:prstGeom>
          <a:noFill/>
          <a:ln/>
        </p:spPr>
        <p:txBody>
          <a:bodyPr wrap="square" lIns="0" tIns="0" rIns="0" bIns="0" rtlCol="0" anchor="ctr">
            <a:normAutofit/>
          </a:bodyPr>
          <a:lstStyle/>
          <a:p>
            <a:pPr marL="0" indent="0" algn="ctr">
              <a:buNone/>
            </a:pPr>
            <a:r>
              <a:rPr lang="en-US" sz="1300" dirty="0">
                <a:solidFill>
                  <a:srgbClr val="FFFFFF"/>
                </a:solidFill>
              </a:rPr>
              <a:t>Data shape</a:t>
            </a:r>
            <a:endParaRPr lang="en-US" sz="1300" dirty="0"/>
          </a:p>
        </p:txBody>
      </p:sp>
      <p:sp>
        <p:nvSpPr>
          <p:cNvPr id="13" name="Shape 11"/>
          <p:cNvSpPr/>
          <p:nvPr/>
        </p:nvSpPr>
        <p:spPr>
          <a:xfrm>
            <a:off x="2971800" y="2221992"/>
            <a:ext cx="4023360" cy="658368"/>
          </a:xfrm>
          <a:prstGeom prst="rect">
            <a:avLst/>
          </a:prstGeom>
          <a:solidFill>
            <a:srgbClr val="111827"/>
          </a:solidFill>
          <a:ln w="10160">
            <a:solidFill>
              <a:srgbClr val="3B82F6">
                <a:alpha val="75000"/>
              </a:srgbClr>
            </a:solidFill>
            <a:prstDash val="solid"/>
          </a:ln>
        </p:spPr>
      </p:sp>
      <p:sp>
        <p:nvSpPr>
          <p:cNvPr id="14" name="Text 12"/>
          <p:cNvSpPr/>
          <p:nvPr/>
        </p:nvSpPr>
        <p:spPr>
          <a:xfrm>
            <a:off x="3081528" y="2414016"/>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Bounded dataset</a:t>
            </a:r>
            <a:endParaRPr lang="en-US" sz="1300" dirty="0"/>
          </a:p>
        </p:txBody>
      </p:sp>
      <p:sp>
        <p:nvSpPr>
          <p:cNvPr id="15" name="Shape 13"/>
          <p:cNvSpPr/>
          <p:nvPr/>
        </p:nvSpPr>
        <p:spPr>
          <a:xfrm>
            <a:off x="7223760" y="2221992"/>
            <a:ext cx="4023360" cy="658368"/>
          </a:xfrm>
          <a:prstGeom prst="rect">
            <a:avLst/>
          </a:prstGeom>
          <a:solidFill>
            <a:srgbClr val="111827"/>
          </a:solidFill>
          <a:ln w="10160">
            <a:solidFill>
              <a:srgbClr val="3B82F6">
                <a:alpha val="75000"/>
              </a:srgbClr>
            </a:solidFill>
            <a:prstDash val="solid"/>
          </a:ln>
        </p:spPr>
      </p:sp>
      <p:sp>
        <p:nvSpPr>
          <p:cNvPr id="16" name="Text 14"/>
          <p:cNvSpPr/>
          <p:nvPr/>
        </p:nvSpPr>
        <p:spPr>
          <a:xfrm>
            <a:off x="7333488" y="2414016"/>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Unbounded events</a:t>
            </a:r>
            <a:endParaRPr lang="en-US" sz="1300" dirty="0"/>
          </a:p>
        </p:txBody>
      </p:sp>
      <p:sp>
        <p:nvSpPr>
          <p:cNvPr id="17" name="Shape 15"/>
          <p:cNvSpPr/>
          <p:nvPr/>
        </p:nvSpPr>
        <p:spPr>
          <a:xfrm>
            <a:off x="685800" y="2935224"/>
            <a:ext cx="2148840" cy="658368"/>
          </a:xfrm>
          <a:prstGeom prst="rect">
            <a:avLst/>
          </a:prstGeom>
          <a:solidFill>
            <a:srgbClr val="111827"/>
          </a:solidFill>
          <a:ln w="10160">
            <a:solidFill>
              <a:srgbClr val="3B82F6">
                <a:alpha val="75000"/>
              </a:srgbClr>
            </a:solidFill>
            <a:prstDash val="solid"/>
          </a:ln>
        </p:spPr>
      </p:sp>
      <p:sp>
        <p:nvSpPr>
          <p:cNvPr id="18" name="Text 16"/>
          <p:cNvSpPr/>
          <p:nvPr/>
        </p:nvSpPr>
        <p:spPr>
          <a:xfrm>
            <a:off x="795528" y="3127248"/>
            <a:ext cx="1929384" cy="219456"/>
          </a:xfrm>
          <a:prstGeom prst="rect">
            <a:avLst/>
          </a:prstGeom>
          <a:noFill/>
          <a:ln/>
        </p:spPr>
        <p:txBody>
          <a:bodyPr wrap="square" lIns="0" tIns="0" rIns="0" bIns="0" rtlCol="0" anchor="ctr">
            <a:normAutofit/>
          </a:bodyPr>
          <a:lstStyle/>
          <a:p>
            <a:pPr marL="0" indent="0" algn="ctr">
              <a:buNone/>
            </a:pPr>
            <a:r>
              <a:rPr lang="en-US" sz="1300" dirty="0">
                <a:solidFill>
                  <a:srgbClr val="FFFFFF"/>
                </a:solidFill>
              </a:rPr>
              <a:t>Run pattern</a:t>
            </a:r>
            <a:endParaRPr lang="en-US" sz="1300" dirty="0"/>
          </a:p>
        </p:txBody>
      </p:sp>
      <p:sp>
        <p:nvSpPr>
          <p:cNvPr id="19" name="Shape 17"/>
          <p:cNvSpPr/>
          <p:nvPr/>
        </p:nvSpPr>
        <p:spPr>
          <a:xfrm>
            <a:off x="2971800" y="2935224"/>
            <a:ext cx="4023360" cy="658368"/>
          </a:xfrm>
          <a:prstGeom prst="rect">
            <a:avLst/>
          </a:prstGeom>
          <a:solidFill>
            <a:srgbClr val="111827"/>
          </a:solidFill>
          <a:ln w="10160">
            <a:solidFill>
              <a:srgbClr val="3B82F6">
                <a:alpha val="75000"/>
              </a:srgbClr>
            </a:solidFill>
            <a:prstDash val="solid"/>
          </a:ln>
        </p:spPr>
      </p:sp>
      <p:sp>
        <p:nvSpPr>
          <p:cNvPr id="20" name="Text 18"/>
          <p:cNvSpPr/>
          <p:nvPr/>
        </p:nvSpPr>
        <p:spPr>
          <a:xfrm>
            <a:off x="3081528" y="3127248"/>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Scheduled job</a:t>
            </a:r>
            <a:endParaRPr lang="en-US" sz="1300" dirty="0"/>
          </a:p>
        </p:txBody>
      </p:sp>
      <p:sp>
        <p:nvSpPr>
          <p:cNvPr id="21" name="Shape 19"/>
          <p:cNvSpPr/>
          <p:nvPr/>
        </p:nvSpPr>
        <p:spPr>
          <a:xfrm>
            <a:off x="7223760" y="2935224"/>
            <a:ext cx="4023360" cy="658368"/>
          </a:xfrm>
          <a:prstGeom prst="rect">
            <a:avLst/>
          </a:prstGeom>
          <a:solidFill>
            <a:srgbClr val="111827"/>
          </a:solidFill>
          <a:ln w="10160">
            <a:solidFill>
              <a:srgbClr val="3B82F6">
                <a:alpha val="75000"/>
              </a:srgbClr>
            </a:solidFill>
            <a:prstDash val="solid"/>
          </a:ln>
        </p:spPr>
      </p:sp>
      <p:sp>
        <p:nvSpPr>
          <p:cNvPr id="22" name="Text 20"/>
          <p:cNvSpPr/>
          <p:nvPr/>
        </p:nvSpPr>
        <p:spPr>
          <a:xfrm>
            <a:off x="7333488" y="3127248"/>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Always-on query</a:t>
            </a:r>
            <a:endParaRPr lang="en-US" sz="1300" dirty="0"/>
          </a:p>
        </p:txBody>
      </p:sp>
      <p:sp>
        <p:nvSpPr>
          <p:cNvPr id="23" name="Shape 21"/>
          <p:cNvSpPr/>
          <p:nvPr/>
        </p:nvSpPr>
        <p:spPr>
          <a:xfrm>
            <a:off x="685800" y="3648456"/>
            <a:ext cx="2148840" cy="658368"/>
          </a:xfrm>
          <a:prstGeom prst="rect">
            <a:avLst/>
          </a:prstGeom>
          <a:solidFill>
            <a:srgbClr val="111827"/>
          </a:solidFill>
          <a:ln w="10160">
            <a:solidFill>
              <a:srgbClr val="3B82F6">
                <a:alpha val="75000"/>
              </a:srgbClr>
            </a:solidFill>
            <a:prstDash val="solid"/>
          </a:ln>
        </p:spPr>
      </p:sp>
      <p:sp>
        <p:nvSpPr>
          <p:cNvPr id="24" name="Text 22"/>
          <p:cNvSpPr/>
          <p:nvPr/>
        </p:nvSpPr>
        <p:spPr>
          <a:xfrm>
            <a:off x="795528" y="3840480"/>
            <a:ext cx="1929384" cy="219456"/>
          </a:xfrm>
          <a:prstGeom prst="rect">
            <a:avLst/>
          </a:prstGeom>
          <a:noFill/>
          <a:ln/>
        </p:spPr>
        <p:txBody>
          <a:bodyPr wrap="square" lIns="0" tIns="0" rIns="0" bIns="0" rtlCol="0" anchor="ctr">
            <a:normAutofit/>
          </a:bodyPr>
          <a:lstStyle/>
          <a:p>
            <a:pPr marL="0" indent="0" algn="ctr">
              <a:buNone/>
            </a:pPr>
            <a:r>
              <a:rPr lang="en-US" sz="1300" dirty="0">
                <a:solidFill>
                  <a:srgbClr val="FFFFFF"/>
                </a:solidFill>
              </a:rPr>
              <a:t>Latency</a:t>
            </a:r>
            <a:endParaRPr lang="en-US" sz="1300" dirty="0"/>
          </a:p>
        </p:txBody>
      </p:sp>
      <p:sp>
        <p:nvSpPr>
          <p:cNvPr id="25" name="Shape 23"/>
          <p:cNvSpPr/>
          <p:nvPr/>
        </p:nvSpPr>
        <p:spPr>
          <a:xfrm>
            <a:off x="2971800" y="3648456"/>
            <a:ext cx="4023360" cy="658368"/>
          </a:xfrm>
          <a:prstGeom prst="rect">
            <a:avLst/>
          </a:prstGeom>
          <a:solidFill>
            <a:srgbClr val="111827"/>
          </a:solidFill>
          <a:ln w="10160">
            <a:solidFill>
              <a:srgbClr val="3B82F6">
                <a:alpha val="75000"/>
              </a:srgbClr>
            </a:solidFill>
            <a:prstDash val="solid"/>
          </a:ln>
        </p:spPr>
      </p:sp>
      <p:sp>
        <p:nvSpPr>
          <p:cNvPr id="26" name="Text 24"/>
          <p:cNvSpPr/>
          <p:nvPr/>
        </p:nvSpPr>
        <p:spPr>
          <a:xfrm>
            <a:off x="3081528" y="3840480"/>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Minutes to hours</a:t>
            </a:r>
            <a:endParaRPr lang="en-US" sz="1300" dirty="0"/>
          </a:p>
        </p:txBody>
      </p:sp>
      <p:sp>
        <p:nvSpPr>
          <p:cNvPr id="27" name="Shape 25"/>
          <p:cNvSpPr/>
          <p:nvPr/>
        </p:nvSpPr>
        <p:spPr>
          <a:xfrm>
            <a:off x="7223760" y="3648456"/>
            <a:ext cx="4023360" cy="658368"/>
          </a:xfrm>
          <a:prstGeom prst="rect">
            <a:avLst/>
          </a:prstGeom>
          <a:solidFill>
            <a:srgbClr val="111827"/>
          </a:solidFill>
          <a:ln w="10160">
            <a:solidFill>
              <a:srgbClr val="3B82F6">
                <a:alpha val="75000"/>
              </a:srgbClr>
            </a:solidFill>
            <a:prstDash val="solid"/>
          </a:ln>
        </p:spPr>
      </p:sp>
      <p:sp>
        <p:nvSpPr>
          <p:cNvPr id="28" name="Text 26"/>
          <p:cNvSpPr/>
          <p:nvPr/>
        </p:nvSpPr>
        <p:spPr>
          <a:xfrm>
            <a:off x="7333488" y="3840480"/>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Milliseconds to seconds</a:t>
            </a:r>
            <a:endParaRPr lang="en-US" sz="1300" dirty="0"/>
          </a:p>
        </p:txBody>
      </p:sp>
      <p:sp>
        <p:nvSpPr>
          <p:cNvPr id="29" name="Shape 27"/>
          <p:cNvSpPr/>
          <p:nvPr/>
        </p:nvSpPr>
        <p:spPr>
          <a:xfrm>
            <a:off x="685800" y="4361688"/>
            <a:ext cx="2148840" cy="658368"/>
          </a:xfrm>
          <a:prstGeom prst="rect">
            <a:avLst/>
          </a:prstGeom>
          <a:solidFill>
            <a:srgbClr val="111827"/>
          </a:solidFill>
          <a:ln w="10160">
            <a:solidFill>
              <a:srgbClr val="3B82F6">
                <a:alpha val="75000"/>
              </a:srgbClr>
            </a:solidFill>
            <a:prstDash val="solid"/>
          </a:ln>
        </p:spPr>
      </p:sp>
      <p:sp>
        <p:nvSpPr>
          <p:cNvPr id="30" name="Text 28"/>
          <p:cNvSpPr/>
          <p:nvPr/>
        </p:nvSpPr>
        <p:spPr>
          <a:xfrm>
            <a:off x="795528" y="4553712"/>
            <a:ext cx="1929384" cy="219456"/>
          </a:xfrm>
          <a:prstGeom prst="rect">
            <a:avLst/>
          </a:prstGeom>
          <a:noFill/>
          <a:ln/>
        </p:spPr>
        <p:txBody>
          <a:bodyPr wrap="square" lIns="0" tIns="0" rIns="0" bIns="0" rtlCol="0" anchor="ctr">
            <a:normAutofit/>
          </a:bodyPr>
          <a:lstStyle/>
          <a:p>
            <a:pPr marL="0" indent="0" algn="ctr">
              <a:buNone/>
            </a:pPr>
            <a:r>
              <a:rPr lang="en-US" sz="1300" dirty="0">
                <a:solidFill>
                  <a:srgbClr val="FFFFFF"/>
                </a:solidFill>
              </a:rPr>
              <a:t>Example</a:t>
            </a:r>
            <a:endParaRPr lang="en-US" sz="1300" dirty="0"/>
          </a:p>
        </p:txBody>
      </p:sp>
      <p:sp>
        <p:nvSpPr>
          <p:cNvPr id="31" name="Shape 29"/>
          <p:cNvSpPr/>
          <p:nvPr/>
        </p:nvSpPr>
        <p:spPr>
          <a:xfrm>
            <a:off x="2971800" y="4361688"/>
            <a:ext cx="4023360" cy="658368"/>
          </a:xfrm>
          <a:prstGeom prst="rect">
            <a:avLst/>
          </a:prstGeom>
          <a:solidFill>
            <a:srgbClr val="111827"/>
          </a:solidFill>
          <a:ln w="10160">
            <a:solidFill>
              <a:srgbClr val="3B82F6">
                <a:alpha val="75000"/>
              </a:srgbClr>
            </a:solidFill>
            <a:prstDash val="solid"/>
          </a:ln>
        </p:spPr>
      </p:sp>
      <p:sp>
        <p:nvSpPr>
          <p:cNvPr id="32" name="Text 30"/>
          <p:cNvSpPr/>
          <p:nvPr/>
        </p:nvSpPr>
        <p:spPr>
          <a:xfrm>
            <a:off x="3081528" y="4553712"/>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Daily sales report</a:t>
            </a:r>
            <a:endParaRPr lang="en-US" sz="1300" dirty="0"/>
          </a:p>
        </p:txBody>
      </p:sp>
      <p:sp>
        <p:nvSpPr>
          <p:cNvPr id="33" name="Shape 31"/>
          <p:cNvSpPr/>
          <p:nvPr/>
        </p:nvSpPr>
        <p:spPr>
          <a:xfrm>
            <a:off x="7223760" y="4361688"/>
            <a:ext cx="4023360" cy="658368"/>
          </a:xfrm>
          <a:prstGeom prst="rect">
            <a:avLst/>
          </a:prstGeom>
          <a:solidFill>
            <a:srgbClr val="111827"/>
          </a:solidFill>
          <a:ln w="10160">
            <a:solidFill>
              <a:srgbClr val="3B82F6">
                <a:alpha val="75000"/>
              </a:srgbClr>
            </a:solidFill>
            <a:prstDash val="solid"/>
          </a:ln>
        </p:spPr>
      </p:sp>
      <p:sp>
        <p:nvSpPr>
          <p:cNvPr id="34" name="Text 32"/>
          <p:cNvSpPr/>
          <p:nvPr/>
        </p:nvSpPr>
        <p:spPr>
          <a:xfrm>
            <a:off x="7333488" y="4553712"/>
            <a:ext cx="3803904" cy="219456"/>
          </a:xfrm>
          <a:prstGeom prst="rect">
            <a:avLst/>
          </a:prstGeom>
          <a:noFill/>
          <a:ln/>
        </p:spPr>
        <p:txBody>
          <a:bodyPr wrap="square" lIns="0" tIns="0" rIns="0" bIns="0" rtlCol="0" anchor="ctr">
            <a:normAutofit/>
          </a:bodyPr>
          <a:lstStyle/>
          <a:p>
            <a:pPr marL="0" indent="0" algn="l">
              <a:buNone/>
            </a:pPr>
            <a:r>
              <a:rPr lang="en-US" sz="1300" dirty="0">
                <a:solidFill>
                  <a:srgbClr val="FFFFFF"/>
                </a:solidFill>
              </a:rPr>
              <a:t>Live fraud alert</a:t>
            </a:r>
            <a:endParaRPr lang="en-US" sz="1300" dirty="0"/>
          </a:p>
        </p:txBody>
      </p:sp>
      <p:sp>
        <p:nvSpPr>
          <p:cNvPr id="35" name="Text 33"/>
          <p:cNvSpPr/>
          <p:nvPr/>
        </p:nvSpPr>
        <p:spPr>
          <a:xfrm>
            <a:off x="1005840" y="5806440"/>
            <a:ext cx="9875520" cy="320040"/>
          </a:xfrm>
          <a:prstGeom prst="rect">
            <a:avLst/>
          </a:prstGeom>
          <a:noFill/>
          <a:ln/>
        </p:spPr>
        <p:txBody>
          <a:bodyPr wrap="square" lIns="0" tIns="0" rIns="0" bIns="0" rtlCol="0" anchor="ctr"/>
          <a:lstStyle/>
          <a:p>
            <a:pPr marL="0" indent="0" algn="ctr">
              <a:buNone/>
            </a:pPr>
            <a:r>
              <a:rPr lang="en-US" sz="1900" b="1" dirty="0">
                <a:solidFill>
                  <a:srgbClr val="FDE68A"/>
                </a:solidFill>
              </a:rPr>
              <a:t>Batch is for complete historical views. Streaming is for immediate action.</a:t>
            </a:r>
            <a:endParaRPr lang="en-US" sz="1900" dirty="0"/>
          </a:p>
        </p:txBody>
      </p:sp>
      <p:sp>
        <p:nvSpPr>
          <p:cNvPr id="37" name="Text 34"/>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a_bright_colorful_3d_isometric_illustration_of_a.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Real-world example: Food delivery</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Every action becomes an event</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685800" y="4800600"/>
            <a:ext cx="1828800" cy="822960"/>
          </a:xfrm>
          <a:prstGeom prst="roundRect">
            <a:avLst>
              <a:gd name="adj" fmla="val 8889"/>
            </a:avLst>
          </a:prstGeom>
          <a:solidFill>
            <a:srgbClr val="0F172A">
              <a:alpha val="90000"/>
            </a:srgbClr>
          </a:solidFill>
          <a:ln w="12700">
            <a:solidFill>
              <a:srgbClr val="FFFFFF">
                <a:alpha val="12000"/>
              </a:srgbClr>
            </a:solidFill>
            <a:prstDash val="solid"/>
          </a:ln>
        </p:spPr>
      </p:sp>
      <p:sp>
        <p:nvSpPr>
          <p:cNvPr id="7" name="Text 4"/>
          <p:cNvSpPr/>
          <p:nvPr/>
        </p:nvSpPr>
        <p:spPr>
          <a:xfrm>
            <a:off x="777240" y="4983480"/>
            <a:ext cx="320040" cy="228600"/>
          </a:xfrm>
          <a:prstGeom prst="rect">
            <a:avLst/>
          </a:prstGeom>
          <a:noFill/>
          <a:ln/>
        </p:spPr>
        <p:txBody>
          <a:bodyPr wrap="square" lIns="0" tIns="0" rIns="0" bIns="0" rtlCol="0" anchor="ctr"/>
          <a:lstStyle/>
          <a:p>
            <a:pPr marL="0" indent="0" algn="ctr">
              <a:buNone/>
            </a:pPr>
            <a:r>
              <a:rPr lang="en-US" sz="1400" b="1" dirty="0">
                <a:solidFill>
                  <a:srgbClr val="FBBF24"/>
                </a:solidFill>
              </a:rPr>
              <a:t>1</a:t>
            </a:r>
            <a:endParaRPr lang="en-US" sz="1400" dirty="0"/>
          </a:p>
        </p:txBody>
      </p:sp>
      <p:sp>
        <p:nvSpPr>
          <p:cNvPr id="8" name="Text 5"/>
          <p:cNvSpPr/>
          <p:nvPr/>
        </p:nvSpPr>
        <p:spPr>
          <a:xfrm>
            <a:off x="1124712" y="4919472"/>
            <a:ext cx="1216152" cy="256032"/>
          </a:xfrm>
          <a:prstGeom prst="rect">
            <a:avLst/>
          </a:prstGeom>
          <a:noFill/>
          <a:ln/>
        </p:spPr>
        <p:txBody>
          <a:bodyPr wrap="square" lIns="0" tIns="0" rIns="0" bIns="0" rtlCol="0" anchor="ctr">
            <a:normAutofit/>
          </a:bodyPr>
          <a:lstStyle/>
          <a:p>
            <a:pPr marL="0" indent="0">
              <a:buNone/>
            </a:pPr>
            <a:r>
              <a:rPr lang="en-US" sz="1050" b="1" dirty="0">
                <a:solidFill>
                  <a:srgbClr val="FFFFFF"/>
                </a:solidFill>
              </a:rPr>
              <a:t>Customer places order</a:t>
            </a:r>
            <a:endParaRPr lang="en-US" sz="1050" dirty="0"/>
          </a:p>
        </p:txBody>
      </p:sp>
      <p:sp>
        <p:nvSpPr>
          <p:cNvPr id="9" name="Shape 6"/>
          <p:cNvSpPr/>
          <p:nvPr/>
        </p:nvSpPr>
        <p:spPr>
          <a:xfrm>
            <a:off x="2953512" y="4800600"/>
            <a:ext cx="1828800" cy="822960"/>
          </a:xfrm>
          <a:prstGeom prst="roundRect">
            <a:avLst>
              <a:gd name="adj" fmla="val 8889"/>
            </a:avLst>
          </a:prstGeom>
          <a:solidFill>
            <a:srgbClr val="0F172A">
              <a:alpha val="90000"/>
            </a:srgbClr>
          </a:solidFill>
          <a:ln w="12700">
            <a:solidFill>
              <a:srgbClr val="FFFFFF">
                <a:alpha val="12000"/>
              </a:srgbClr>
            </a:solidFill>
            <a:prstDash val="solid"/>
          </a:ln>
        </p:spPr>
      </p:sp>
      <p:sp>
        <p:nvSpPr>
          <p:cNvPr id="10" name="Text 7"/>
          <p:cNvSpPr/>
          <p:nvPr/>
        </p:nvSpPr>
        <p:spPr>
          <a:xfrm>
            <a:off x="3044952" y="4983480"/>
            <a:ext cx="320040" cy="228600"/>
          </a:xfrm>
          <a:prstGeom prst="rect">
            <a:avLst/>
          </a:prstGeom>
          <a:noFill/>
          <a:ln/>
        </p:spPr>
        <p:txBody>
          <a:bodyPr wrap="square" lIns="0" tIns="0" rIns="0" bIns="0" rtlCol="0" anchor="ctr"/>
          <a:lstStyle/>
          <a:p>
            <a:pPr marL="0" indent="0" algn="ctr">
              <a:buNone/>
            </a:pPr>
            <a:r>
              <a:rPr lang="en-US" sz="1400" b="1" dirty="0">
                <a:solidFill>
                  <a:srgbClr val="FBBF24"/>
                </a:solidFill>
              </a:rPr>
              <a:t>2</a:t>
            </a:r>
            <a:endParaRPr lang="en-US" sz="1400" dirty="0"/>
          </a:p>
        </p:txBody>
      </p:sp>
      <p:sp>
        <p:nvSpPr>
          <p:cNvPr id="11" name="Text 8"/>
          <p:cNvSpPr/>
          <p:nvPr/>
        </p:nvSpPr>
        <p:spPr>
          <a:xfrm>
            <a:off x="3392424" y="4919472"/>
            <a:ext cx="1216152" cy="256032"/>
          </a:xfrm>
          <a:prstGeom prst="rect">
            <a:avLst/>
          </a:prstGeom>
          <a:noFill/>
          <a:ln/>
        </p:spPr>
        <p:txBody>
          <a:bodyPr wrap="square" lIns="0" tIns="0" rIns="0" bIns="0" rtlCol="0" anchor="ctr">
            <a:normAutofit/>
          </a:bodyPr>
          <a:lstStyle/>
          <a:p>
            <a:pPr marL="0" indent="0">
              <a:buNone/>
            </a:pPr>
            <a:r>
              <a:rPr lang="en-US" sz="1050" b="1" dirty="0">
                <a:solidFill>
                  <a:srgbClr val="FFFFFF"/>
                </a:solidFill>
              </a:rPr>
              <a:t>Restaurant accepts</a:t>
            </a:r>
            <a:endParaRPr lang="en-US" sz="1050" dirty="0"/>
          </a:p>
        </p:txBody>
      </p:sp>
      <p:sp>
        <p:nvSpPr>
          <p:cNvPr id="12" name="Shape 9"/>
          <p:cNvSpPr/>
          <p:nvPr/>
        </p:nvSpPr>
        <p:spPr>
          <a:xfrm>
            <a:off x="5221224" y="4800600"/>
            <a:ext cx="1828800" cy="822960"/>
          </a:xfrm>
          <a:prstGeom prst="roundRect">
            <a:avLst>
              <a:gd name="adj" fmla="val 8889"/>
            </a:avLst>
          </a:prstGeom>
          <a:solidFill>
            <a:srgbClr val="0F172A">
              <a:alpha val="90000"/>
            </a:srgbClr>
          </a:solidFill>
          <a:ln w="12700">
            <a:solidFill>
              <a:srgbClr val="FFFFFF">
                <a:alpha val="12000"/>
              </a:srgbClr>
            </a:solidFill>
            <a:prstDash val="solid"/>
          </a:ln>
        </p:spPr>
      </p:sp>
      <p:sp>
        <p:nvSpPr>
          <p:cNvPr id="13" name="Text 10"/>
          <p:cNvSpPr/>
          <p:nvPr/>
        </p:nvSpPr>
        <p:spPr>
          <a:xfrm>
            <a:off x="5312664" y="4983480"/>
            <a:ext cx="320040" cy="228600"/>
          </a:xfrm>
          <a:prstGeom prst="rect">
            <a:avLst/>
          </a:prstGeom>
          <a:noFill/>
          <a:ln/>
        </p:spPr>
        <p:txBody>
          <a:bodyPr wrap="square" lIns="0" tIns="0" rIns="0" bIns="0" rtlCol="0" anchor="ctr"/>
          <a:lstStyle/>
          <a:p>
            <a:pPr marL="0" indent="0" algn="ctr">
              <a:buNone/>
            </a:pPr>
            <a:r>
              <a:rPr lang="en-US" sz="1400" b="1" dirty="0">
                <a:solidFill>
                  <a:srgbClr val="FBBF24"/>
                </a:solidFill>
              </a:rPr>
              <a:t>3</a:t>
            </a:r>
            <a:endParaRPr lang="en-US" sz="1400" dirty="0"/>
          </a:p>
        </p:txBody>
      </p:sp>
      <p:sp>
        <p:nvSpPr>
          <p:cNvPr id="14" name="Text 11"/>
          <p:cNvSpPr/>
          <p:nvPr/>
        </p:nvSpPr>
        <p:spPr>
          <a:xfrm>
            <a:off x="5660136" y="4919472"/>
            <a:ext cx="1216152" cy="256032"/>
          </a:xfrm>
          <a:prstGeom prst="rect">
            <a:avLst/>
          </a:prstGeom>
          <a:noFill/>
          <a:ln/>
        </p:spPr>
        <p:txBody>
          <a:bodyPr wrap="square" lIns="0" tIns="0" rIns="0" bIns="0" rtlCol="0" anchor="ctr">
            <a:normAutofit/>
          </a:bodyPr>
          <a:lstStyle/>
          <a:p>
            <a:pPr marL="0" indent="0">
              <a:buNone/>
            </a:pPr>
            <a:r>
              <a:rPr lang="en-US" sz="1050" b="1" dirty="0">
                <a:solidFill>
                  <a:srgbClr val="FFFFFF"/>
                </a:solidFill>
              </a:rPr>
              <a:t>Driver picks up</a:t>
            </a:r>
            <a:endParaRPr lang="en-US" sz="1050" dirty="0"/>
          </a:p>
        </p:txBody>
      </p:sp>
      <p:sp>
        <p:nvSpPr>
          <p:cNvPr id="15" name="Shape 12"/>
          <p:cNvSpPr/>
          <p:nvPr/>
        </p:nvSpPr>
        <p:spPr>
          <a:xfrm>
            <a:off x="7488936" y="4800600"/>
            <a:ext cx="1828800" cy="822960"/>
          </a:xfrm>
          <a:prstGeom prst="roundRect">
            <a:avLst>
              <a:gd name="adj" fmla="val 8889"/>
            </a:avLst>
          </a:prstGeom>
          <a:solidFill>
            <a:srgbClr val="0F172A">
              <a:alpha val="90000"/>
            </a:srgbClr>
          </a:solidFill>
          <a:ln w="12700">
            <a:solidFill>
              <a:srgbClr val="FFFFFF">
                <a:alpha val="12000"/>
              </a:srgbClr>
            </a:solidFill>
            <a:prstDash val="solid"/>
          </a:ln>
        </p:spPr>
      </p:sp>
      <p:sp>
        <p:nvSpPr>
          <p:cNvPr id="16" name="Text 13"/>
          <p:cNvSpPr/>
          <p:nvPr/>
        </p:nvSpPr>
        <p:spPr>
          <a:xfrm>
            <a:off x="7580376" y="4983480"/>
            <a:ext cx="320040" cy="228600"/>
          </a:xfrm>
          <a:prstGeom prst="rect">
            <a:avLst/>
          </a:prstGeom>
          <a:noFill/>
          <a:ln/>
        </p:spPr>
        <p:txBody>
          <a:bodyPr wrap="square" lIns="0" tIns="0" rIns="0" bIns="0" rtlCol="0" anchor="ctr"/>
          <a:lstStyle/>
          <a:p>
            <a:pPr marL="0" indent="0" algn="ctr">
              <a:buNone/>
            </a:pPr>
            <a:r>
              <a:rPr lang="en-US" sz="1400" b="1" dirty="0">
                <a:solidFill>
                  <a:srgbClr val="FBBF24"/>
                </a:solidFill>
              </a:rPr>
              <a:t>4</a:t>
            </a:r>
            <a:endParaRPr lang="en-US" sz="1400" dirty="0"/>
          </a:p>
        </p:txBody>
      </p:sp>
      <p:sp>
        <p:nvSpPr>
          <p:cNvPr id="17" name="Text 14"/>
          <p:cNvSpPr/>
          <p:nvPr/>
        </p:nvSpPr>
        <p:spPr>
          <a:xfrm>
            <a:off x="7927848" y="4919472"/>
            <a:ext cx="1216152" cy="256032"/>
          </a:xfrm>
          <a:prstGeom prst="rect">
            <a:avLst/>
          </a:prstGeom>
          <a:noFill/>
          <a:ln/>
        </p:spPr>
        <p:txBody>
          <a:bodyPr wrap="square" lIns="0" tIns="0" rIns="0" bIns="0" rtlCol="0" anchor="ctr">
            <a:normAutofit/>
          </a:bodyPr>
          <a:lstStyle/>
          <a:p>
            <a:pPr marL="0" indent="0">
              <a:buNone/>
            </a:pPr>
            <a:r>
              <a:rPr lang="en-US" sz="1050" b="1" dirty="0">
                <a:solidFill>
                  <a:srgbClr val="FFFFFF"/>
                </a:solidFill>
              </a:rPr>
              <a:t>Customer tracks live</a:t>
            </a:r>
            <a:endParaRPr lang="en-US" sz="1050" dirty="0"/>
          </a:p>
        </p:txBody>
      </p:sp>
      <p:sp>
        <p:nvSpPr>
          <p:cNvPr id="18" name="Shape 15"/>
          <p:cNvSpPr/>
          <p:nvPr/>
        </p:nvSpPr>
        <p:spPr>
          <a:xfrm>
            <a:off x="9756648" y="4800600"/>
            <a:ext cx="1828800" cy="822960"/>
          </a:xfrm>
          <a:prstGeom prst="roundRect">
            <a:avLst>
              <a:gd name="adj" fmla="val 8889"/>
            </a:avLst>
          </a:prstGeom>
          <a:solidFill>
            <a:srgbClr val="0F172A">
              <a:alpha val="90000"/>
            </a:srgbClr>
          </a:solidFill>
          <a:ln w="12700">
            <a:solidFill>
              <a:srgbClr val="FFFFFF">
                <a:alpha val="12000"/>
              </a:srgbClr>
            </a:solidFill>
            <a:prstDash val="solid"/>
          </a:ln>
        </p:spPr>
      </p:sp>
      <p:sp>
        <p:nvSpPr>
          <p:cNvPr id="19" name="Text 16"/>
          <p:cNvSpPr/>
          <p:nvPr/>
        </p:nvSpPr>
        <p:spPr>
          <a:xfrm>
            <a:off x="9848088" y="4983480"/>
            <a:ext cx="320040" cy="228600"/>
          </a:xfrm>
          <a:prstGeom prst="rect">
            <a:avLst/>
          </a:prstGeom>
          <a:noFill/>
          <a:ln/>
        </p:spPr>
        <p:txBody>
          <a:bodyPr wrap="square" lIns="0" tIns="0" rIns="0" bIns="0" rtlCol="0" anchor="ctr"/>
          <a:lstStyle/>
          <a:p>
            <a:pPr marL="0" indent="0" algn="ctr">
              <a:buNone/>
            </a:pPr>
            <a:r>
              <a:rPr lang="en-US" sz="1400" b="1" dirty="0">
                <a:solidFill>
                  <a:srgbClr val="FBBF24"/>
                </a:solidFill>
              </a:rPr>
              <a:t>5</a:t>
            </a:r>
            <a:endParaRPr lang="en-US" sz="1400" dirty="0"/>
          </a:p>
        </p:txBody>
      </p:sp>
      <p:sp>
        <p:nvSpPr>
          <p:cNvPr id="20" name="Text 17"/>
          <p:cNvSpPr/>
          <p:nvPr/>
        </p:nvSpPr>
        <p:spPr>
          <a:xfrm>
            <a:off x="10195560" y="4919472"/>
            <a:ext cx="1216152" cy="256032"/>
          </a:xfrm>
          <a:prstGeom prst="rect">
            <a:avLst/>
          </a:prstGeom>
          <a:noFill/>
          <a:ln/>
        </p:spPr>
        <p:txBody>
          <a:bodyPr wrap="square" lIns="0" tIns="0" rIns="0" bIns="0" rtlCol="0" anchor="ctr">
            <a:normAutofit/>
          </a:bodyPr>
          <a:lstStyle/>
          <a:p>
            <a:pPr marL="0" indent="0">
              <a:buNone/>
            </a:pPr>
            <a:r>
              <a:rPr lang="en-US" sz="1050" b="1" dirty="0">
                <a:solidFill>
                  <a:srgbClr val="FFFFFF"/>
                </a:solidFill>
              </a:rPr>
              <a:t>Ops sees alerts</a:t>
            </a:r>
            <a:endParaRPr lang="en-US" sz="1050" dirty="0"/>
          </a:p>
        </p:txBody>
      </p:sp>
      <p:sp>
        <p:nvSpPr>
          <p:cNvPr id="21" name="Shape 18"/>
          <p:cNvSpPr/>
          <p:nvPr/>
        </p:nvSpPr>
        <p:spPr>
          <a:xfrm>
            <a:off x="685800" y="1508760"/>
            <a:ext cx="4069080" cy="1143000"/>
          </a:xfrm>
          <a:prstGeom prst="roundRect">
            <a:avLst>
              <a:gd name="adj" fmla="val 6400"/>
            </a:avLst>
          </a:prstGeom>
          <a:solidFill>
            <a:srgbClr val="0F172A">
              <a:alpha val="98000"/>
            </a:srgbClr>
          </a:solidFill>
          <a:ln w="12700">
            <a:solidFill>
              <a:srgbClr val="FFFFFF">
                <a:alpha val="12000"/>
              </a:srgbClr>
            </a:solidFill>
            <a:prstDash val="solid"/>
          </a:ln>
        </p:spPr>
      </p:sp>
      <p:sp>
        <p:nvSpPr>
          <p:cNvPr id="22" name="Text 19"/>
          <p:cNvSpPr/>
          <p:nvPr/>
        </p:nvSpPr>
        <p:spPr>
          <a:xfrm>
            <a:off x="960120" y="1810512"/>
            <a:ext cx="3520440" cy="320040"/>
          </a:xfrm>
          <a:prstGeom prst="rect">
            <a:avLst/>
          </a:prstGeom>
          <a:noFill/>
          <a:ln/>
        </p:spPr>
        <p:txBody>
          <a:bodyPr wrap="square" lIns="0" tIns="0" rIns="0" bIns="0" rtlCol="0" anchor="ctr">
            <a:normAutofit/>
          </a:bodyPr>
          <a:lstStyle/>
          <a:p>
            <a:pPr marL="0" indent="0">
              <a:buNone/>
            </a:pPr>
            <a:r>
              <a:rPr lang="en-US" sz="1900" b="1" dirty="0">
                <a:solidFill>
                  <a:srgbClr val="FFFFFF"/>
                </a:solidFill>
              </a:rPr>
              <a:t>An order platform cannot wait until night to process data.</a:t>
            </a:r>
            <a:endParaRPr lang="en-US" sz="1900" dirty="0"/>
          </a:p>
        </p:txBody>
      </p:sp>
      <p:sp>
        <p:nvSpPr>
          <p:cNvPr id="24" name="Text 20"/>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Where does streaming data come from?</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Many systems can be event producers</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pic>
        <p:nvPicPr>
          <p:cNvPr id="5" name="Image 0" descr="/mnt/data/wide_colorful_3d_vector_illustration_style_scene.png"/>
          <p:cNvPicPr>
            <a:picLocks noChangeAspect="1"/>
          </p:cNvPicPr>
          <p:nvPr/>
        </p:nvPicPr>
        <p:blipFill>
          <a:blip r:embed="rId3"/>
          <a:srcRect l="16768" r="16768"/>
          <a:stretch/>
        </p:blipFill>
        <p:spPr>
          <a:xfrm>
            <a:off x="411480" y="1417320"/>
            <a:ext cx="5669280" cy="4800600"/>
          </a:xfrm>
          <a:prstGeom prst="rect">
            <a:avLst/>
          </a:prstGeom>
        </p:spPr>
      </p:pic>
      <p:sp>
        <p:nvSpPr>
          <p:cNvPr id="6" name="Shape 3"/>
          <p:cNvSpPr/>
          <p:nvPr/>
        </p:nvSpPr>
        <p:spPr>
          <a:xfrm>
            <a:off x="411480" y="1417320"/>
            <a:ext cx="5669280" cy="4800600"/>
          </a:xfrm>
          <a:prstGeom prst="roundRect">
            <a:avLst>
              <a:gd name="adj" fmla="val 1524"/>
            </a:avLst>
          </a:prstGeom>
          <a:solidFill>
            <a:srgbClr val="FFFFFF">
              <a:alpha val="0"/>
            </a:srgbClr>
          </a:solidFill>
          <a:ln w="15240">
            <a:solidFill>
              <a:srgbClr val="FFFFFF">
                <a:alpha val="25000"/>
              </a:srgbClr>
            </a:solidFill>
            <a:prstDash val="solid"/>
          </a:ln>
        </p:spPr>
      </p:sp>
      <p:sp>
        <p:nvSpPr>
          <p:cNvPr id="7" name="Shape 4"/>
          <p:cNvSpPr/>
          <p:nvPr/>
        </p:nvSpPr>
        <p:spPr>
          <a:xfrm>
            <a:off x="6446520" y="1234440"/>
            <a:ext cx="4892040" cy="713232"/>
          </a:xfrm>
          <a:prstGeom prst="roundRect">
            <a:avLst>
              <a:gd name="adj" fmla="val 10256"/>
            </a:avLst>
          </a:prstGeom>
          <a:solidFill>
            <a:srgbClr val="DBEAFE"/>
          </a:solidFill>
          <a:ln w="12700">
            <a:solidFill>
              <a:srgbClr val="FFFFFF">
                <a:alpha val="12000"/>
              </a:srgbClr>
            </a:solidFill>
            <a:prstDash val="solid"/>
          </a:ln>
        </p:spPr>
      </p:sp>
      <p:sp>
        <p:nvSpPr>
          <p:cNvPr id="8" name="Text 5"/>
          <p:cNvSpPr/>
          <p:nvPr/>
        </p:nvSpPr>
        <p:spPr>
          <a:xfrm>
            <a:off x="6693408" y="1426464"/>
            <a:ext cx="1920240" cy="219456"/>
          </a:xfrm>
          <a:prstGeom prst="rect">
            <a:avLst/>
          </a:prstGeom>
          <a:noFill/>
          <a:ln/>
        </p:spPr>
        <p:txBody>
          <a:bodyPr wrap="square" lIns="0" tIns="0" rIns="0" bIns="0" rtlCol="0" anchor="ctr"/>
          <a:lstStyle/>
          <a:p>
            <a:pPr marL="0" indent="0">
              <a:buNone/>
            </a:pPr>
            <a:r>
              <a:rPr lang="en-US" sz="1500" b="1" dirty="0">
                <a:solidFill>
                  <a:srgbClr val="172033"/>
                </a:solidFill>
              </a:rPr>
              <a:t>📱 Mobile apps</a:t>
            </a:r>
            <a:endParaRPr lang="en-US" sz="1500" dirty="0"/>
          </a:p>
        </p:txBody>
      </p:sp>
      <p:sp>
        <p:nvSpPr>
          <p:cNvPr id="9" name="Text 6"/>
          <p:cNvSpPr/>
          <p:nvPr/>
        </p:nvSpPr>
        <p:spPr>
          <a:xfrm>
            <a:off x="8732520" y="1444752"/>
            <a:ext cx="2331720" cy="201168"/>
          </a:xfrm>
          <a:prstGeom prst="rect">
            <a:avLst/>
          </a:prstGeom>
          <a:noFill/>
          <a:ln/>
        </p:spPr>
        <p:txBody>
          <a:bodyPr wrap="square" lIns="0" tIns="0" rIns="0" bIns="0" rtlCol="0" anchor="ctr">
            <a:normAutofit/>
          </a:bodyPr>
          <a:lstStyle/>
          <a:p>
            <a:pPr marL="0" indent="0">
              <a:buNone/>
            </a:pPr>
            <a:r>
              <a:rPr lang="en-US" sz="1150" dirty="0">
                <a:solidFill>
                  <a:srgbClr val="475569"/>
                </a:solidFill>
              </a:rPr>
              <a:t>orders, clicks, locations</a:t>
            </a:r>
            <a:endParaRPr lang="en-US" sz="1150" dirty="0"/>
          </a:p>
        </p:txBody>
      </p:sp>
      <p:sp>
        <p:nvSpPr>
          <p:cNvPr id="10" name="Shape 7"/>
          <p:cNvSpPr/>
          <p:nvPr/>
        </p:nvSpPr>
        <p:spPr>
          <a:xfrm>
            <a:off x="6446520" y="2221992"/>
            <a:ext cx="4892040" cy="713232"/>
          </a:xfrm>
          <a:prstGeom prst="roundRect">
            <a:avLst>
              <a:gd name="adj" fmla="val 10256"/>
            </a:avLst>
          </a:prstGeom>
          <a:solidFill>
            <a:srgbClr val="EDE9FE"/>
          </a:solidFill>
          <a:ln w="12700">
            <a:solidFill>
              <a:srgbClr val="FFFFFF">
                <a:alpha val="12000"/>
              </a:srgbClr>
            </a:solidFill>
            <a:prstDash val="solid"/>
          </a:ln>
        </p:spPr>
      </p:sp>
      <p:sp>
        <p:nvSpPr>
          <p:cNvPr id="11" name="Text 8"/>
          <p:cNvSpPr/>
          <p:nvPr/>
        </p:nvSpPr>
        <p:spPr>
          <a:xfrm>
            <a:off x="6693408" y="2414016"/>
            <a:ext cx="1920240" cy="219456"/>
          </a:xfrm>
          <a:prstGeom prst="rect">
            <a:avLst/>
          </a:prstGeom>
          <a:noFill/>
          <a:ln/>
        </p:spPr>
        <p:txBody>
          <a:bodyPr wrap="square" lIns="0" tIns="0" rIns="0" bIns="0" rtlCol="0" anchor="ctr"/>
          <a:lstStyle/>
          <a:p>
            <a:pPr marL="0" indent="0">
              <a:buNone/>
            </a:pPr>
            <a:r>
              <a:rPr lang="en-US" sz="1500" b="1" dirty="0">
                <a:solidFill>
                  <a:srgbClr val="172033"/>
                </a:solidFill>
              </a:rPr>
              <a:t>🌐 Websites &amp; APIs</a:t>
            </a:r>
            <a:endParaRPr lang="en-US" sz="1500" dirty="0"/>
          </a:p>
        </p:txBody>
      </p:sp>
      <p:sp>
        <p:nvSpPr>
          <p:cNvPr id="12" name="Text 9"/>
          <p:cNvSpPr/>
          <p:nvPr/>
        </p:nvSpPr>
        <p:spPr>
          <a:xfrm>
            <a:off x="8732520" y="2432304"/>
            <a:ext cx="2331720" cy="201168"/>
          </a:xfrm>
          <a:prstGeom prst="rect">
            <a:avLst/>
          </a:prstGeom>
          <a:noFill/>
          <a:ln/>
        </p:spPr>
        <p:txBody>
          <a:bodyPr wrap="square" lIns="0" tIns="0" rIns="0" bIns="0" rtlCol="0" anchor="ctr">
            <a:normAutofit/>
          </a:bodyPr>
          <a:lstStyle/>
          <a:p>
            <a:pPr marL="0" indent="0">
              <a:buNone/>
            </a:pPr>
            <a:r>
              <a:rPr lang="en-US" sz="1150" dirty="0">
                <a:solidFill>
                  <a:srgbClr val="475569"/>
                </a:solidFill>
              </a:rPr>
              <a:t>page views, transactions</a:t>
            </a:r>
            <a:endParaRPr lang="en-US" sz="1150" dirty="0"/>
          </a:p>
        </p:txBody>
      </p:sp>
      <p:sp>
        <p:nvSpPr>
          <p:cNvPr id="13" name="Shape 10"/>
          <p:cNvSpPr/>
          <p:nvPr/>
        </p:nvSpPr>
        <p:spPr>
          <a:xfrm>
            <a:off x="6446520" y="3209544"/>
            <a:ext cx="4892040" cy="713232"/>
          </a:xfrm>
          <a:prstGeom prst="roundRect">
            <a:avLst>
              <a:gd name="adj" fmla="val 10256"/>
            </a:avLst>
          </a:prstGeom>
          <a:solidFill>
            <a:srgbClr val="DCFCE7"/>
          </a:solidFill>
          <a:ln w="12700">
            <a:solidFill>
              <a:srgbClr val="FFFFFF">
                <a:alpha val="12000"/>
              </a:srgbClr>
            </a:solidFill>
            <a:prstDash val="solid"/>
          </a:ln>
        </p:spPr>
      </p:sp>
      <p:sp>
        <p:nvSpPr>
          <p:cNvPr id="14" name="Text 11"/>
          <p:cNvSpPr/>
          <p:nvPr/>
        </p:nvSpPr>
        <p:spPr>
          <a:xfrm>
            <a:off x="6693408" y="3401568"/>
            <a:ext cx="1920240" cy="219456"/>
          </a:xfrm>
          <a:prstGeom prst="rect">
            <a:avLst/>
          </a:prstGeom>
          <a:noFill/>
          <a:ln/>
        </p:spPr>
        <p:txBody>
          <a:bodyPr wrap="square" lIns="0" tIns="0" rIns="0" bIns="0" rtlCol="0" anchor="ctr"/>
          <a:lstStyle/>
          <a:p>
            <a:pPr marL="0" indent="0">
              <a:buNone/>
            </a:pPr>
            <a:r>
              <a:rPr lang="en-US" sz="1500" b="1" dirty="0">
                <a:solidFill>
                  <a:srgbClr val="172033"/>
                </a:solidFill>
              </a:rPr>
              <a:t>🚗 IoT / GPS devices</a:t>
            </a:r>
            <a:endParaRPr lang="en-US" sz="1500" dirty="0"/>
          </a:p>
        </p:txBody>
      </p:sp>
      <p:sp>
        <p:nvSpPr>
          <p:cNvPr id="15" name="Text 12"/>
          <p:cNvSpPr/>
          <p:nvPr/>
        </p:nvSpPr>
        <p:spPr>
          <a:xfrm>
            <a:off x="8732520" y="3419856"/>
            <a:ext cx="2331720" cy="201168"/>
          </a:xfrm>
          <a:prstGeom prst="rect">
            <a:avLst/>
          </a:prstGeom>
          <a:noFill/>
          <a:ln/>
        </p:spPr>
        <p:txBody>
          <a:bodyPr wrap="square" lIns="0" tIns="0" rIns="0" bIns="0" rtlCol="0" anchor="ctr">
            <a:normAutofit/>
          </a:bodyPr>
          <a:lstStyle/>
          <a:p>
            <a:pPr marL="0" indent="0">
              <a:buNone/>
            </a:pPr>
            <a:r>
              <a:rPr lang="en-US" sz="1150" dirty="0">
                <a:solidFill>
                  <a:srgbClr val="475569"/>
                </a:solidFill>
              </a:rPr>
              <a:t>sensor readings, movement</a:t>
            </a:r>
            <a:endParaRPr lang="en-US" sz="1150" dirty="0"/>
          </a:p>
        </p:txBody>
      </p:sp>
      <p:sp>
        <p:nvSpPr>
          <p:cNvPr id="16" name="Shape 13"/>
          <p:cNvSpPr/>
          <p:nvPr/>
        </p:nvSpPr>
        <p:spPr>
          <a:xfrm>
            <a:off x="6446520" y="4197096"/>
            <a:ext cx="4892040" cy="713232"/>
          </a:xfrm>
          <a:prstGeom prst="roundRect">
            <a:avLst>
              <a:gd name="adj" fmla="val 10256"/>
            </a:avLst>
          </a:prstGeom>
          <a:solidFill>
            <a:srgbClr val="FFEDD5"/>
          </a:solidFill>
          <a:ln w="12700">
            <a:solidFill>
              <a:srgbClr val="FFFFFF">
                <a:alpha val="12000"/>
              </a:srgbClr>
            </a:solidFill>
            <a:prstDash val="solid"/>
          </a:ln>
        </p:spPr>
      </p:sp>
      <p:sp>
        <p:nvSpPr>
          <p:cNvPr id="17" name="Text 14"/>
          <p:cNvSpPr/>
          <p:nvPr/>
        </p:nvSpPr>
        <p:spPr>
          <a:xfrm>
            <a:off x="6693408" y="4389120"/>
            <a:ext cx="1920240" cy="219456"/>
          </a:xfrm>
          <a:prstGeom prst="rect">
            <a:avLst/>
          </a:prstGeom>
          <a:noFill/>
          <a:ln/>
        </p:spPr>
        <p:txBody>
          <a:bodyPr wrap="square" lIns="0" tIns="0" rIns="0" bIns="0" rtlCol="0" anchor="ctr"/>
          <a:lstStyle/>
          <a:p>
            <a:pPr marL="0" indent="0">
              <a:buNone/>
            </a:pPr>
            <a:r>
              <a:rPr lang="en-US" sz="1500" b="1" dirty="0">
                <a:solidFill>
                  <a:srgbClr val="172033"/>
                </a:solidFill>
              </a:rPr>
              <a:t>🧾 Databases</a:t>
            </a:r>
            <a:endParaRPr lang="en-US" sz="1500" dirty="0"/>
          </a:p>
        </p:txBody>
      </p:sp>
      <p:sp>
        <p:nvSpPr>
          <p:cNvPr id="18" name="Text 15"/>
          <p:cNvSpPr/>
          <p:nvPr/>
        </p:nvSpPr>
        <p:spPr>
          <a:xfrm>
            <a:off x="8732520" y="4407408"/>
            <a:ext cx="2331720" cy="201168"/>
          </a:xfrm>
          <a:prstGeom prst="rect">
            <a:avLst/>
          </a:prstGeom>
          <a:noFill/>
          <a:ln/>
        </p:spPr>
        <p:txBody>
          <a:bodyPr wrap="square" lIns="0" tIns="0" rIns="0" bIns="0" rtlCol="0" anchor="ctr">
            <a:normAutofit/>
          </a:bodyPr>
          <a:lstStyle/>
          <a:p>
            <a:pPr marL="0" indent="0">
              <a:buNone/>
            </a:pPr>
            <a:r>
              <a:rPr lang="en-US" sz="1150" dirty="0">
                <a:solidFill>
                  <a:srgbClr val="475569"/>
                </a:solidFill>
              </a:rPr>
              <a:t>CDC change events</a:t>
            </a:r>
            <a:endParaRPr lang="en-US" sz="1150" dirty="0"/>
          </a:p>
        </p:txBody>
      </p:sp>
      <p:sp>
        <p:nvSpPr>
          <p:cNvPr id="19" name="Shape 16"/>
          <p:cNvSpPr/>
          <p:nvPr/>
        </p:nvSpPr>
        <p:spPr>
          <a:xfrm>
            <a:off x="6446520" y="5184648"/>
            <a:ext cx="4892040" cy="713232"/>
          </a:xfrm>
          <a:prstGeom prst="roundRect">
            <a:avLst>
              <a:gd name="adj" fmla="val 10256"/>
            </a:avLst>
          </a:prstGeom>
          <a:solidFill>
            <a:srgbClr val="FCE7F3"/>
          </a:solidFill>
          <a:ln w="12700">
            <a:solidFill>
              <a:srgbClr val="FFFFFF">
                <a:alpha val="12000"/>
              </a:srgbClr>
            </a:solidFill>
            <a:prstDash val="solid"/>
          </a:ln>
        </p:spPr>
      </p:sp>
      <p:sp>
        <p:nvSpPr>
          <p:cNvPr id="20" name="Text 17"/>
          <p:cNvSpPr/>
          <p:nvPr/>
        </p:nvSpPr>
        <p:spPr>
          <a:xfrm>
            <a:off x="6693408" y="5376672"/>
            <a:ext cx="1920240" cy="219456"/>
          </a:xfrm>
          <a:prstGeom prst="rect">
            <a:avLst/>
          </a:prstGeom>
          <a:noFill/>
          <a:ln/>
        </p:spPr>
        <p:txBody>
          <a:bodyPr wrap="square" lIns="0" tIns="0" rIns="0" bIns="0" rtlCol="0" anchor="ctr"/>
          <a:lstStyle/>
          <a:p>
            <a:pPr marL="0" indent="0">
              <a:buNone/>
            </a:pPr>
            <a:r>
              <a:rPr lang="en-US" sz="1500" b="1" dirty="0">
                <a:solidFill>
                  <a:srgbClr val="172033"/>
                </a:solidFill>
              </a:rPr>
              <a:t>🛡️ Logs &amp; security</a:t>
            </a:r>
            <a:endParaRPr lang="en-US" sz="1500" dirty="0"/>
          </a:p>
        </p:txBody>
      </p:sp>
      <p:sp>
        <p:nvSpPr>
          <p:cNvPr id="21" name="Text 18"/>
          <p:cNvSpPr/>
          <p:nvPr/>
        </p:nvSpPr>
        <p:spPr>
          <a:xfrm>
            <a:off x="8732520" y="5394960"/>
            <a:ext cx="2331720" cy="201168"/>
          </a:xfrm>
          <a:prstGeom prst="rect">
            <a:avLst/>
          </a:prstGeom>
          <a:noFill/>
          <a:ln/>
        </p:spPr>
        <p:txBody>
          <a:bodyPr wrap="square" lIns="0" tIns="0" rIns="0" bIns="0" rtlCol="0" anchor="ctr">
            <a:normAutofit/>
          </a:bodyPr>
          <a:lstStyle/>
          <a:p>
            <a:pPr marL="0" indent="0">
              <a:buNone/>
            </a:pPr>
            <a:r>
              <a:rPr lang="en-US" sz="1150" dirty="0">
                <a:solidFill>
                  <a:srgbClr val="475569"/>
                </a:solidFill>
              </a:rPr>
              <a:t>errors, login attempts</a:t>
            </a:r>
            <a:endParaRPr lang="en-US" sz="1150" dirty="0"/>
          </a:p>
        </p:txBody>
      </p:sp>
      <p:sp>
        <p:nvSpPr>
          <p:cNvPr id="23" name="Text 1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a_high_detail_futuristic_infographic_diagram_scene.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Streaming architecture</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A practical data engineering pipeline</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685800" y="4709160"/>
            <a:ext cx="1828800" cy="868680"/>
          </a:xfrm>
          <a:prstGeom prst="roundRect">
            <a:avLst>
              <a:gd name="adj" fmla="val 8421"/>
            </a:avLst>
          </a:prstGeom>
          <a:solidFill>
            <a:srgbClr val="081224">
              <a:alpha val="95000"/>
            </a:srgbClr>
          </a:solidFill>
          <a:ln w="12700">
            <a:solidFill>
              <a:srgbClr val="FFFFFF">
                <a:alpha val="12000"/>
              </a:srgbClr>
            </a:solidFill>
            <a:prstDash val="solid"/>
          </a:ln>
        </p:spPr>
      </p:sp>
      <p:sp>
        <p:nvSpPr>
          <p:cNvPr id="7" name="Text 4"/>
          <p:cNvSpPr/>
          <p:nvPr/>
        </p:nvSpPr>
        <p:spPr>
          <a:xfrm>
            <a:off x="832104" y="4919472"/>
            <a:ext cx="1508760" cy="219456"/>
          </a:xfrm>
          <a:prstGeom prst="rect">
            <a:avLst/>
          </a:prstGeom>
          <a:noFill/>
          <a:ln/>
        </p:spPr>
        <p:txBody>
          <a:bodyPr wrap="square" lIns="0" tIns="0" rIns="0" bIns="0" rtlCol="0" anchor="ctr"/>
          <a:lstStyle/>
          <a:p>
            <a:pPr marL="0" indent="0" algn="ctr">
              <a:buNone/>
            </a:pPr>
            <a:r>
              <a:rPr lang="en-US" sz="1500" b="1" dirty="0">
                <a:solidFill>
                  <a:srgbClr val="FFFFFF"/>
                </a:solidFill>
              </a:rPr>
              <a:t>Producer</a:t>
            </a:r>
            <a:endParaRPr lang="en-US" sz="1500" dirty="0"/>
          </a:p>
        </p:txBody>
      </p:sp>
      <p:sp>
        <p:nvSpPr>
          <p:cNvPr id="8" name="Text 5"/>
          <p:cNvSpPr/>
          <p:nvPr/>
        </p:nvSpPr>
        <p:spPr>
          <a:xfrm>
            <a:off x="841248" y="5257800"/>
            <a:ext cx="1508760" cy="201168"/>
          </a:xfrm>
          <a:prstGeom prst="rect">
            <a:avLst/>
          </a:prstGeom>
          <a:noFill/>
          <a:ln/>
        </p:spPr>
        <p:txBody>
          <a:bodyPr wrap="square" lIns="0" tIns="0" rIns="0" bIns="0" rtlCol="0" anchor="ctr">
            <a:normAutofit/>
          </a:bodyPr>
          <a:lstStyle/>
          <a:p>
            <a:pPr marL="0" indent="0" algn="ctr">
              <a:buNone/>
            </a:pPr>
            <a:r>
              <a:rPr lang="en-US" sz="950" dirty="0">
                <a:solidFill>
                  <a:srgbClr val="BFDBFE"/>
                </a:solidFill>
              </a:rPr>
              <a:t>Apps, DBs, sensors</a:t>
            </a:r>
            <a:endParaRPr lang="en-US" sz="950" dirty="0"/>
          </a:p>
        </p:txBody>
      </p:sp>
      <p:sp>
        <p:nvSpPr>
          <p:cNvPr id="9" name="Text 6"/>
          <p:cNvSpPr/>
          <p:nvPr/>
        </p:nvSpPr>
        <p:spPr>
          <a:xfrm>
            <a:off x="2587752" y="4965192"/>
            <a:ext cx="228600" cy="228600"/>
          </a:xfrm>
          <a:prstGeom prst="rect">
            <a:avLst/>
          </a:prstGeom>
          <a:noFill/>
          <a:ln/>
        </p:spPr>
        <p:txBody>
          <a:bodyPr wrap="square" lIns="0" tIns="0" rIns="0" bIns="0" rtlCol="0" anchor="ctr"/>
          <a:lstStyle/>
          <a:p>
            <a:pPr marL="0" indent="0">
              <a:buNone/>
            </a:pPr>
            <a:r>
              <a:rPr lang="en-US" sz="2200" b="1" dirty="0">
                <a:solidFill>
                  <a:srgbClr val="FBBF24"/>
                </a:solidFill>
              </a:rPr>
              <a:t>→</a:t>
            </a:r>
            <a:endParaRPr lang="en-US" sz="2200" dirty="0"/>
          </a:p>
        </p:txBody>
      </p:sp>
      <p:sp>
        <p:nvSpPr>
          <p:cNvPr id="10" name="Shape 7"/>
          <p:cNvSpPr/>
          <p:nvPr/>
        </p:nvSpPr>
        <p:spPr>
          <a:xfrm>
            <a:off x="2953512" y="4709160"/>
            <a:ext cx="1828800" cy="868680"/>
          </a:xfrm>
          <a:prstGeom prst="roundRect">
            <a:avLst>
              <a:gd name="adj" fmla="val 8421"/>
            </a:avLst>
          </a:prstGeom>
          <a:solidFill>
            <a:srgbClr val="081224">
              <a:alpha val="95000"/>
            </a:srgbClr>
          </a:solidFill>
          <a:ln w="12700">
            <a:solidFill>
              <a:srgbClr val="FFFFFF">
                <a:alpha val="12000"/>
              </a:srgbClr>
            </a:solidFill>
            <a:prstDash val="solid"/>
          </a:ln>
        </p:spPr>
      </p:sp>
      <p:sp>
        <p:nvSpPr>
          <p:cNvPr id="11" name="Text 8"/>
          <p:cNvSpPr/>
          <p:nvPr/>
        </p:nvSpPr>
        <p:spPr>
          <a:xfrm>
            <a:off x="3099816" y="4919472"/>
            <a:ext cx="1508760" cy="219456"/>
          </a:xfrm>
          <a:prstGeom prst="rect">
            <a:avLst/>
          </a:prstGeom>
          <a:noFill/>
          <a:ln/>
        </p:spPr>
        <p:txBody>
          <a:bodyPr wrap="square" lIns="0" tIns="0" rIns="0" bIns="0" rtlCol="0" anchor="ctr"/>
          <a:lstStyle/>
          <a:p>
            <a:pPr marL="0" indent="0" algn="ctr">
              <a:buNone/>
            </a:pPr>
            <a:r>
              <a:rPr lang="en-US" sz="1500" b="1" dirty="0">
                <a:solidFill>
                  <a:srgbClr val="FFFFFF"/>
                </a:solidFill>
              </a:rPr>
              <a:t>Broker</a:t>
            </a:r>
            <a:endParaRPr lang="en-US" sz="1500" dirty="0"/>
          </a:p>
        </p:txBody>
      </p:sp>
      <p:sp>
        <p:nvSpPr>
          <p:cNvPr id="12" name="Text 9"/>
          <p:cNvSpPr/>
          <p:nvPr/>
        </p:nvSpPr>
        <p:spPr>
          <a:xfrm>
            <a:off x="3108960" y="5257800"/>
            <a:ext cx="1508760" cy="201168"/>
          </a:xfrm>
          <a:prstGeom prst="rect">
            <a:avLst/>
          </a:prstGeom>
          <a:noFill/>
          <a:ln/>
        </p:spPr>
        <p:txBody>
          <a:bodyPr wrap="square" lIns="0" tIns="0" rIns="0" bIns="0" rtlCol="0" anchor="ctr">
            <a:normAutofit/>
          </a:bodyPr>
          <a:lstStyle/>
          <a:p>
            <a:pPr marL="0" indent="0" algn="ctr">
              <a:buNone/>
            </a:pPr>
            <a:r>
              <a:rPr lang="en-US" sz="950" dirty="0">
                <a:solidFill>
                  <a:srgbClr val="BFDBFE"/>
                </a:solidFill>
              </a:rPr>
              <a:t>Kafka / Event Hubs</a:t>
            </a:r>
            <a:endParaRPr lang="en-US" sz="950" dirty="0"/>
          </a:p>
        </p:txBody>
      </p:sp>
      <p:sp>
        <p:nvSpPr>
          <p:cNvPr id="13" name="Text 10"/>
          <p:cNvSpPr/>
          <p:nvPr/>
        </p:nvSpPr>
        <p:spPr>
          <a:xfrm>
            <a:off x="4855464" y="4965192"/>
            <a:ext cx="228600" cy="228600"/>
          </a:xfrm>
          <a:prstGeom prst="rect">
            <a:avLst/>
          </a:prstGeom>
          <a:noFill/>
          <a:ln/>
        </p:spPr>
        <p:txBody>
          <a:bodyPr wrap="square" lIns="0" tIns="0" rIns="0" bIns="0" rtlCol="0" anchor="ctr"/>
          <a:lstStyle/>
          <a:p>
            <a:pPr marL="0" indent="0">
              <a:buNone/>
            </a:pPr>
            <a:r>
              <a:rPr lang="en-US" sz="2200" b="1" dirty="0">
                <a:solidFill>
                  <a:srgbClr val="FBBF24"/>
                </a:solidFill>
              </a:rPr>
              <a:t>→</a:t>
            </a:r>
            <a:endParaRPr lang="en-US" sz="2200" dirty="0"/>
          </a:p>
        </p:txBody>
      </p:sp>
      <p:sp>
        <p:nvSpPr>
          <p:cNvPr id="14" name="Shape 11"/>
          <p:cNvSpPr/>
          <p:nvPr/>
        </p:nvSpPr>
        <p:spPr>
          <a:xfrm>
            <a:off x="5221224" y="4709160"/>
            <a:ext cx="1828800" cy="868680"/>
          </a:xfrm>
          <a:prstGeom prst="roundRect">
            <a:avLst>
              <a:gd name="adj" fmla="val 8421"/>
            </a:avLst>
          </a:prstGeom>
          <a:solidFill>
            <a:srgbClr val="081224">
              <a:alpha val="95000"/>
            </a:srgbClr>
          </a:solidFill>
          <a:ln w="12700">
            <a:solidFill>
              <a:srgbClr val="FFFFFF">
                <a:alpha val="12000"/>
              </a:srgbClr>
            </a:solidFill>
            <a:prstDash val="solid"/>
          </a:ln>
        </p:spPr>
      </p:sp>
      <p:sp>
        <p:nvSpPr>
          <p:cNvPr id="15" name="Text 12"/>
          <p:cNvSpPr/>
          <p:nvPr/>
        </p:nvSpPr>
        <p:spPr>
          <a:xfrm>
            <a:off x="5367528" y="4919472"/>
            <a:ext cx="1508760" cy="219456"/>
          </a:xfrm>
          <a:prstGeom prst="rect">
            <a:avLst/>
          </a:prstGeom>
          <a:noFill/>
          <a:ln/>
        </p:spPr>
        <p:txBody>
          <a:bodyPr wrap="square" lIns="0" tIns="0" rIns="0" bIns="0" rtlCol="0" anchor="ctr"/>
          <a:lstStyle/>
          <a:p>
            <a:pPr marL="0" indent="0" algn="ctr">
              <a:buNone/>
            </a:pPr>
            <a:r>
              <a:rPr lang="en-US" sz="1500" b="1" dirty="0">
                <a:solidFill>
                  <a:srgbClr val="FFFFFF"/>
                </a:solidFill>
              </a:rPr>
              <a:t>Processor</a:t>
            </a:r>
            <a:endParaRPr lang="en-US" sz="1500" dirty="0"/>
          </a:p>
        </p:txBody>
      </p:sp>
      <p:sp>
        <p:nvSpPr>
          <p:cNvPr id="16" name="Text 13"/>
          <p:cNvSpPr/>
          <p:nvPr/>
        </p:nvSpPr>
        <p:spPr>
          <a:xfrm>
            <a:off x="5376672" y="5257800"/>
            <a:ext cx="1508760" cy="201168"/>
          </a:xfrm>
          <a:prstGeom prst="rect">
            <a:avLst/>
          </a:prstGeom>
          <a:noFill/>
          <a:ln/>
        </p:spPr>
        <p:txBody>
          <a:bodyPr wrap="square" lIns="0" tIns="0" rIns="0" bIns="0" rtlCol="0" anchor="ctr">
            <a:normAutofit/>
          </a:bodyPr>
          <a:lstStyle/>
          <a:p>
            <a:pPr marL="0" indent="0" algn="ctr">
              <a:buNone/>
            </a:pPr>
            <a:r>
              <a:rPr lang="en-US" sz="950" dirty="0">
                <a:solidFill>
                  <a:srgbClr val="BFDBFE"/>
                </a:solidFill>
              </a:rPr>
              <a:t>Spark / Flink</a:t>
            </a:r>
            <a:endParaRPr lang="en-US" sz="950" dirty="0"/>
          </a:p>
        </p:txBody>
      </p:sp>
      <p:sp>
        <p:nvSpPr>
          <p:cNvPr id="17" name="Text 14"/>
          <p:cNvSpPr/>
          <p:nvPr/>
        </p:nvSpPr>
        <p:spPr>
          <a:xfrm>
            <a:off x="7123176" y="4965192"/>
            <a:ext cx="228600" cy="228600"/>
          </a:xfrm>
          <a:prstGeom prst="rect">
            <a:avLst/>
          </a:prstGeom>
          <a:noFill/>
          <a:ln/>
        </p:spPr>
        <p:txBody>
          <a:bodyPr wrap="square" lIns="0" tIns="0" rIns="0" bIns="0" rtlCol="0" anchor="ctr"/>
          <a:lstStyle/>
          <a:p>
            <a:pPr marL="0" indent="0">
              <a:buNone/>
            </a:pPr>
            <a:r>
              <a:rPr lang="en-US" sz="2200" b="1" dirty="0">
                <a:solidFill>
                  <a:srgbClr val="FBBF24"/>
                </a:solidFill>
              </a:rPr>
              <a:t>→</a:t>
            </a:r>
            <a:endParaRPr lang="en-US" sz="2200" dirty="0"/>
          </a:p>
        </p:txBody>
      </p:sp>
      <p:sp>
        <p:nvSpPr>
          <p:cNvPr id="18" name="Shape 15"/>
          <p:cNvSpPr/>
          <p:nvPr/>
        </p:nvSpPr>
        <p:spPr>
          <a:xfrm>
            <a:off x="7488936" y="4709160"/>
            <a:ext cx="1828800" cy="868680"/>
          </a:xfrm>
          <a:prstGeom prst="roundRect">
            <a:avLst>
              <a:gd name="adj" fmla="val 8421"/>
            </a:avLst>
          </a:prstGeom>
          <a:solidFill>
            <a:srgbClr val="081224">
              <a:alpha val="95000"/>
            </a:srgbClr>
          </a:solidFill>
          <a:ln w="12700">
            <a:solidFill>
              <a:srgbClr val="FFFFFF">
                <a:alpha val="12000"/>
              </a:srgbClr>
            </a:solidFill>
            <a:prstDash val="solid"/>
          </a:ln>
        </p:spPr>
      </p:sp>
      <p:sp>
        <p:nvSpPr>
          <p:cNvPr id="19" name="Text 16"/>
          <p:cNvSpPr/>
          <p:nvPr/>
        </p:nvSpPr>
        <p:spPr>
          <a:xfrm>
            <a:off x="7635240" y="4919472"/>
            <a:ext cx="1508760" cy="219456"/>
          </a:xfrm>
          <a:prstGeom prst="rect">
            <a:avLst/>
          </a:prstGeom>
          <a:noFill/>
          <a:ln/>
        </p:spPr>
        <p:txBody>
          <a:bodyPr wrap="square" lIns="0" tIns="0" rIns="0" bIns="0" rtlCol="0" anchor="ctr"/>
          <a:lstStyle/>
          <a:p>
            <a:pPr marL="0" indent="0" algn="ctr">
              <a:buNone/>
            </a:pPr>
            <a:r>
              <a:rPr lang="en-US" sz="1500" b="1" dirty="0">
                <a:solidFill>
                  <a:srgbClr val="FFFFFF"/>
                </a:solidFill>
              </a:rPr>
              <a:t>Sink</a:t>
            </a:r>
            <a:endParaRPr lang="en-US" sz="1500" dirty="0"/>
          </a:p>
        </p:txBody>
      </p:sp>
      <p:sp>
        <p:nvSpPr>
          <p:cNvPr id="20" name="Text 17"/>
          <p:cNvSpPr/>
          <p:nvPr/>
        </p:nvSpPr>
        <p:spPr>
          <a:xfrm>
            <a:off x="7644384" y="5257800"/>
            <a:ext cx="1508760" cy="201168"/>
          </a:xfrm>
          <a:prstGeom prst="rect">
            <a:avLst/>
          </a:prstGeom>
          <a:noFill/>
          <a:ln/>
        </p:spPr>
        <p:txBody>
          <a:bodyPr wrap="square" lIns="0" tIns="0" rIns="0" bIns="0" rtlCol="0" anchor="ctr">
            <a:normAutofit/>
          </a:bodyPr>
          <a:lstStyle/>
          <a:p>
            <a:pPr marL="0" indent="0" algn="ctr">
              <a:buNone/>
            </a:pPr>
            <a:r>
              <a:rPr lang="en-US" sz="950" dirty="0">
                <a:solidFill>
                  <a:srgbClr val="BFDBFE"/>
                </a:solidFill>
              </a:rPr>
              <a:t>Lakehouse / DB</a:t>
            </a:r>
            <a:endParaRPr lang="en-US" sz="950" dirty="0"/>
          </a:p>
        </p:txBody>
      </p:sp>
      <p:sp>
        <p:nvSpPr>
          <p:cNvPr id="21" name="Text 18"/>
          <p:cNvSpPr/>
          <p:nvPr/>
        </p:nvSpPr>
        <p:spPr>
          <a:xfrm>
            <a:off x="9390888" y="4965192"/>
            <a:ext cx="228600" cy="228600"/>
          </a:xfrm>
          <a:prstGeom prst="rect">
            <a:avLst/>
          </a:prstGeom>
          <a:noFill/>
          <a:ln/>
        </p:spPr>
        <p:txBody>
          <a:bodyPr wrap="square" lIns="0" tIns="0" rIns="0" bIns="0" rtlCol="0" anchor="ctr"/>
          <a:lstStyle/>
          <a:p>
            <a:pPr marL="0" indent="0">
              <a:buNone/>
            </a:pPr>
            <a:r>
              <a:rPr lang="en-US" sz="2200" b="1" dirty="0">
                <a:solidFill>
                  <a:srgbClr val="FBBF24"/>
                </a:solidFill>
              </a:rPr>
              <a:t>→</a:t>
            </a:r>
            <a:endParaRPr lang="en-US" sz="2200" dirty="0"/>
          </a:p>
        </p:txBody>
      </p:sp>
      <p:sp>
        <p:nvSpPr>
          <p:cNvPr id="22" name="Shape 19"/>
          <p:cNvSpPr/>
          <p:nvPr/>
        </p:nvSpPr>
        <p:spPr>
          <a:xfrm>
            <a:off x="9756648" y="4709160"/>
            <a:ext cx="1828800" cy="868680"/>
          </a:xfrm>
          <a:prstGeom prst="roundRect">
            <a:avLst>
              <a:gd name="adj" fmla="val 8421"/>
            </a:avLst>
          </a:prstGeom>
          <a:solidFill>
            <a:srgbClr val="081224">
              <a:alpha val="95000"/>
            </a:srgbClr>
          </a:solidFill>
          <a:ln w="12700">
            <a:solidFill>
              <a:srgbClr val="FFFFFF">
                <a:alpha val="12000"/>
              </a:srgbClr>
            </a:solidFill>
            <a:prstDash val="solid"/>
          </a:ln>
        </p:spPr>
      </p:sp>
      <p:sp>
        <p:nvSpPr>
          <p:cNvPr id="23" name="Text 20"/>
          <p:cNvSpPr/>
          <p:nvPr/>
        </p:nvSpPr>
        <p:spPr>
          <a:xfrm>
            <a:off x="9902952" y="4919472"/>
            <a:ext cx="1508760" cy="219456"/>
          </a:xfrm>
          <a:prstGeom prst="rect">
            <a:avLst/>
          </a:prstGeom>
          <a:noFill/>
          <a:ln/>
        </p:spPr>
        <p:txBody>
          <a:bodyPr wrap="square" lIns="0" tIns="0" rIns="0" bIns="0" rtlCol="0" anchor="ctr"/>
          <a:lstStyle/>
          <a:p>
            <a:pPr marL="0" indent="0" algn="ctr">
              <a:buNone/>
            </a:pPr>
            <a:r>
              <a:rPr lang="en-US" sz="1500" b="1" dirty="0">
                <a:solidFill>
                  <a:srgbClr val="FFFFFF"/>
                </a:solidFill>
              </a:rPr>
              <a:t>Consumer</a:t>
            </a:r>
            <a:endParaRPr lang="en-US" sz="1500" dirty="0"/>
          </a:p>
        </p:txBody>
      </p:sp>
      <p:sp>
        <p:nvSpPr>
          <p:cNvPr id="24" name="Text 21"/>
          <p:cNvSpPr/>
          <p:nvPr/>
        </p:nvSpPr>
        <p:spPr>
          <a:xfrm>
            <a:off x="9912096" y="5257800"/>
            <a:ext cx="1508760" cy="201168"/>
          </a:xfrm>
          <a:prstGeom prst="rect">
            <a:avLst/>
          </a:prstGeom>
          <a:noFill/>
          <a:ln/>
        </p:spPr>
        <p:txBody>
          <a:bodyPr wrap="square" lIns="0" tIns="0" rIns="0" bIns="0" rtlCol="0" anchor="ctr">
            <a:normAutofit/>
          </a:bodyPr>
          <a:lstStyle/>
          <a:p>
            <a:pPr marL="0" indent="0" algn="ctr">
              <a:buNone/>
            </a:pPr>
            <a:r>
              <a:rPr lang="en-US" sz="950" dirty="0">
                <a:solidFill>
                  <a:srgbClr val="BFDBFE"/>
                </a:solidFill>
              </a:rPr>
              <a:t>Dashboards / alerts</a:t>
            </a:r>
            <a:endParaRPr lang="en-US" sz="950" dirty="0"/>
          </a:p>
        </p:txBody>
      </p:sp>
      <p:sp>
        <p:nvSpPr>
          <p:cNvPr id="26" name="Text 22"/>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a_bright_colorful_cartoon_illustration_style_sce.png"/>
          <p:cNvPicPr>
            <a:picLocks noChangeAspect="1"/>
          </p:cNvPicPr>
          <p:nvPr/>
        </p:nvPicPr>
        <p:blipFill>
          <a:blip r:embed="rId3"/>
          <a:srcRect t="25" b="25"/>
          <a:stretch/>
        </p:blipFill>
        <p:spPr>
          <a:xfrm>
            <a:off x="0" y="281492"/>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fontScale="85000" lnSpcReduction="10000"/>
          </a:bodyPr>
          <a:lstStyle/>
          <a:p>
            <a:pPr marL="0" indent="0">
              <a:buNone/>
            </a:pPr>
            <a:r>
              <a:rPr lang="en-US" sz="3100" b="1" dirty="0">
                <a:latin typeface="Aptos Display" pitchFamily="34" charset="0"/>
                <a:ea typeface="Aptos Display" pitchFamily="34" charset="-122"/>
                <a:cs typeface="Aptos Display" pitchFamily="34" charset="-120"/>
              </a:rPr>
              <a:t>Message broker: the traffic controller</a:t>
            </a:r>
            <a:endParaRPr lang="en-US" sz="3100" dirty="0"/>
          </a:p>
        </p:txBody>
      </p:sp>
      <p:sp>
        <p:nvSpPr>
          <p:cNvPr id="4" name="Text 1"/>
          <p:cNvSpPr/>
          <p:nvPr/>
        </p:nvSpPr>
        <p:spPr>
          <a:xfrm>
            <a:off x="4663440" y="776344"/>
            <a:ext cx="5212080" cy="292608"/>
          </a:xfrm>
          <a:prstGeom prst="rect">
            <a:avLst/>
          </a:prstGeom>
          <a:noFill/>
          <a:ln/>
        </p:spPr>
        <p:txBody>
          <a:bodyPr wrap="square" lIns="0" tIns="0" rIns="0" bIns="0" rtlCol="0" anchor="ctr">
            <a:normAutofit/>
          </a:bodyPr>
          <a:lstStyle/>
          <a:p>
            <a:pPr marL="0" indent="0">
              <a:buNone/>
            </a:pPr>
            <a:r>
              <a:rPr lang="en-US" sz="1600" b="1" dirty="0">
                <a:solidFill>
                  <a:schemeClr val="accent6"/>
                </a:solidFill>
              </a:rPr>
              <a:t>Buffers events and allows many consumers</a:t>
            </a:r>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685800" y="1508760"/>
            <a:ext cx="4206240" cy="3383280"/>
          </a:xfrm>
          <a:prstGeom prst="roundRect">
            <a:avLst>
              <a:gd name="adj" fmla="val 2162"/>
            </a:avLst>
          </a:prstGeom>
          <a:solidFill>
            <a:srgbClr val="081224">
              <a:alpha val="95000"/>
            </a:srgbClr>
          </a:solidFill>
          <a:ln w="12700">
            <a:solidFill>
              <a:srgbClr val="FFFFFF">
                <a:alpha val="12000"/>
              </a:srgbClr>
            </a:solidFill>
            <a:prstDash val="solid"/>
          </a:ln>
        </p:spPr>
      </p:sp>
      <p:sp>
        <p:nvSpPr>
          <p:cNvPr id="7" name="Text 4"/>
          <p:cNvSpPr/>
          <p:nvPr/>
        </p:nvSpPr>
        <p:spPr>
          <a:xfrm>
            <a:off x="960120" y="1828800"/>
            <a:ext cx="3611880" cy="274320"/>
          </a:xfrm>
          <a:prstGeom prst="rect">
            <a:avLst/>
          </a:prstGeom>
          <a:noFill/>
          <a:ln/>
        </p:spPr>
        <p:txBody>
          <a:bodyPr wrap="square" lIns="635" tIns="635" rIns="635" bIns="635" rtlCol="0" anchor="ctr">
            <a:normAutofit/>
          </a:bodyPr>
          <a:lstStyle/>
          <a:p>
            <a:pPr marL="0" indent="0">
              <a:buNone/>
            </a:pPr>
            <a:r>
              <a:rPr lang="en-US" sz="1700" dirty="0">
                <a:solidFill>
                  <a:srgbClr val="FFFFFF"/>
                </a:solidFill>
              </a:rPr>
              <a:t>• Receives events from producers</a:t>
            </a:r>
            <a:endParaRPr lang="en-US" sz="1700" dirty="0"/>
          </a:p>
        </p:txBody>
      </p:sp>
      <p:sp>
        <p:nvSpPr>
          <p:cNvPr id="8" name="Text 5"/>
          <p:cNvSpPr/>
          <p:nvPr/>
        </p:nvSpPr>
        <p:spPr>
          <a:xfrm>
            <a:off x="960120" y="2441448"/>
            <a:ext cx="3611880" cy="274320"/>
          </a:xfrm>
          <a:prstGeom prst="rect">
            <a:avLst/>
          </a:prstGeom>
          <a:noFill/>
          <a:ln/>
        </p:spPr>
        <p:txBody>
          <a:bodyPr wrap="square" lIns="635" tIns="635" rIns="635" bIns="635" rtlCol="0" anchor="ctr">
            <a:normAutofit/>
          </a:bodyPr>
          <a:lstStyle/>
          <a:p>
            <a:pPr marL="0" indent="0">
              <a:buNone/>
            </a:pPr>
            <a:r>
              <a:rPr lang="en-US" sz="1700" dirty="0">
                <a:solidFill>
                  <a:srgbClr val="FFFFFF"/>
                </a:solidFill>
              </a:rPr>
              <a:t>• Stores messages safely</a:t>
            </a:r>
            <a:endParaRPr lang="en-US" sz="1700" dirty="0"/>
          </a:p>
        </p:txBody>
      </p:sp>
      <p:sp>
        <p:nvSpPr>
          <p:cNvPr id="9" name="Text 6"/>
          <p:cNvSpPr/>
          <p:nvPr/>
        </p:nvSpPr>
        <p:spPr>
          <a:xfrm>
            <a:off x="960120" y="3054096"/>
            <a:ext cx="3611880" cy="274320"/>
          </a:xfrm>
          <a:prstGeom prst="rect">
            <a:avLst/>
          </a:prstGeom>
          <a:noFill/>
          <a:ln/>
        </p:spPr>
        <p:txBody>
          <a:bodyPr wrap="square" lIns="635" tIns="635" rIns="635" bIns="635" rtlCol="0" anchor="ctr">
            <a:normAutofit/>
          </a:bodyPr>
          <a:lstStyle/>
          <a:p>
            <a:pPr marL="0" indent="0">
              <a:buNone/>
            </a:pPr>
            <a:r>
              <a:rPr lang="en-US" sz="1700" dirty="0">
                <a:solidFill>
                  <a:srgbClr val="FFFFFF"/>
                </a:solidFill>
              </a:rPr>
              <a:t>• Partitions for scale</a:t>
            </a:r>
            <a:endParaRPr lang="en-US" sz="1700" dirty="0"/>
          </a:p>
        </p:txBody>
      </p:sp>
      <p:sp>
        <p:nvSpPr>
          <p:cNvPr id="10" name="Text 7"/>
          <p:cNvSpPr/>
          <p:nvPr/>
        </p:nvSpPr>
        <p:spPr>
          <a:xfrm>
            <a:off x="960120" y="3666744"/>
            <a:ext cx="3611880" cy="274320"/>
          </a:xfrm>
          <a:prstGeom prst="rect">
            <a:avLst/>
          </a:prstGeom>
          <a:noFill/>
          <a:ln/>
        </p:spPr>
        <p:txBody>
          <a:bodyPr wrap="square" lIns="635" tIns="635" rIns="635" bIns="635" rtlCol="0" anchor="ctr">
            <a:normAutofit/>
          </a:bodyPr>
          <a:lstStyle/>
          <a:p>
            <a:pPr marL="0" indent="0">
              <a:buNone/>
            </a:pPr>
            <a:r>
              <a:rPr lang="en-US" sz="1700" dirty="0">
                <a:solidFill>
                  <a:srgbClr val="FFFFFF"/>
                </a:solidFill>
              </a:rPr>
              <a:t>• Lets consumers read at their own pace</a:t>
            </a:r>
            <a:endParaRPr lang="en-US" sz="1700" dirty="0"/>
          </a:p>
        </p:txBody>
      </p:sp>
      <p:sp>
        <p:nvSpPr>
          <p:cNvPr id="11" name="Text 8"/>
          <p:cNvSpPr/>
          <p:nvPr/>
        </p:nvSpPr>
        <p:spPr>
          <a:xfrm>
            <a:off x="960120" y="4526280"/>
            <a:ext cx="3611880" cy="256032"/>
          </a:xfrm>
          <a:prstGeom prst="rect">
            <a:avLst/>
          </a:prstGeom>
          <a:noFill/>
          <a:ln/>
        </p:spPr>
        <p:txBody>
          <a:bodyPr wrap="square" lIns="0" tIns="0" rIns="0" bIns="0" rtlCol="0" anchor="ctr">
            <a:normAutofit/>
          </a:bodyPr>
          <a:lstStyle/>
          <a:p>
            <a:pPr marL="0" indent="0">
              <a:buNone/>
            </a:pPr>
            <a:r>
              <a:rPr lang="en-US" sz="1300" b="1" dirty="0">
                <a:solidFill>
                  <a:srgbClr val="FDE68A"/>
                </a:solidFill>
              </a:rPr>
              <a:t>Common tools: Kafka • Azure Event Hubs • Pub/Sub</a:t>
            </a:r>
            <a:endParaRPr lang="en-US" sz="1300" dirty="0"/>
          </a:p>
        </p:txBody>
      </p:sp>
      <p:sp>
        <p:nvSpPr>
          <p:cNvPr id="13" name="Text 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How streaming becomes fast</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It avoids waiting for a full file or full day</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pic>
        <p:nvPicPr>
          <p:cNvPr id="5" name="Image 0" descr="/mnt/data/wide_colorful_infographic_style_illustration_on_a.png"/>
          <p:cNvPicPr>
            <a:picLocks noChangeAspect="1"/>
          </p:cNvPicPr>
          <p:nvPr/>
        </p:nvPicPr>
        <p:blipFill>
          <a:blip r:embed="rId3"/>
          <a:srcRect l="18912" r="18912"/>
          <a:stretch/>
        </p:blipFill>
        <p:spPr>
          <a:xfrm>
            <a:off x="6263640" y="1417320"/>
            <a:ext cx="5303520" cy="4800600"/>
          </a:xfrm>
          <a:prstGeom prst="rect">
            <a:avLst/>
          </a:prstGeom>
        </p:spPr>
      </p:pic>
      <p:sp>
        <p:nvSpPr>
          <p:cNvPr id="6" name="Shape 3"/>
          <p:cNvSpPr/>
          <p:nvPr/>
        </p:nvSpPr>
        <p:spPr>
          <a:xfrm>
            <a:off x="6263640" y="1417320"/>
            <a:ext cx="5303520" cy="4800600"/>
          </a:xfrm>
          <a:prstGeom prst="roundRect">
            <a:avLst>
              <a:gd name="adj" fmla="val 1524"/>
            </a:avLst>
          </a:prstGeom>
          <a:solidFill>
            <a:srgbClr val="FFFFFF">
              <a:alpha val="0"/>
            </a:srgbClr>
          </a:solidFill>
          <a:ln w="15240">
            <a:solidFill>
              <a:srgbClr val="FFFFFF">
                <a:alpha val="25000"/>
              </a:srgbClr>
            </a:solidFill>
            <a:prstDash val="solid"/>
          </a:ln>
        </p:spPr>
      </p:sp>
      <p:sp>
        <p:nvSpPr>
          <p:cNvPr id="7" name="Shape 4"/>
          <p:cNvSpPr/>
          <p:nvPr/>
        </p:nvSpPr>
        <p:spPr>
          <a:xfrm>
            <a:off x="685800" y="1554480"/>
            <a:ext cx="5074920" cy="713232"/>
          </a:xfrm>
          <a:prstGeom prst="roundRect">
            <a:avLst>
              <a:gd name="adj" fmla="val 10256"/>
            </a:avLst>
          </a:prstGeom>
          <a:solidFill>
            <a:srgbClr val="11254B"/>
          </a:solidFill>
          <a:ln w="12700">
            <a:solidFill>
              <a:srgbClr val="FFFFFF">
                <a:alpha val="12000"/>
              </a:srgbClr>
            </a:solidFill>
            <a:prstDash val="solid"/>
          </a:ln>
        </p:spPr>
      </p:sp>
      <p:sp>
        <p:nvSpPr>
          <p:cNvPr id="8" name="Text 5"/>
          <p:cNvSpPr/>
          <p:nvPr/>
        </p:nvSpPr>
        <p:spPr>
          <a:xfrm>
            <a:off x="886968" y="1719072"/>
            <a:ext cx="1828800" cy="201168"/>
          </a:xfrm>
          <a:prstGeom prst="rect">
            <a:avLst/>
          </a:prstGeom>
          <a:noFill/>
          <a:ln/>
        </p:spPr>
        <p:txBody>
          <a:bodyPr wrap="square" lIns="0" tIns="0" rIns="0" bIns="0" rtlCol="0" anchor="ctr"/>
          <a:lstStyle/>
          <a:p>
            <a:pPr marL="0" indent="0">
              <a:buNone/>
            </a:pPr>
            <a:r>
              <a:rPr lang="en-US" sz="1500" b="1" dirty="0">
                <a:solidFill>
                  <a:srgbClr val="FFFFFF"/>
                </a:solidFill>
              </a:rPr>
              <a:t>Always listening</a:t>
            </a:r>
            <a:endParaRPr lang="en-US" sz="1500" dirty="0"/>
          </a:p>
        </p:txBody>
      </p:sp>
      <p:sp>
        <p:nvSpPr>
          <p:cNvPr id="9" name="Text 6"/>
          <p:cNvSpPr/>
          <p:nvPr/>
        </p:nvSpPr>
        <p:spPr>
          <a:xfrm>
            <a:off x="2926080" y="1728216"/>
            <a:ext cx="2743200" cy="201168"/>
          </a:xfrm>
          <a:prstGeom prst="rect">
            <a:avLst/>
          </a:prstGeom>
          <a:noFill/>
          <a:ln/>
        </p:spPr>
        <p:txBody>
          <a:bodyPr wrap="square" lIns="0" tIns="0" rIns="0" bIns="0" rtlCol="0" anchor="ctr">
            <a:normAutofit/>
          </a:bodyPr>
          <a:lstStyle/>
          <a:p>
            <a:pPr marL="0" indent="0">
              <a:buNone/>
            </a:pPr>
            <a:r>
              <a:rPr lang="en-US" sz="1250" dirty="0">
                <a:solidFill>
                  <a:srgbClr val="CBD5E1"/>
                </a:solidFill>
              </a:rPr>
              <a:t>Queries run continuously</a:t>
            </a:r>
            <a:endParaRPr lang="en-US" sz="1250" dirty="0"/>
          </a:p>
        </p:txBody>
      </p:sp>
      <p:sp>
        <p:nvSpPr>
          <p:cNvPr id="10" name="Shape 7"/>
          <p:cNvSpPr/>
          <p:nvPr/>
        </p:nvSpPr>
        <p:spPr>
          <a:xfrm>
            <a:off x="685800" y="2560320"/>
            <a:ext cx="5074920" cy="713232"/>
          </a:xfrm>
          <a:prstGeom prst="roundRect">
            <a:avLst>
              <a:gd name="adj" fmla="val 10256"/>
            </a:avLst>
          </a:prstGeom>
          <a:solidFill>
            <a:srgbClr val="1E1B4B"/>
          </a:solidFill>
          <a:ln w="12700">
            <a:solidFill>
              <a:srgbClr val="FFFFFF">
                <a:alpha val="12000"/>
              </a:srgbClr>
            </a:solidFill>
            <a:prstDash val="solid"/>
          </a:ln>
        </p:spPr>
      </p:sp>
      <p:sp>
        <p:nvSpPr>
          <p:cNvPr id="11" name="Text 8"/>
          <p:cNvSpPr/>
          <p:nvPr/>
        </p:nvSpPr>
        <p:spPr>
          <a:xfrm>
            <a:off x="886968" y="2724912"/>
            <a:ext cx="1828800" cy="201168"/>
          </a:xfrm>
          <a:prstGeom prst="rect">
            <a:avLst/>
          </a:prstGeom>
          <a:noFill/>
          <a:ln/>
        </p:spPr>
        <p:txBody>
          <a:bodyPr wrap="square" lIns="0" tIns="0" rIns="0" bIns="0" rtlCol="0" anchor="ctr"/>
          <a:lstStyle/>
          <a:p>
            <a:pPr marL="0" indent="0">
              <a:buNone/>
            </a:pPr>
            <a:r>
              <a:rPr lang="en-US" sz="1500" b="1" dirty="0">
                <a:solidFill>
                  <a:srgbClr val="FFFFFF"/>
                </a:solidFill>
              </a:rPr>
              <a:t>Small chunks</a:t>
            </a:r>
            <a:endParaRPr lang="en-US" sz="1500" dirty="0"/>
          </a:p>
        </p:txBody>
      </p:sp>
      <p:sp>
        <p:nvSpPr>
          <p:cNvPr id="12" name="Text 9"/>
          <p:cNvSpPr/>
          <p:nvPr/>
        </p:nvSpPr>
        <p:spPr>
          <a:xfrm>
            <a:off x="2926080" y="2734056"/>
            <a:ext cx="2743200" cy="201168"/>
          </a:xfrm>
          <a:prstGeom prst="rect">
            <a:avLst/>
          </a:prstGeom>
          <a:noFill/>
          <a:ln/>
        </p:spPr>
        <p:txBody>
          <a:bodyPr wrap="square" lIns="0" tIns="0" rIns="0" bIns="0" rtlCol="0" anchor="ctr">
            <a:normAutofit/>
          </a:bodyPr>
          <a:lstStyle/>
          <a:p>
            <a:pPr marL="0" indent="0">
              <a:buNone/>
            </a:pPr>
            <a:r>
              <a:rPr lang="en-US" sz="1250" dirty="0">
                <a:solidFill>
                  <a:srgbClr val="CBD5E1"/>
                </a:solidFill>
              </a:rPr>
              <a:t>Process events/micro-batches</a:t>
            </a:r>
            <a:endParaRPr lang="en-US" sz="1250" dirty="0"/>
          </a:p>
        </p:txBody>
      </p:sp>
      <p:sp>
        <p:nvSpPr>
          <p:cNvPr id="13" name="Shape 10"/>
          <p:cNvSpPr/>
          <p:nvPr/>
        </p:nvSpPr>
        <p:spPr>
          <a:xfrm>
            <a:off x="685800" y="3566160"/>
            <a:ext cx="5074920" cy="713232"/>
          </a:xfrm>
          <a:prstGeom prst="roundRect">
            <a:avLst>
              <a:gd name="adj" fmla="val 10256"/>
            </a:avLst>
          </a:prstGeom>
          <a:solidFill>
            <a:srgbClr val="064E3B"/>
          </a:solidFill>
          <a:ln w="12700">
            <a:solidFill>
              <a:srgbClr val="FFFFFF">
                <a:alpha val="12000"/>
              </a:srgbClr>
            </a:solidFill>
            <a:prstDash val="solid"/>
          </a:ln>
        </p:spPr>
      </p:sp>
      <p:sp>
        <p:nvSpPr>
          <p:cNvPr id="14" name="Text 11"/>
          <p:cNvSpPr/>
          <p:nvPr/>
        </p:nvSpPr>
        <p:spPr>
          <a:xfrm>
            <a:off x="886968" y="3730752"/>
            <a:ext cx="1828800" cy="201168"/>
          </a:xfrm>
          <a:prstGeom prst="rect">
            <a:avLst/>
          </a:prstGeom>
          <a:noFill/>
          <a:ln/>
        </p:spPr>
        <p:txBody>
          <a:bodyPr wrap="square" lIns="0" tIns="0" rIns="0" bIns="0" rtlCol="0" anchor="ctr"/>
          <a:lstStyle/>
          <a:p>
            <a:pPr marL="0" indent="0">
              <a:buNone/>
            </a:pPr>
            <a:r>
              <a:rPr lang="en-US" sz="1500" b="1" dirty="0">
                <a:solidFill>
                  <a:srgbClr val="FFFFFF"/>
                </a:solidFill>
              </a:rPr>
              <a:t>Parallel work</a:t>
            </a:r>
            <a:endParaRPr lang="en-US" sz="1500" dirty="0"/>
          </a:p>
        </p:txBody>
      </p:sp>
      <p:sp>
        <p:nvSpPr>
          <p:cNvPr id="15" name="Text 12"/>
          <p:cNvSpPr/>
          <p:nvPr/>
        </p:nvSpPr>
        <p:spPr>
          <a:xfrm>
            <a:off x="2926080" y="3739896"/>
            <a:ext cx="2743200" cy="201168"/>
          </a:xfrm>
          <a:prstGeom prst="rect">
            <a:avLst/>
          </a:prstGeom>
          <a:noFill/>
          <a:ln/>
        </p:spPr>
        <p:txBody>
          <a:bodyPr wrap="square" lIns="0" tIns="0" rIns="0" bIns="0" rtlCol="0" anchor="ctr">
            <a:normAutofit/>
          </a:bodyPr>
          <a:lstStyle/>
          <a:p>
            <a:pPr marL="0" indent="0">
              <a:buNone/>
            </a:pPr>
            <a:r>
              <a:rPr lang="en-US" sz="1250" dirty="0">
                <a:solidFill>
                  <a:srgbClr val="CBD5E1"/>
                </a:solidFill>
              </a:rPr>
              <a:t>Partitions distribute load</a:t>
            </a:r>
            <a:endParaRPr lang="en-US" sz="1250" dirty="0"/>
          </a:p>
        </p:txBody>
      </p:sp>
      <p:sp>
        <p:nvSpPr>
          <p:cNvPr id="16" name="Shape 13"/>
          <p:cNvSpPr/>
          <p:nvPr/>
        </p:nvSpPr>
        <p:spPr>
          <a:xfrm>
            <a:off x="685800" y="4572000"/>
            <a:ext cx="5074920" cy="713232"/>
          </a:xfrm>
          <a:prstGeom prst="roundRect">
            <a:avLst>
              <a:gd name="adj" fmla="val 10256"/>
            </a:avLst>
          </a:prstGeom>
          <a:solidFill>
            <a:srgbClr val="4A1D06"/>
          </a:solidFill>
          <a:ln w="12700">
            <a:solidFill>
              <a:srgbClr val="FFFFFF">
                <a:alpha val="12000"/>
              </a:srgbClr>
            </a:solidFill>
            <a:prstDash val="solid"/>
          </a:ln>
        </p:spPr>
      </p:sp>
      <p:sp>
        <p:nvSpPr>
          <p:cNvPr id="17" name="Text 14"/>
          <p:cNvSpPr/>
          <p:nvPr/>
        </p:nvSpPr>
        <p:spPr>
          <a:xfrm>
            <a:off x="886968" y="4736592"/>
            <a:ext cx="1828800" cy="201168"/>
          </a:xfrm>
          <a:prstGeom prst="rect">
            <a:avLst/>
          </a:prstGeom>
          <a:noFill/>
          <a:ln/>
        </p:spPr>
        <p:txBody>
          <a:bodyPr wrap="square" lIns="0" tIns="0" rIns="0" bIns="0" rtlCol="0" anchor="ctr"/>
          <a:lstStyle/>
          <a:p>
            <a:pPr marL="0" indent="0">
              <a:buNone/>
            </a:pPr>
            <a:r>
              <a:rPr lang="en-US" sz="1500" b="1" dirty="0">
                <a:solidFill>
                  <a:srgbClr val="FFFFFF"/>
                </a:solidFill>
              </a:rPr>
              <a:t>Immediate sinks</a:t>
            </a:r>
            <a:endParaRPr lang="en-US" sz="1500" dirty="0"/>
          </a:p>
        </p:txBody>
      </p:sp>
      <p:sp>
        <p:nvSpPr>
          <p:cNvPr id="18" name="Text 15"/>
          <p:cNvSpPr/>
          <p:nvPr/>
        </p:nvSpPr>
        <p:spPr>
          <a:xfrm>
            <a:off x="2926080" y="4745736"/>
            <a:ext cx="2743200" cy="201168"/>
          </a:xfrm>
          <a:prstGeom prst="rect">
            <a:avLst/>
          </a:prstGeom>
          <a:noFill/>
          <a:ln/>
        </p:spPr>
        <p:txBody>
          <a:bodyPr wrap="square" lIns="0" tIns="0" rIns="0" bIns="0" rtlCol="0" anchor="ctr">
            <a:normAutofit/>
          </a:bodyPr>
          <a:lstStyle/>
          <a:p>
            <a:pPr marL="0" indent="0">
              <a:buNone/>
            </a:pPr>
            <a:r>
              <a:rPr lang="en-US" sz="1250" dirty="0">
                <a:solidFill>
                  <a:srgbClr val="CBD5E1"/>
                </a:solidFill>
              </a:rPr>
              <a:t>Dashboards and alerts update quickly</a:t>
            </a:r>
            <a:endParaRPr lang="en-US" sz="1250" dirty="0"/>
          </a:p>
        </p:txBody>
      </p:sp>
      <p:sp>
        <p:nvSpPr>
          <p:cNvPr id="20" name="Text 16"/>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Spark Structured Streaming</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Stream processing using DataFrame logic</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sp>
        <p:nvSpPr>
          <p:cNvPr id="5" name="Shape 3"/>
          <p:cNvSpPr/>
          <p:nvPr/>
        </p:nvSpPr>
        <p:spPr>
          <a:xfrm>
            <a:off x="731520" y="1508760"/>
            <a:ext cx="3154680" cy="4206240"/>
          </a:xfrm>
          <a:prstGeom prst="roundRect">
            <a:avLst>
              <a:gd name="adj" fmla="val 2319"/>
            </a:avLst>
          </a:prstGeom>
          <a:solidFill>
            <a:srgbClr val="DBEAFE"/>
          </a:solidFill>
          <a:ln w="12700">
            <a:solidFill>
              <a:srgbClr val="FFFFFF">
                <a:alpha val="12000"/>
              </a:srgbClr>
            </a:solidFill>
            <a:prstDash val="solid"/>
          </a:ln>
        </p:spPr>
      </p:sp>
      <p:sp>
        <p:nvSpPr>
          <p:cNvPr id="6" name="Text 4"/>
          <p:cNvSpPr/>
          <p:nvPr/>
        </p:nvSpPr>
        <p:spPr>
          <a:xfrm>
            <a:off x="1143000" y="1828800"/>
            <a:ext cx="2286000" cy="292608"/>
          </a:xfrm>
          <a:prstGeom prst="rect">
            <a:avLst/>
          </a:prstGeom>
          <a:noFill/>
          <a:ln/>
        </p:spPr>
        <p:txBody>
          <a:bodyPr wrap="square" lIns="0" tIns="0" rIns="0" bIns="0" rtlCol="0" anchor="ctr"/>
          <a:lstStyle/>
          <a:p>
            <a:pPr marL="0" indent="0" algn="ctr">
              <a:buNone/>
            </a:pPr>
            <a:r>
              <a:rPr lang="en-US" sz="2100" b="1" dirty="0">
                <a:solidFill>
                  <a:srgbClr val="2563EB"/>
                </a:solidFill>
              </a:rPr>
              <a:t>Input Stream</a:t>
            </a:r>
            <a:endParaRPr lang="en-US" sz="2100" dirty="0"/>
          </a:p>
        </p:txBody>
      </p:sp>
      <p:sp>
        <p:nvSpPr>
          <p:cNvPr id="7" name="Text 5"/>
          <p:cNvSpPr/>
          <p:nvPr/>
        </p:nvSpPr>
        <p:spPr>
          <a:xfrm>
            <a:off x="1143000" y="2514600"/>
            <a:ext cx="2286000" cy="1097280"/>
          </a:xfrm>
          <a:prstGeom prst="rect">
            <a:avLst/>
          </a:prstGeom>
          <a:noFill/>
          <a:ln/>
        </p:spPr>
        <p:txBody>
          <a:bodyPr wrap="square" lIns="508" tIns="508" rIns="508" bIns="508" rtlCol="0" anchor="ctr"/>
          <a:lstStyle/>
          <a:p>
            <a:pPr marL="0" indent="0" algn="ctr">
              <a:buNone/>
            </a:pPr>
            <a:r>
              <a:rPr lang="en-US" sz="2000" dirty="0">
                <a:solidFill>
                  <a:srgbClr val="172033"/>
                </a:solidFill>
              </a:rPr>
              <a:t>Kafka</a:t>
            </a:r>
            <a:endParaRPr lang="en-US" sz="2000" dirty="0"/>
          </a:p>
          <a:p>
            <a:pPr marL="0" indent="0" algn="ctr">
              <a:buNone/>
            </a:pPr>
            <a:r>
              <a:rPr lang="en-US" sz="2000" dirty="0">
                <a:solidFill>
                  <a:srgbClr val="172033"/>
                </a:solidFill>
              </a:rPr>
              <a:t>Files</a:t>
            </a:r>
            <a:endParaRPr lang="en-US" sz="2000" dirty="0"/>
          </a:p>
          <a:p>
            <a:pPr marL="0" indent="0" algn="ctr">
              <a:buNone/>
            </a:pPr>
            <a:r>
              <a:rPr lang="en-US" sz="2000" dirty="0">
                <a:solidFill>
                  <a:srgbClr val="172033"/>
                </a:solidFill>
              </a:rPr>
              <a:t>Socket</a:t>
            </a:r>
            <a:endParaRPr lang="en-US" sz="2000" dirty="0"/>
          </a:p>
          <a:p>
            <a:pPr marL="0" indent="0" algn="ctr">
              <a:buNone/>
            </a:pPr>
            <a:r>
              <a:rPr lang="en-US" sz="2000" dirty="0">
                <a:solidFill>
                  <a:srgbClr val="172033"/>
                </a:solidFill>
              </a:rPr>
              <a:t>Cloud queues</a:t>
            </a:r>
            <a:endParaRPr lang="en-US" sz="2000" dirty="0"/>
          </a:p>
        </p:txBody>
      </p:sp>
      <p:sp>
        <p:nvSpPr>
          <p:cNvPr id="8" name="Text 6"/>
          <p:cNvSpPr/>
          <p:nvPr/>
        </p:nvSpPr>
        <p:spPr>
          <a:xfrm>
            <a:off x="4069080" y="2971800"/>
            <a:ext cx="365760" cy="320040"/>
          </a:xfrm>
          <a:prstGeom prst="rect">
            <a:avLst/>
          </a:prstGeom>
          <a:noFill/>
          <a:ln/>
        </p:spPr>
        <p:txBody>
          <a:bodyPr wrap="square" lIns="0" tIns="0" rIns="0" bIns="0" rtlCol="0" anchor="ctr"/>
          <a:lstStyle/>
          <a:p>
            <a:pPr marL="0" indent="0">
              <a:buNone/>
            </a:pPr>
            <a:r>
              <a:rPr lang="en-US" sz="3000" b="1" dirty="0">
                <a:solidFill>
                  <a:srgbClr val="7C3AED"/>
                </a:solidFill>
              </a:rPr>
              <a:t>→</a:t>
            </a:r>
            <a:endParaRPr lang="en-US" sz="3000" dirty="0"/>
          </a:p>
        </p:txBody>
      </p:sp>
      <p:sp>
        <p:nvSpPr>
          <p:cNvPr id="9" name="Shape 7"/>
          <p:cNvSpPr/>
          <p:nvPr/>
        </p:nvSpPr>
        <p:spPr>
          <a:xfrm>
            <a:off x="4663440" y="1508760"/>
            <a:ext cx="3108960" cy="4206240"/>
          </a:xfrm>
          <a:prstGeom prst="roundRect">
            <a:avLst>
              <a:gd name="adj" fmla="val 2353"/>
            </a:avLst>
          </a:prstGeom>
          <a:solidFill>
            <a:srgbClr val="EDE9FE"/>
          </a:solidFill>
          <a:ln w="12700">
            <a:solidFill>
              <a:srgbClr val="FFFFFF">
                <a:alpha val="12000"/>
              </a:srgbClr>
            </a:solidFill>
            <a:prstDash val="solid"/>
          </a:ln>
        </p:spPr>
      </p:sp>
      <p:sp>
        <p:nvSpPr>
          <p:cNvPr id="10" name="Text 8"/>
          <p:cNvSpPr/>
          <p:nvPr/>
        </p:nvSpPr>
        <p:spPr>
          <a:xfrm>
            <a:off x="5074920" y="1828800"/>
            <a:ext cx="2286000" cy="292608"/>
          </a:xfrm>
          <a:prstGeom prst="rect">
            <a:avLst/>
          </a:prstGeom>
          <a:noFill/>
          <a:ln/>
        </p:spPr>
        <p:txBody>
          <a:bodyPr wrap="square" lIns="0" tIns="0" rIns="0" bIns="0" rtlCol="0" anchor="ctr"/>
          <a:lstStyle/>
          <a:p>
            <a:pPr marL="0" indent="0" algn="ctr">
              <a:buNone/>
            </a:pPr>
            <a:r>
              <a:rPr lang="en-US" sz="2100" b="1" dirty="0">
                <a:solidFill>
                  <a:srgbClr val="7C3AED"/>
                </a:solidFill>
              </a:rPr>
              <a:t>Streaming Query</a:t>
            </a:r>
            <a:endParaRPr lang="en-US" sz="2100" dirty="0"/>
          </a:p>
        </p:txBody>
      </p:sp>
      <p:sp>
        <p:nvSpPr>
          <p:cNvPr id="11" name="Text 9"/>
          <p:cNvSpPr/>
          <p:nvPr/>
        </p:nvSpPr>
        <p:spPr>
          <a:xfrm>
            <a:off x="5257800" y="2514600"/>
            <a:ext cx="1920240" cy="1097280"/>
          </a:xfrm>
          <a:prstGeom prst="rect">
            <a:avLst/>
          </a:prstGeom>
          <a:noFill/>
          <a:ln/>
        </p:spPr>
        <p:txBody>
          <a:bodyPr wrap="square" lIns="508" tIns="508" rIns="508" bIns="508" rtlCol="0" anchor="ctr"/>
          <a:lstStyle/>
          <a:p>
            <a:pPr marL="0" indent="0" algn="ctr">
              <a:buNone/>
            </a:pPr>
            <a:r>
              <a:rPr lang="en-US" sz="2000" dirty="0">
                <a:solidFill>
                  <a:srgbClr val="172033"/>
                </a:solidFill>
              </a:rPr>
              <a:t>filter</a:t>
            </a:r>
            <a:endParaRPr lang="en-US" sz="2000" dirty="0"/>
          </a:p>
          <a:p>
            <a:pPr marL="0" indent="0" algn="ctr">
              <a:buNone/>
            </a:pPr>
            <a:r>
              <a:rPr lang="en-US" sz="2000" dirty="0">
                <a:solidFill>
                  <a:srgbClr val="172033"/>
                </a:solidFill>
              </a:rPr>
              <a:t>select</a:t>
            </a:r>
            <a:endParaRPr lang="en-US" sz="2000" dirty="0"/>
          </a:p>
          <a:p>
            <a:pPr marL="0" indent="0" algn="ctr">
              <a:buNone/>
            </a:pPr>
            <a:r>
              <a:rPr lang="en-US" sz="2000" dirty="0">
                <a:solidFill>
                  <a:srgbClr val="172033"/>
                </a:solidFill>
              </a:rPr>
              <a:t>groupBy</a:t>
            </a:r>
            <a:endParaRPr lang="en-US" sz="2000" dirty="0"/>
          </a:p>
          <a:p>
            <a:pPr marL="0" indent="0" algn="ctr">
              <a:buNone/>
            </a:pPr>
            <a:r>
              <a:rPr lang="en-US" sz="2000" dirty="0">
                <a:solidFill>
                  <a:srgbClr val="172033"/>
                </a:solidFill>
              </a:rPr>
              <a:t>window</a:t>
            </a:r>
            <a:endParaRPr lang="en-US" sz="2000" dirty="0"/>
          </a:p>
        </p:txBody>
      </p:sp>
      <p:sp>
        <p:nvSpPr>
          <p:cNvPr id="12" name="Text 10"/>
          <p:cNvSpPr/>
          <p:nvPr/>
        </p:nvSpPr>
        <p:spPr>
          <a:xfrm>
            <a:off x="7973568" y="2971800"/>
            <a:ext cx="365760" cy="320040"/>
          </a:xfrm>
          <a:prstGeom prst="rect">
            <a:avLst/>
          </a:prstGeom>
          <a:noFill/>
          <a:ln/>
        </p:spPr>
        <p:txBody>
          <a:bodyPr wrap="square" lIns="0" tIns="0" rIns="0" bIns="0" rtlCol="0" anchor="ctr"/>
          <a:lstStyle/>
          <a:p>
            <a:pPr marL="0" indent="0">
              <a:buNone/>
            </a:pPr>
            <a:r>
              <a:rPr lang="en-US" sz="3000" b="1" dirty="0">
                <a:solidFill>
                  <a:srgbClr val="7C3AED"/>
                </a:solidFill>
              </a:rPr>
              <a:t>→</a:t>
            </a:r>
            <a:endParaRPr lang="en-US" sz="3000" dirty="0"/>
          </a:p>
        </p:txBody>
      </p:sp>
      <p:sp>
        <p:nvSpPr>
          <p:cNvPr id="13" name="Shape 11"/>
          <p:cNvSpPr/>
          <p:nvPr/>
        </p:nvSpPr>
        <p:spPr>
          <a:xfrm>
            <a:off x="8549640" y="1508760"/>
            <a:ext cx="2880360" cy="4206240"/>
          </a:xfrm>
          <a:prstGeom prst="roundRect">
            <a:avLst>
              <a:gd name="adj" fmla="val 2540"/>
            </a:avLst>
          </a:prstGeom>
          <a:solidFill>
            <a:srgbClr val="DCFCE7"/>
          </a:solidFill>
          <a:ln w="12700">
            <a:solidFill>
              <a:srgbClr val="FFFFFF">
                <a:alpha val="12000"/>
              </a:srgbClr>
            </a:solidFill>
            <a:prstDash val="solid"/>
          </a:ln>
        </p:spPr>
      </p:sp>
      <p:sp>
        <p:nvSpPr>
          <p:cNvPr id="14" name="Text 12"/>
          <p:cNvSpPr/>
          <p:nvPr/>
        </p:nvSpPr>
        <p:spPr>
          <a:xfrm>
            <a:off x="8915400" y="1828800"/>
            <a:ext cx="2103120" cy="292608"/>
          </a:xfrm>
          <a:prstGeom prst="rect">
            <a:avLst/>
          </a:prstGeom>
          <a:noFill/>
          <a:ln/>
        </p:spPr>
        <p:txBody>
          <a:bodyPr wrap="square" lIns="0" tIns="0" rIns="0" bIns="0" rtlCol="0" anchor="ctr"/>
          <a:lstStyle/>
          <a:p>
            <a:pPr marL="0" indent="0" algn="ctr">
              <a:buNone/>
            </a:pPr>
            <a:r>
              <a:rPr lang="en-US" sz="2100" b="1" dirty="0">
                <a:solidFill>
                  <a:srgbClr val="15803D"/>
                </a:solidFill>
              </a:rPr>
              <a:t>Output Sink</a:t>
            </a:r>
            <a:endParaRPr lang="en-US" sz="2100" dirty="0"/>
          </a:p>
        </p:txBody>
      </p:sp>
      <p:sp>
        <p:nvSpPr>
          <p:cNvPr id="15" name="Text 13"/>
          <p:cNvSpPr/>
          <p:nvPr/>
        </p:nvSpPr>
        <p:spPr>
          <a:xfrm>
            <a:off x="8961120" y="2514600"/>
            <a:ext cx="2011680" cy="1097280"/>
          </a:xfrm>
          <a:prstGeom prst="rect">
            <a:avLst/>
          </a:prstGeom>
          <a:noFill/>
          <a:ln/>
        </p:spPr>
        <p:txBody>
          <a:bodyPr wrap="square" lIns="508" tIns="508" rIns="508" bIns="508" rtlCol="0" anchor="ctr"/>
          <a:lstStyle/>
          <a:p>
            <a:pPr marL="0" indent="0" algn="ctr">
              <a:buNone/>
            </a:pPr>
            <a:r>
              <a:rPr lang="en-US" sz="2000" dirty="0">
                <a:solidFill>
                  <a:srgbClr val="172033"/>
                </a:solidFill>
              </a:rPr>
              <a:t>Console</a:t>
            </a:r>
            <a:endParaRPr lang="en-US" sz="2000" dirty="0"/>
          </a:p>
          <a:p>
            <a:pPr marL="0" indent="0" algn="ctr">
              <a:buNone/>
            </a:pPr>
            <a:r>
              <a:rPr lang="en-US" sz="2000" dirty="0">
                <a:solidFill>
                  <a:srgbClr val="172033"/>
                </a:solidFill>
              </a:rPr>
              <a:t>Delta Lake</a:t>
            </a:r>
            <a:endParaRPr lang="en-US" sz="2000" dirty="0"/>
          </a:p>
          <a:p>
            <a:pPr marL="0" indent="0" algn="ctr">
              <a:buNone/>
            </a:pPr>
            <a:r>
              <a:rPr lang="en-US" sz="2000" dirty="0">
                <a:solidFill>
                  <a:srgbClr val="172033"/>
                </a:solidFill>
              </a:rPr>
              <a:t>Database</a:t>
            </a:r>
            <a:endParaRPr lang="en-US" sz="2000" dirty="0"/>
          </a:p>
          <a:p>
            <a:pPr marL="0" indent="0" algn="ctr">
              <a:buNone/>
            </a:pPr>
            <a:r>
              <a:rPr lang="en-US" sz="2000" dirty="0">
                <a:solidFill>
                  <a:srgbClr val="172033"/>
                </a:solidFill>
              </a:rPr>
              <a:t>Dashboard</a:t>
            </a:r>
            <a:endParaRPr lang="en-US" sz="2000" dirty="0"/>
          </a:p>
        </p:txBody>
      </p:sp>
      <p:sp>
        <p:nvSpPr>
          <p:cNvPr id="17" name="Text 14"/>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a_wide_futuristic_dark_themed_analytics_dashboard.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Live dashboard: what changes in real time?</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Metrics update as events arrive</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685800" y="1508760"/>
            <a:ext cx="4160520" cy="4343400"/>
          </a:xfrm>
          <a:prstGeom prst="roundRect">
            <a:avLst>
              <a:gd name="adj" fmla="val 1758"/>
            </a:avLst>
          </a:prstGeom>
          <a:solidFill>
            <a:srgbClr val="081224">
              <a:alpha val="95000"/>
            </a:srgbClr>
          </a:solidFill>
          <a:ln w="12700">
            <a:solidFill>
              <a:srgbClr val="FFFFFF">
                <a:alpha val="12000"/>
              </a:srgbClr>
            </a:solidFill>
            <a:prstDash val="solid"/>
          </a:ln>
        </p:spPr>
      </p:sp>
      <p:sp>
        <p:nvSpPr>
          <p:cNvPr id="7" name="Text 4"/>
          <p:cNvSpPr/>
          <p:nvPr/>
        </p:nvSpPr>
        <p:spPr>
          <a:xfrm>
            <a:off x="960120" y="1874520"/>
            <a:ext cx="1783080" cy="228600"/>
          </a:xfrm>
          <a:prstGeom prst="rect">
            <a:avLst/>
          </a:prstGeom>
          <a:noFill/>
          <a:ln/>
        </p:spPr>
        <p:txBody>
          <a:bodyPr wrap="square" lIns="0" tIns="0" rIns="0" bIns="0" rtlCol="0" anchor="ctr"/>
          <a:lstStyle/>
          <a:p>
            <a:pPr marL="0" indent="0">
              <a:buNone/>
            </a:pPr>
            <a:r>
              <a:rPr lang="en-US" sz="1700" b="1" dirty="0">
                <a:solidFill>
                  <a:srgbClr val="93C5FD"/>
                </a:solidFill>
              </a:rPr>
              <a:t>Orders/min</a:t>
            </a:r>
            <a:endParaRPr lang="en-US" sz="1700" dirty="0"/>
          </a:p>
        </p:txBody>
      </p:sp>
      <p:sp>
        <p:nvSpPr>
          <p:cNvPr id="8" name="Text 5"/>
          <p:cNvSpPr/>
          <p:nvPr/>
        </p:nvSpPr>
        <p:spPr>
          <a:xfrm>
            <a:off x="2788920" y="1892808"/>
            <a:ext cx="1600200" cy="201168"/>
          </a:xfrm>
          <a:prstGeom prst="rect">
            <a:avLst/>
          </a:prstGeom>
          <a:noFill/>
          <a:ln/>
        </p:spPr>
        <p:txBody>
          <a:bodyPr wrap="square" lIns="0" tIns="0" rIns="0" bIns="0" rtlCol="0" anchor="ctr">
            <a:normAutofit/>
          </a:bodyPr>
          <a:lstStyle/>
          <a:p>
            <a:pPr marL="0" indent="0">
              <a:buNone/>
            </a:pPr>
            <a:r>
              <a:rPr lang="en-US" sz="1150" dirty="0">
                <a:solidFill>
                  <a:srgbClr val="E5E7EB"/>
                </a:solidFill>
              </a:rPr>
              <a:t>Current demand</a:t>
            </a:r>
            <a:endParaRPr lang="en-US" sz="1150" dirty="0"/>
          </a:p>
        </p:txBody>
      </p:sp>
      <p:sp>
        <p:nvSpPr>
          <p:cNvPr id="9" name="Text 6"/>
          <p:cNvSpPr/>
          <p:nvPr/>
        </p:nvSpPr>
        <p:spPr>
          <a:xfrm>
            <a:off x="960120" y="2606040"/>
            <a:ext cx="1783080" cy="228600"/>
          </a:xfrm>
          <a:prstGeom prst="rect">
            <a:avLst/>
          </a:prstGeom>
          <a:noFill/>
          <a:ln/>
        </p:spPr>
        <p:txBody>
          <a:bodyPr wrap="square" lIns="0" tIns="0" rIns="0" bIns="0" rtlCol="0" anchor="ctr"/>
          <a:lstStyle/>
          <a:p>
            <a:pPr marL="0" indent="0">
              <a:buNone/>
            </a:pPr>
            <a:r>
              <a:rPr lang="en-US" sz="1700" b="1" dirty="0">
                <a:solidFill>
                  <a:srgbClr val="93C5FD"/>
                </a:solidFill>
              </a:rPr>
              <a:t>Delayed orders</a:t>
            </a:r>
            <a:endParaRPr lang="en-US" sz="1700" dirty="0"/>
          </a:p>
        </p:txBody>
      </p:sp>
      <p:sp>
        <p:nvSpPr>
          <p:cNvPr id="10" name="Text 7"/>
          <p:cNvSpPr/>
          <p:nvPr/>
        </p:nvSpPr>
        <p:spPr>
          <a:xfrm>
            <a:off x="2788920" y="2624328"/>
            <a:ext cx="1600200" cy="201168"/>
          </a:xfrm>
          <a:prstGeom prst="rect">
            <a:avLst/>
          </a:prstGeom>
          <a:noFill/>
          <a:ln/>
        </p:spPr>
        <p:txBody>
          <a:bodyPr wrap="square" lIns="0" tIns="0" rIns="0" bIns="0" rtlCol="0" anchor="ctr">
            <a:normAutofit/>
          </a:bodyPr>
          <a:lstStyle/>
          <a:p>
            <a:pPr marL="0" indent="0">
              <a:buNone/>
            </a:pPr>
            <a:r>
              <a:rPr lang="en-US" sz="1150" dirty="0">
                <a:solidFill>
                  <a:srgbClr val="E5E7EB"/>
                </a:solidFill>
              </a:rPr>
              <a:t>Operations alert</a:t>
            </a:r>
            <a:endParaRPr lang="en-US" sz="1150" dirty="0"/>
          </a:p>
        </p:txBody>
      </p:sp>
      <p:sp>
        <p:nvSpPr>
          <p:cNvPr id="11" name="Text 8"/>
          <p:cNvSpPr/>
          <p:nvPr/>
        </p:nvSpPr>
        <p:spPr>
          <a:xfrm>
            <a:off x="960120" y="3337560"/>
            <a:ext cx="1783080" cy="228600"/>
          </a:xfrm>
          <a:prstGeom prst="rect">
            <a:avLst/>
          </a:prstGeom>
          <a:noFill/>
          <a:ln/>
        </p:spPr>
        <p:txBody>
          <a:bodyPr wrap="square" lIns="0" tIns="0" rIns="0" bIns="0" rtlCol="0" anchor="ctr"/>
          <a:lstStyle/>
          <a:p>
            <a:pPr marL="0" indent="0">
              <a:buNone/>
            </a:pPr>
            <a:r>
              <a:rPr lang="en-US" sz="1700" b="1" dirty="0">
                <a:solidFill>
                  <a:srgbClr val="93C5FD"/>
                </a:solidFill>
              </a:rPr>
              <a:t>Revenue by city</a:t>
            </a:r>
            <a:endParaRPr lang="en-US" sz="1700" dirty="0"/>
          </a:p>
        </p:txBody>
      </p:sp>
      <p:sp>
        <p:nvSpPr>
          <p:cNvPr id="12" name="Text 9"/>
          <p:cNvSpPr/>
          <p:nvPr/>
        </p:nvSpPr>
        <p:spPr>
          <a:xfrm>
            <a:off x="2788920" y="3355848"/>
            <a:ext cx="1600200" cy="201168"/>
          </a:xfrm>
          <a:prstGeom prst="rect">
            <a:avLst/>
          </a:prstGeom>
          <a:noFill/>
          <a:ln/>
        </p:spPr>
        <p:txBody>
          <a:bodyPr wrap="square" lIns="0" tIns="0" rIns="0" bIns="0" rtlCol="0" anchor="ctr">
            <a:normAutofit/>
          </a:bodyPr>
          <a:lstStyle/>
          <a:p>
            <a:pPr marL="0" indent="0">
              <a:buNone/>
            </a:pPr>
            <a:r>
              <a:rPr lang="en-US" sz="1150" dirty="0">
                <a:solidFill>
                  <a:srgbClr val="E5E7EB"/>
                </a:solidFill>
              </a:rPr>
              <a:t>Live business pulse</a:t>
            </a:r>
            <a:endParaRPr lang="en-US" sz="1150" dirty="0"/>
          </a:p>
        </p:txBody>
      </p:sp>
      <p:sp>
        <p:nvSpPr>
          <p:cNvPr id="13" name="Text 10"/>
          <p:cNvSpPr/>
          <p:nvPr/>
        </p:nvSpPr>
        <p:spPr>
          <a:xfrm>
            <a:off x="960120" y="4069080"/>
            <a:ext cx="1783080" cy="228600"/>
          </a:xfrm>
          <a:prstGeom prst="rect">
            <a:avLst/>
          </a:prstGeom>
          <a:noFill/>
          <a:ln/>
        </p:spPr>
        <p:txBody>
          <a:bodyPr wrap="square" lIns="0" tIns="0" rIns="0" bIns="0" rtlCol="0" anchor="ctr"/>
          <a:lstStyle/>
          <a:p>
            <a:pPr marL="0" indent="0">
              <a:buNone/>
            </a:pPr>
            <a:r>
              <a:rPr lang="en-US" sz="1700" b="1" dirty="0">
                <a:solidFill>
                  <a:srgbClr val="93C5FD"/>
                </a:solidFill>
              </a:rPr>
              <a:t>Driver movement</a:t>
            </a:r>
            <a:endParaRPr lang="en-US" sz="1700" dirty="0"/>
          </a:p>
        </p:txBody>
      </p:sp>
      <p:sp>
        <p:nvSpPr>
          <p:cNvPr id="14" name="Text 11"/>
          <p:cNvSpPr/>
          <p:nvPr/>
        </p:nvSpPr>
        <p:spPr>
          <a:xfrm>
            <a:off x="2788920" y="4087368"/>
            <a:ext cx="1600200" cy="201168"/>
          </a:xfrm>
          <a:prstGeom prst="rect">
            <a:avLst/>
          </a:prstGeom>
          <a:noFill/>
          <a:ln/>
        </p:spPr>
        <p:txBody>
          <a:bodyPr wrap="square" lIns="0" tIns="0" rIns="0" bIns="0" rtlCol="0" anchor="ctr">
            <a:normAutofit/>
          </a:bodyPr>
          <a:lstStyle/>
          <a:p>
            <a:pPr marL="0" indent="0">
              <a:buNone/>
            </a:pPr>
            <a:r>
              <a:rPr lang="en-US" sz="1150" dirty="0">
                <a:solidFill>
                  <a:srgbClr val="E5E7EB"/>
                </a:solidFill>
              </a:rPr>
              <a:t>Customer tracking</a:t>
            </a:r>
            <a:endParaRPr lang="en-US" sz="1150" dirty="0"/>
          </a:p>
        </p:txBody>
      </p:sp>
      <p:sp>
        <p:nvSpPr>
          <p:cNvPr id="16" name="Text 12"/>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Event time vs processing time</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A key reason streaming can be tricky</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pic>
        <p:nvPicPr>
          <p:cNvPr id="5" name="Image 0" descr="/mnt/data/wide_colorful_infographic_style_illustration_on_a.png"/>
          <p:cNvPicPr>
            <a:picLocks noChangeAspect="1"/>
          </p:cNvPicPr>
          <p:nvPr/>
        </p:nvPicPr>
        <p:blipFill>
          <a:blip r:embed="rId3"/>
          <a:srcRect l="16768" r="16768"/>
          <a:stretch/>
        </p:blipFill>
        <p:spPr>
          <a:xfrm>
            <a:off x="502920" y="1417320"/>
            <a:ext cx="5669280" cy="4800600"/>
          </a:xfrm>
          <a:prstGeom prst="rect">
            <a:avLst/>
          </a:prstGeom>
        </p:spPr>
      </p:pic>
      <p:sp>
        <p:nvSpPr>
          <p:cNvPr id="6" name="Shape 3"/>
          <p:cNvSpPr/>
          <p:nvPr/>
        </p:nvSpPr>
        <p:spPr>
          <a:xfrm>
            <a:off x="502920" y="1417320"/>
            <a:ext cx="5669280" cy="4800600"/>
          </a:xfrm>
          <a:prstGeom prst="roundRect">
            <a:avLst>
              <a:gd name="adj" fmla="val 1524"/>
            </a:avLst>
          </a:prstGeom>
          <a:solidFill>
            <a:srgbClr val="FFFFFF">
              <a:alpha val="0"/>
            </a:srgbClr>
          </a:solidFill>
          <a:ln w="15240">
            <a:solidFill>
              <a:srgbClr val="FFFFFF">
                <a:alpha val="25000"/>
              </a:srgbClr>
            </a:solidFill>
            <a:prstDash val="solid"/>
          </a:ln>
        </p:spPr>
      </p:sp>
      <p:sp>
        <p:nvSpPr>
          <p:cNvPr id="7" name="Shape 4"/>
          <p:cNvSpPr/>
          <p:nvPr/>
        </p:nvSpPr>
        <p:spPr>
          <a:xfrm>
            <a:off x="6492240" y="1417320"/>
            <a:ext cx="4709160" cy="1234440"/>
          </a:xfrm>
          <a:prstGeom prst="roundRect">
            <a:avLst>
              <a:gd name="adj" fmla="val 5926"/>
            </a:avLst>
          </a:prstGeom>
          <a:solidFill>
            <a:srgbClr val="DBEAFE"/>
          </a:solidFill>
          <a:ln w="12700">
            <a:solidFill>
              <a:srgbClr val="FFFFFF">
                <a:alpha val="12000"/>
              </a:srgbClr>
            </a:solidFill>
            <a:prstDash val="solid"/>
          </a:ln>
        </p:spPr>
      </p:sp>
      <p:sp>
        <p:nvSpPr>
          <p:cNvPr id="8" name="Text 5"/>
          <p:cNvSpPr/>
          <p:nvPr/>
        </p:nvSpPr>
        <p:spPr>
          <a:xfrm>
            <a:off x="6812280" y="1737360"/>
            <a:ext cx="2103120" cy="274320"/>
          </a:xfrm>
          <a:prstGeom prst="rect">
            <a:avLst/>
          </a:prstGeom>
          <a:noFill/>
          <a:ln/>
        </p:spPr>
        <p:txBody>
          <a:bodyPr wrap="square" lIns="0" tIns="0" rIns="0" bIns="0" rtlCol="0" anchor="ctr"/>
          <a:lstStyle/>
          <a:p>
            <a:pPr marL="0" indent="0">
              <a:buNone/>
            </a:pPr>
            <a:r>
              <a:rPr lang="en-US" sz="2200" b="1" dirty="0">
                <a:solidFill>
                  <a:srgbClr val="2563EB"/>
                </a:solidFill>
              </a:rPr>
              <a:t>Event time</a:t>
            </a:r>
            <a:endParaRPr lang="en-US" sz="2200" dirty="0"/>
          </a:p>
        </p:txBody>
      </p:sp>
      <p:sp>
        <p:nvSpPr>
          <p:cNvPr id="9" name="Text 6"/>
          <p:cNvSpPr/>
          <p:nvPr/>
        </p:nvSpPr>
        <p:spPr>
          <a:xfrm>
            <a:off x="6812280" y="2148840"/>
            <a:ext cx="3931920" cy="228600"/>
          </a:xfrm>
          <a:prstGeom prst="rect">
            <a:avLst/>
          </a:prstGeom>
          <a:noFill/>
          <a:ln/>
        </p:spPr>
        <p:txBody>
          <a:bodyPr wrap="square" lIns="0" tIns="0" rIns="0" bIns="0" rtlCol="0" anchor="ctr"/>
          <a:lstStyle/>
          <a:p>
            <a:pPr marL="0" indent="0">
              <a:buNone/>
            </a:pPr>
            <a:r>
              <a:rPr lang="en-US" sz="1400" dirty="0">
                <a:solidFill>
                  <a:srgbClr val="172033"/>
                </a:solidFill>
              </a:rPr>
              <a:t>When the real-world event happened</a:t>
            </a:r>
            <a:endParaRPr lang="en-US" sz="1400" dirty="0"/>
          </a:p>
        </p:txBody>
      </p:sp>
      <p:sp>
        <p:nvSpPr>
          <p:cNvPr id="10" name="Shape 7"/>
          <p:cNvSpPr/>
          <p:nvPr/>
        </p:nvSpPr>
        <p:spPr>
          <a:xfrm>
            <a:off x="6492240" y="3063240"/>
            <a:ext cx="4709160" cy="1234440"/>
          </a:xfrm>
          <a:prstGeom prst="roundRect">
            <a:avLst>
              <a:gd name="adj" fmla="val 5926"/>
            </a:avLst>
          </a:prstGeom>
          <a:solidFill>
            <a:srgbClr val="EDE9FE"/>
          </a:solidFill>
          <a:ln w="12700">
            <a:solidFill>
              <a:srgbClr val="FFFFFF">
                <a:alpha val="12000"/>
              </a:srgbClr>
            </a:solidFill>
            <a:prstDash val="solid"/>
          </a:ln>
        </p:spPr>
      </p:sp>
      <p:sp>
        <p:nvSpPr>
          <p:cNvPr id="11" name="Text 8"/>
          <p:cNvSpPr/>
          <p:nvPr/>
        </p:nvSpPr>
        <p:spPr>
          <a:xfrm>
            <a:off x="6812280" y="3383280"/>
            <a:ext cx="2560320" cy="274320"/>
          </a:xfrm>
          <a:prstGeom prst="rect">
            <a:avLst/>
          </a:prstGeom>
          <a:noFill/>
          <a:ln/>
        </p:spPr>
        <p:txBody>
          <a:bodyPr wrap="square" lIns="0" tIns="0" rIns="0" bIns="0" rtlCol="0" anchor="ctr"/>
          <a:lstStyle/>
          <a:p>
            <a:pPr marL="0" indent="0">
              <a:buNone/>
            </a:pPr>
            <a:r>
              <a:rPr lang="en-US" sz="2200" b="1" dirty="0">
                <a:solidFill>
                  <a:srgbClr val="7C3AED"/>
                </a:solidFill>
              </a:rPr>
              <a:t>Processing time</a:t>
            </a:r>
            <a:endParaRPr lang="en-US" sz="2200" dirty="0"/>
          </a:p>
        </p:txBody>
      </p:sp>
      <p:sp>
        <p:nvSpPr>
          <p:cNvPr id="12" name="Text 9"/>
          <p:cNvSpPr/>
          <p:nvPr/>
        </p:nvSpPr>
        <p:spPr>
          <a:xfrm>
            <a:off x="6812280" y="3794760"/>
            <a:ext cx="3931920" cy="228600"/>
          </a:xfrm>
          <a:prstGeom prst="rect">
            <a:avLst/>
          </a:prstGeom>
          <a:noFill/>
          <a:ln/>
        </p:spPr>
        <p:txBody>
          <a:bodyPr wrap="square" lIns="0" tIns="0" rIns="0" bIns="0" rtlCol="0" anchor="ctr"/>
          <a:lstStyle/>
          <a:p>
            <a:pPr marL="0" indent="0">
              <a:buNone/>
            </a:pPr>
            <a:r>
              <a:rPr lang="en-US" sz="1400" dirty="0">
                <a:solidFill>
                  <a:srgbClr val="172033"/>
                </a:solidFill>
              </a:rPr>
              <a:t>When the engine processed it</a:t>
            </a:r>
            <a:endParaRPr lang="en-US" sz="1400" dirty="0"/>
          </a:p>
        </p:txBody>
      </p:sp>
      <p:sp>
        <p:nvSpPr>
          <p:cNvPr id="13" name="Text 10"/>
          <p:cNvSpPr/>
          <p:nvPr/>
        </p:nvSpPr>
        <p:spPr>
          <a:xfrm>
            <a:off x="6583680" y="5257800"/>
            <a:ext cx="4572000" cy="320040"/>
          </a:xfrm>
          <a:prstGeom prst="rect">
            <a:avLst/>
          </a:prstGeom>
          <a:noFill/>
          <a:ln/>
        </p:spPr>
        <p:txBody>
          <a:bodyPr wrap="square" lIns="0" tIns="0" rIns="0" bIns="0" rtlCol="0" anchor="ctr">
            <a:normAutofit/>
          </a:bodyPr>
          <a:lstStyle/>
          <a:p>
            <a:pPr marL="0" indent="0">
              <a:buNone/>
            </a:pPr>
            <a:r>
              <a:rPr lang="en-US" sz="1700" b="1" dirty="0">
                <a:solidFill>
                  <a:srgbClr val="B45309"/>
                </a:solidFill>
              </a:rPr>
              <a:t>Late events happen when event time is older than processing time.</a:t>
            </a:r>
            <a:endParaRPr lang="en-US" sz="1700" dirty="0"/>
          </a:p>
        </p:txBody>
      </p:sp>
      <p:sp>
        <p:nvSpPr>
          <p:cNvPr id="15" name="Text 11"/>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a_clean_colorful_infographic_style_illustration.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Windows and watermarks</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Counting continuously arriving events</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685800" y="1508760"/>
            <a:ext cx="4434840" cy="3246120"/>
          </a:xfrm>
          <a:prstGeom prst="roundRect">
            <a:avLst>
              <a:gd name="adj" fmla="val 2254"/>
            </a:avLst>
          </a:prstGeom>
          <a:solidFill>
            <a:srgbClr val="081224">
              <a:alpha val="95000"/>
            </a:srgbClr>
          </a:solidFill>
          <a:ln w="12700">
            <a:solidFill>
              <a:srgbClr val="FFFFFF">
                <a:alpha val="12000"/>
              </a:srgbClr>
            </a:solidFill>
            <a:prstDash val="solid"/>
          </a:ln>
        </p:spPr>
      </p:sp>
      <p:sp>
        <p:nvSpPr>
          <p:cNvPr id="7" name="Text 4"/>
          <p:cNvSpPr/>
          <p:nvPr/>
        </p:nvSpPr>
        <p:spPr>
          <a:xfrm>
            <a:off x="960120" y="1874520"/>
            <a:ext cx="1828800" cy="274320"/>
          </a:xfrm>
          <a:prstGeom prst="rect">
            <a:avLst/>
          </a:prstGeom>
          <a:noFill/>
          <a:ln/>
        </p:spPr>
        <p:txBody>
          <a:bodyPr wrap="square" lIns="0" tIns="0" rIns="0" bIns="0" rtlCol="0" anchor="ctr"/>
          <a:lstStyle/>
          <a:p>
            <a:pPr marL="0" indent="0">
              <a:buNone/>
            </a:pPr>
            <a:r>
              <a:rPr lang="en-US" sz="2400" b="1" dirty="0">
                <a:solidFill>
                  <a:srgbClr val="FBBF24"/>
                </a:solidFill>
              </a:rPr>
              <a:t>Window</a:t>
            </a:r>
            <a:endParaRPr lang="en-US" sz="2400" dirty="0"/>
          </a:p>
        </p:txBody>
      </p:sp>
      <p:sp>
        <p:nvSpPr>
          <p:cNvPr id="8" name="Text 5"/>
          <p:cNvSpPr/>
          <p:nvPr/>
        </p:nvSpPr>
        <p:spPr>
          <a:xfrm>
            <a:off x="960120" y="2359152"/>
            <a:ext cx="3840480" cy="594360"/>
          </a:xfrm>
          <a:prstGeom prst="rect">
            <a:avLst/>
          </a:prstGeom>
          <a:noFill/>
          <a:ln/>
        </p:spPr>
        <p:txBody>
          <a:bodyPr wrap="square" lIns="254" tIns="254" rIns="254" bIns="254" rtlCol="0" anchor="ctr">
            <a:normAutofit/>
          </a:bodyPr>
          <a:lstStyle/>
          <a:p>
            <a:pPr marL="0" indent="0">
              <a:buNone/>
            </a:pPr>
            <a:r>
              <a:rPr lang="en-US" sz="1800" dirty="0">
                <a:solidFill>
                  <a:srgbClr val="FFFFFF"/>
                </a:solidFill>
              </a:rPr>
              <a:t>Groups events by time interval.</a:t>
            </a:r>
            <a:endParaRPr lang="en-US" sz="1800" dirty="0"/>
          </a:p>
          <a:p>
            <a:pPr marL="0" indent="0">
              <a:buNone/>
            </a:pPr>
            <a:r>
              <a:rPr lang="en-US" sz="1800" dirty="0">
                <a:solidFill>
                  <a:srgbClr val="FFFFFF"/>
                </a:solidFill>
              </a:rPr>
              <a:t>Example: orders every 5 minutes.</a:t>
            </a:r>
            <a:endParaRPr lang="en-US" sz="1800" dirty="0"/>
          </a:p>
        </p:txBody>
      </p:sp>
      <p:sp>
        <p:nvSpPr>
          <p:cNvPr id="9" name="Text 6"/>
          <p:cNvSpPr/>
          <p:nvPr/>
        </p:nvSpPr>
        <p:spPr>
          <a:xfrm>
            <a:off x="960120" y="3429000"/>
            <a:ext cx="2103120" cy="274320"/>
          </a:xfrm>
          <a:prstGeom prst="rect">
            <a:avLst/>
          </a:prstGeom>
          <a:noFill/>
          <a:ln/>
        </p:spPr>
        <p:txBody>
          <a:bodyPr wrap="square" lIns="0" tIns="0" rIns="0" bIns="0" rtlCol="0" anchor="ctr"/>
          <a:lstStyle/>
          <a:p>
            <a:pPr marL="0" indent="0">
              <a:buNone/>
            </a:pPr>
            <a:r>
              <a:rPr lang="en-US" sz="2400" b="1" dirty="0">
                <a:solidFill>
                  <a:srgbClr val="93C5FD"/>
                </a:solidFill>
              </a:rPr>
              <a:t>Watermark</a:t>
            </a:r>
            <a:endParaRPr lang="en-US" sz="2400" dirty="0"/>
          </a:p>
        </p:txBody>
      </p:sp>
      <p:sp>
        <p:nvSpPr>
          <p:cNvPr id="10" name="Text 7"/>
          <p:cNvSpPr/>
          <p:nvPr/>
        </p:nvSpPr>
        <p:spPr>
          <a:xfrm>
            <a:off x="960120" y="3904488"/>
            <a:ext cx="3840480" cy="274320"/>
          </a:xfrm>
          <a:prstGeom prst="rect">
            <a:avLst/>
          </a:prstGeom>
          <a:noFill/>
          <a:ln/>
        </p:spPr>
        <p:txBody>
          <a:bodyPr wrap="square" lIns="0" tIns="0" rIns="0" bIns="0" rtlCol="0" anchor="ctr">
            <a:normAutofit/>
          </a:bodyPr>
          <a:lstStyle/>
          <a:p>
            <a:pPr marL="0" indent="0">
              <a:buNone/>
            </a:pPr>
            <a:r>
              <a:rPr lang="en-US" sz="1800" dirty="0">
                <a:solidFill>
                  <a:srgbClr val="FFFFFF"/>
                </a:solidFill>
              </a:rPr>
              <a:t>Controls how long we wait for late events.</a:t>
            </a:r>
            <a:endParaRPr lang="en-US" sz="1800" dirty="0"/>
          </a:p>
        </p:txBody>
      </p:sp>
      <p:sp>
        <p:nvSpPr>
          <p:cNvPr id="12" name="Text 8"/>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224"/>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Delivery guarantees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What happens if failures or retries occur?</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sp>
        <p:nvSpPr>
          <p:cNvPr id="5" name="Shape 3"/>
          <p:cNvSpPr/>
          <p:nvPr/>
        </p:nvSpPr>
        <p:spPr>
          <a:xfrm>
            <a:off x="868680" y="1691640"/>
            <a:ext cx="3246120" cy="3337560"/>
          </a:xfrm>
          <a:prstGeom prst="roundRect">
            <a:avLst>
              <a:gd name="adj" fmla="val 2254"/>
            </a:avLst>
          </a:prstGeom>
          <a:solidFill>
            <a:srgbClr val="1D4ED8"/>
          </a:solidFill>
          <a:ln w="12700">
            <a:solidFill>
              <a:srgbClr val="FFFFFF">
                <a:alpha val="12000"/>
              </a:srgbClr>
            </a:solidFill>
            <a:prstDash val="solid"/>
          </a:ln>
        </p:spPr>
      </p:sp>
      <p:sp>
        <p:nvSpPr>
          <p:cNvPr id="6" name="Text 4"/>
          <p:cNvSpPr/>
          <p:nvPr/>
        </p:nvSpPr>
        <p:spPr>
          <a:xfrm>
            <a:off x="1097280" y="2103120"/>
            <a:ext cx="2788920" cy="3200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rPr>
              <a:t>At most once</a:t>
            </a:r>
            <a:endParaRPr lang="en-US" sz="2400" dirty="0"/>
          </a:p>
        </p:txBody>
      </p:sp>
      <p:sp>
        <p:nvSpPr>
          <p:cNvPr id="7" name="Text 5"/>
          <p:cNvSpPr/>
          <p:nvPr/>
        </p:nvSpPr>
        <p:spPr>
          <a:xfrm>
            <a:off x="1188720" y="2926080"/>
            <a:ext cx="2606040" cy="502920"/>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rPr>
              <a:t>Fast, but events may be lost</a:t>
            </a:r>
            <a:endParaRPr lang="en-US" sz="1700" dirty="0"/>
          </a:p>
        </p:txBody>
      </p:sp>
      <p:sp>
        <p:nvSpPr>
          <p:cNvPr id="8" name="Shape 6"/>
          <p:cNvSpPr/>
          <p:nvPr/>
        </p:nvSpPr>
        <p:spPr>
          <a:xfrm>
            <a:off x="1371600" y="3794760"/>
            <a:ext cx="2240280" cy="0"/>
          </a:xfrm>
          <a:prstGeom prst="line">
            <a:avLst/>
          </a:prstGeom>
          <a:noFill/>
          <a:ln w="12700">
            <a:solidFill>
              <a:srgbClr val="FFFFFF">
                <a:alpha val="55000"/>
              </a:srgbClr>
            </a:solidFill>
            <a:prstDash val="solid"/>
          </a:ln>
        </p:spPr>
      </p:sp>
      <p:sp>
        <p:nvSpPr>
          <p:cNvPr id="9" name="Text 7"/>
          <p:cNvSpPr/>
          <p:nvPr/>
        </p:nvSpPr>
        <p:spPr>
          <a:xfrm>
            <a:off x="1188720" y="4069080"/>
            <a:ext cx="2606040" cy="457200"/>
          </a:xfrm>
          <a:prstGeom prst="rect">
            <a:avLst/>
          </a:prstGeom>
          <a:noFill/>
          <a:ln/>
        </p:spPr>
        <p:txBody>
          <a:bodyPr wrap="square" lIns="0" tIns="0" rIns="0" bIns="0" rtlCol="0" anchor="ctr">
            <a:normAutofit/>
          </a:bodyPr>
          <a:lstStyle/>
          <a:p>
            <a:pPr marL="0" indent="0" algn="ctr">
              <a:buNone/>
            </a:pPr>
            <a:r>
              <a:rPr lang="en-US" sz="1250" dirty="0">
                <a:solidFill>
                  <a:srgbClr val="E5E7EB"/>
                </a:solidFill>
              </a:rPr>
              <a:t>Good for low-risk telemetry</a:t>
            </a:r>
            <a:endParaRPr lang="en-US" sz="1250" dirty="0"/>
          </a:p>
        </p:txBody>
      </p:sp>
      <p:sp>
        <p:nvSpPr>
          <p:cNvPr id="10" name="Shape 8"/>
          <p:cNvSpPr/>
          <p:nvPr/>
        </p:nvSpPr>
        <p:spPr>
          <a:xfrm>
            <a:off x="4617720" y="1691640"/>
            <a:ext cx="3246120" cy="3337560"/>
          </a:xfrm>
          <a:prstGeom prst="roundRect">
            <a:avLst>
              <a:gd name="adj" fmla="val 2254"/>
            </a:avLst>
          </a:prstGeom>
          <a:solidFill>
            <a:srgbClr val="7C3AED"/>
          </a:solidFill>
          <a:ln w="12700">
            <a:solidFill>
              <a:srgbClr val="FFFFFF">
                <a:alpha val="12000"/>
              </a:srgbClr>
            </a:solidFill>
            <a:prstDash val="solid"/>
          </a:ln>
        </p:spPr>
      </p:sp>
      <p:sp>
        <p:nvSpPr>
          <p:cNvPr id="11" name="Text 9"/>
          <p:cNvSpPr/>
          <p:nvPr/>
        </p:nvSpPr>
        <p:spPr>
          <a:xfrm>
            <a:off x="4846320" y="2103120"/>
            <a:ext cx="2788920" cy="3200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rPr>
              <a:t>At least once</a:t>
            </a:r>
            <a:endParaRPr lang="en-US" sz="2400" dirty="0"/>
          </a:p>
        </p:txBody>
      </p:sp>
      <p:sp>
        <p:nvSpPr>
          <p:cNvPr id="12" name="Text 10"/>
          <p:cNvSpPr/>
          <p:nvPr/>
        </p:nvSpPr>
        <p:spPr>
          <a:xfrm>
            <a:off x="4937760" y="2926080"/>
            <a:ext cx="2606040" cy="502920"/>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rPr>
              <a:t>No loss, but duplicates may appear</a:t>
            </a:r>
            <a:endParaRPr lang="en-US" sz="1700" dirty="0"/>
          </a:p>
        </p:txBody>
      </p:sp>
      <p:sp>
        <p:nvSpPr>
          <p:cNvPr id="13" name="Shape 11"/>
          <p:cNvSpPr/>
          <p:nvPr/>
        </p:nvSpPr>
        <p:spPr>
          <a:xfrm>
            <a:off x="5120640" y="3794760"/>
            <a:ext cx="2240280" cy="0"/>
          </a:xfrm>
          <a:prstGeom prst="line">
            <a:avLst/>
          </a:prstGeom>
          <a:noFill/>
          <a:ln w="12700">
            <a:solidFill>
              <a:srgbClr val="FFFFFF">
                <a:alpha val="55000"/>
              </a:srgbClr>
            </a:solidFill>
            <a:prstDash val="solid"/>
          </a:ln>
        </p:spPr>
      </p:sp>
      <p:sp>
        <p:nvSpPr>
          <p:cNvPr id="14" name="Text 12"/>
          <p:cNvSpPr/>
          <p:nvPr/>
        </p:nvSpPr>
        <p:spPr>
          <a:xfrm>
            <a:off x="4937760" y="4069080"/>
            <a:ext cx="2606040" cy="457200"/>
          </a:xfrm>
          <a:prstGeom prst="rect">
            <a:avLst/>
          </a:prstGeom>
          <a:noFill/>
          <a:ln/>
        </p:spPr>
        <p:txBody>
          <a:bodyPr wrap="square" lIns="0" tIns="0" rIns="0" bIns="0" rtlCol="0" anchor="ctr">
            <a:normAutofit/>
          </a:bodyPr>
          <a:lstStyle/>
          <a:p>
            <a:pPr marL="0" indent="0" algn="ctr">
              <a:buNone/>
            </a:pPr>
            <a:r>
              <a:rPr lang="en-US" sz="1250" dirty="0">
                <a:solidFill>
                  <a:srgbClr val="E5E7EB"/>
                </a:solidFill>
              </a:rPr>
              <a:t>Common with retries</a:t>
            </a:r>
            <a:endParaRPr lang="en-US" sz="1250" dirty="0"/>
          </a:p>
        </p:txBody>
      </p:sp>
      <p:sp>
        <p:nvSpPr>
          <p:cNvPr id="15" name="Shape 13"/>
          <p:cNvSpPr/>
          <p:nvPr/>
        </p:nvSpPr>
        <p:spPr>
          <a:xfrm>
            <a:off x="8366760" y="1691640"/>
            <a:ext cx="3246120" cy="3337560"/>
          </a:xfrm>
          <a:prstGeom prst="roundRect">
            <a:avLst>
              <a:gd name="adj" fmla="val 2254"/>
            </a:avLst>
          </a:prstGeom>
          <a:solidFill>
            <a:srgbClr val="059669"/>
          </a:solidFill>
          <a:ln w="12700">
            <a:solidFill>
              <a:srgbClr val="FFFFFF">
                <a:alpha val="12000"/>
              </a:srgbClr>
            </a:solidFill>
            <a:prstDash val="solid"/>
          </a:ln>
        </p:spPr>
      </p:sp>
      <p:sp>
        <p:nvSpPr>
          <p:cNvPr id="16" name="Text 14"/>
          <p:cNvSpPr/>
          <p:nvPr/>
        </p:nvSpPr>
        <p:spPr>
          <a:xfrm>
            <a:off x="8595360" y="2103120"/>
            <a:ext cx="2788920" cy="3200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rPr>
              <a:t>Exactly once</a:t>
            </a:r>
            <a:endParaRPr lang="en-US" sz="2400" dirty="0"/>
          </a:p>
        </p:txBody>
      </p:sp>
      <p:sp>
        <p:nvSpPr>
          <p:cNvPr id="17" name="Text 15"/>
          <p:cNvSpPr/>
          <p:nvPr/>
        </p:nvSpPr>
        <p:spPr>
          <a:xfrm>
            <a:off x="8686800" y="2926080"/>
            <a:ext cx="2606040" cy="502920"/>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rPr>
              <a:t>Final result updated once</a:t>
            </a:r>
            <a:endParaRPr lang="en-US" sz="1700" dirty="0"/>
          </a:p>
        </p:txBody>
      </p:sp>
      <p:sp>
        <p:nvSpPr>
          <p:cNvPr id="18" name="Shape 16"/>
          <p:cNvSpPr/>
          <p:nvPr/>
        </p:nvSpPr>
        <p:spPr>
          <a:xfrm>
            <a:off x="8869680" y="3794760"/>
            <a:ext cx="2240280" cy="0"/>
          </a:xfrm>
          <a:prstGeom prst="line">
            <a:avLst/>
          </a:prstGeom>
          <a:noFill/>
          <a:ln w="12700">
            <a:solidFill>
              <a:srgbClr val="FFFFFF">
                <a:alpha val="55000"/>
              </a:srgbClr>
            </a:solidFill>
            <a:prstDash val="solid"/>
          </a:ln>
        </p:spPr>
      </p:sp>
      <p:sp>
        <p:nvSpPr>
          <p:cNvPr id="19" name="Text 17"/>
          <p:cNvSpPr/>
          <p:nvPr/>
        </p:nvSpPr>
        <p:spPr>
          <a:xfrm>
            <a:off x="8686800" y="4069080"/>
            <a:ext cx="2606040" cy="457200"/>
          </a:xfrm>
          <a:prstGeom prst="rect">
            <a:avLst/>
          </a:prstGeom>
          <a:noFill/>
          <a:ln/>
        </p:spPr>
        <p:txBody>
          <a:bodyPr wrap="square" lIns="0" tIns="0" rIns="0" bIns="0" rtlCol="0" anchor="ctr">
            <a:normAutofit/>
          </a:bodyPr>
          <a:lstStyle/>
          <a:p>
            <a:pPr marL="0" indent="0" algn="ctr">
              <a:buNone/>
            </a:pPr>
            <a:r>
              <a:rPr lang="en-US" sz="1250" dirty="0">
                <a:solidFill>
                  <a:srgbClr val="E5E7EB"/>
                </a:solidFill>
              </a:rPr>
              <a:t>Requires end-to-end support</a:t>
            </a:r>
            <a:endParaRPr lang="en-US" sz="1250" dirty="0"/>
          </a:p>
        </p:txBody>
      </p:sp>
      <p:sp>
        <p:nvSpPr>
          <p:cNvPr id="20" name="Text 18"/>
          <p:cNvSpPr/>
          <p:nvPr/>
        </p:nvSpPr>
        <p:spPr>
          <a:xfrm>
            <a:off x="1097280" y="5760720"/>
            <a:ext cx="9966960" cy="320040"/>
          </a:xfrm>
          <a:prstGeom prst="rect">
            <a:avLst/>
          </a:prstGeom>
          <a:noFill/>
          <a:ln/>
        </p:spPr>
        <p:txBody>
          <a:bodyPr wrap="square" lIns="0" tIns="0" rIns="0" bIns="0" rtlCol="0" anchor="ctr"/>
          <a:lstStyle/>
          <a:p>
            <a:pPr marL="0" indent="0" algn="ctr">
              <a:buNone/>
            </a:pPr>
            <a:r>
              <a:rPr lang="en-US" sz="1800" b="1" dirty="0">
                <a:solidFill>
                  <a:srgbClr val="FDE68A"/>
                </a:solidFill>
              </a:rPr>
              <a:t>Data engineers design deduplication and idempotent sinks to protect final results.</a:t>
            </a:r>
            <a:endParaRPr lang="en-US" sz="1800" dirty="0"/>
          </a:p>
        </p:txBody>
      </p:sp>
      <p:sp>
        <p:nvSpPr>
          <p:cNvPr id="22" name="Text 1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Real-world streaming applications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The same pattern appears across industries</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pic>
        <p:nvPicPr>
          <p:cNvPr id="5" name="Image 0" descr="/mnt/data/a_detailed_high_tech_infographic_collage_scene_in.png"/>
          <p:cNvPicPr>
            <a:picLocks noChangeAspect="1"/>
          </p:cNvPicPr>
          <p:nvPr/>
        </p:nvPicPr>
        <p:blipFill>
          <a:blip r:embed="rId3"/>
          <a:srcRect l="16768" r="16768"/>
          <a:stretch/>
        </p:blipFill>
        <p:spPr>
          <a:xfrm>
            <a:off x="457200" y="1417320"/>
            <a:ext cx="5669280" cy="4800600"/>
          </a:xfrm>
          <a:prstGeom prst="rect">
            <a:avLst/>
          </a:prstGeom>
        </p:spPr>
      </p:pic>
      <p:sp>
        <p:nvSpPr>
          <p:cNvPr id="6" name="Shape 3"/>
          <p:cNvSpPr/>
          <p:nvPr/>
        </p:nvSpPr>
        <p:spPr>
          <a:xfrm>
            <a:off x="457200" y="1417320"/>
            <a:ext cx="5669280" cy="4800600"/>
          </a:xfrm>
          <a:prstGeom prst="roundRect">
            <a:avLst>
              <a:gd name="adj" fmla="val 1524"/>
            </a:avLst>
          </a:prstGeom>
          <a:solidFill>
            <a:srgbClr val="FFFFFF">
              <a:alpha val="0"/>
            </a:srgbClr>
          </a:solidFill>
          <a:ln w="15240">
            <a:solidFill>
              <a:srgbClr val="FFFFFF">
                <a:alpha val="25000"/>
              </a:srgbClr>
            </a:solidFill>
            <a:prstDash val="solid"/>
          </a:ln>
        </p:spPr>
      </p:sp>
      <p:sp>
        <p:nvSpPr>
          <p:cNvPr id="7" name="Shape 4"/>
          <p:cNvSpPr/>
          <p:nvPr/>
        </p:nvSpPr>
        <p:spPr>
          <a:xfrm>
            <a:off x="6446520" y="1298448"/>
            <a:ext cx="2240280" cy="960120"/>
          </a:xfrm>
          <a:prstGeom prst="roundRect">
            <a:avLst>
              <a:gd name="adj" fmla="val 7619"/>
            </a:avLst>
          </a:prstGeom>
          <a:solidFill>
            <a:srgbClr val="DBEAFE"/>
          </a:solidFill>
          <a:ln w="12700">
            <a:solidFill>
              <a:srgbClr val="FFFFFF">
                <a:alpha val="12000"/>
              </a:srgbClr>
            </a:solidFill>
            <a:prstDash val="solid"/>
          </a:ln>
        </p:spPr>
      </p:sp>
      <p:sp>
        <p:nvSpPr>
          <p:cNvPr id="8" name="Text 5"/>
          <p:cNvSpPr/>
          <p:nvPr/>
        </p:nvSpPr>
        <p:spPr>
          <a:xfrm>
            <a:off x="6592824" y="1499616"/>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Banking</a:t>
            </a:r>
            <a:endParaRPr lang="en-US" sz="1450" dirty="0"/>
          </a:p>
        </p:txBody>
      </p:sp>
      <p:sp>
        <p:nvSpPr>
          <p:cNvPr id="9" name="Text 6"/>
          <p:cNvSpPr/>
          <p:nvPr/>
        </p:nvSpPr>
        <p:spPr>
          <a:xfrm>
            <a:off x="6592824" y="1865376"/>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Fraud detection</a:t>
            </a:r>
            <a:endParaRPr lang="en-US" sz="1050" dirty="0"/>
          </a:p>
        </p:txBody>
      </p:sp>
      <p:sp>
        <p:nvSpPr>
          <p:cNvPr id="10" name="Shape 7"/>
          <p:cNvSpPr/>
          <p:nvPr/>
        </p:nvSpPr>
        <p:spPr>
          <a:xfrm>
            <a:off x="8961120" y="1298448"/>
            <a:ext cx="2240280" cy="960120"/>
          </a:xfrm>
          <a:prstGeom prst="roundRect">
            <a:avLst>
              <a:gd name="adj" fmla="val 7619"/>
            </a:avLst>
          </a:prstGeom>
          <a:solidFill>
            <a:srgbClr val="FCE7F3"/>
          </a:solidFill>
          <a:ln w="12700">
            <a:solidFill>
              <a:srgbClr val="FFFFFF">
                <a:alpha val="12000"/>
              </a:srgbClr>
            </a:solidFill>
            <a:prstDash val="solid"/>
          </a:ln>
        </p:spPr>
      </p:sp>
      <p:sp>
        <p:nvSpPr>
          <p:cNvPr id="11" name="Text 8"/>
          <p:cNvSpPr/>
          <p:nvPr/>
        </p:nvSpPr>
        <p:spPr>
          <a:xfrm>
            <a:off x="9107424" y="1499616"/>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E-commerce</a:t>
            </a:r>
            <a:endParaRPr lang="en-US" sz="1450" dirty="0"/>
          </a:p>
        </p:txBody>
      </p:sp>
      <p:sp>
        <p:nvSpPr>
          <p:cNvPr id="12" name="Text 9"/>
          <p:cNvSpPr/>
          <p:nvPr/>
        </p:nvSpPr>
        <p:spPr>
          <a:xfrm>
            <a:off x="9107424" y="1865376"/>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Inventory + orders</a:t>
            </a:r>
            <a:endParaRPr lang="en-US" sz="1050" dirty="0"/>
          </a:p>
        </p:txBody>
      </p:sp>
      <p:sp>
        <p:nvSpPr>
          <p:cNvPr id="13" name="Shape 10"/>
          <p:cNvSpPr/>
          <p:nvPr/>
        </p:nvSpPr>
        <p:spPr>
          <a:xfrm>
            <a:off x="6446520" y="2688336"/>
            <a:ext cx="2240280" cy="960120"/>
          </a:xfrm>
          <a:prstGeom prst="roundRect">
            <a:avLst>
              <a:gd name="adj" fmla="val 7619"/>
            </a:avLst>
          </a:prstGeom>
          <a:solidFill>
            <a:srgbClr val="DCFCE7"/>
          </a:solidFill>
          <a:ln w="12700">
            <a:solidFill>
              <a:srgbClr val="FFFFFF">
                <a:alpha val="12000"/>
              </a:srgbClr>
            </a:solidFill>
            <a:prstDash val="solid"/>
          </a:ln>
        </p:spPr>
      </p:sp>
      <p:sp>
        <p:nvSpPr>
          <p:cNvPr id="14" name="Text 11"/>
          <p:cNvSpPr/>
          <p:nvPr/>
        </p:nvSpPr>
        <p:spPr>
          <a:xfrm>
            <a:off x="6592824" y="2889504"/>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Manufacturing</a:t>
            </a:r>
            <a:endParaRPr lang="en-US" sz="1450" dirty="0"/>
          </a:p>
        </p:txBody>
      </p:sp>
      <p:sp>
        <p:nvSpPr>
          <p:cNvPr id="15" name="Text 12"/>
          <p:cNvSpPr/>
          <p:nvPr/>
        </p:nvSpPr>
        <p:spPr>
          <a:xfrm>
            <a:off x="6592824" y="3255264"/>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Machine monitoring</a:t>
            </a:r>
            <a:endParaRPr lang="en-US" sz="1050" dirty="0"/>
          </a:p>
        </p:txBody>
      </p:sp>
      <p:sp>
        <p:nvSpPr>
          <p:cNvPr id="16" name="Shape 13"/>
          <p:cNvSpPr/>
          <p:nvPr/>
        </p:nvSpPr>
        <p:spPr>
          <a:xfrm>
            <a:off x="8961120" y="2688336"/>
            <a:ext cx="2240280" cy="960120"/>
          </a:xfrm>
          <a:prstGeom prst="roundRect">
            <a:avLst>
              <a:gd name="adj" fmla="val 7619"/>
            </a:avLst>
          </a:prstGeom>
          <a:solidFill>
            <a:srgbClr val="FEF3C7"/>
          </a:solidFill>
          <a:ln w="12700">
            <a:solidFill>
              <a:srgbClr val="FFFFFF">
                <a:alpha val="12000"/>
              </a:srgbClr>
            </a:solidFill>
            <a:prstDash val="solid"/>
          </a:ln>
        </p:spPr>
      </p:sp>
      <p:sp>
        <p:nvSpPr>
          <p:cNvPr id="17" name="Text 14"/>
          <p:cNvSpPr/>
          <p:nvPr/>
        </p:nvSpPr>
        <p:spPr>
          <a:xfrm>
            <a:off x="9107424" y="2889504"/>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Transport</a:t>
            </a:r>
            <a:endParaRPr lang="en-US" sz="1450" dirty="0"/>
          </a:p>
        </p:txBody>
      </p:sp>
      <p:sp>
        <p:nvSpPr>
          <p:cNvPr id="18" name="Text 15"/>
          <p:cNvSpPr/>
          <p:nvPr/>
        </p:nvSpPr>
        <p:spPr>
          <a:xfrm>
            <a:off x="9107424" y="3255264"/>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Live location</a:t>
            </a:r>
            <a:endParaRPr lang="en-US" sz="1050" dirty="0"/>
          </a:p>
        </p:txBody>
      </p:sp>
      <p:sp>
        <p:nvSpPr>
          <p:cNvPr id="19" name="Shape 16"/>
          <p:cNvSpPr/>
          <p:nvPr/>
        </p:nvSpPr>
        <p:spPr>
          <a:xfrm>
            <a:off x="6446520" y="4078224"/>
            <a:ext cx="2240280" cy="960120"/>
          </a:xfrm>
          <a:prstGeom prst="roundRect">
            <a:avLst>
              <a:gd name="adj" fmla="val 7619"/>
            </a:avLst>
          </a:prstGeom>
          <a:solidFill>
            <a:srgbClr val="EDE9FE"/>
          </a:solidFill>
          <a:ln w="12700">
            <a:solidFill>
              <a:srgbClr val="FFFFFF">
                <a:alpha val="12000"/>
              </a:srgbClr>
            </a:solidFill>
            <a:prstDash val="solid"/>
          </a:ln>
        </p:spPr>
      </p:sp>
      <p:sp>
        <p:nvSpPr>
          <p:cNvPr id="20" name="Text 17"/>
          <p:cNvSpPr/>
          <p:nvPr/>
        </p:nvSpPr>
        <p:spPr>
          <a:xfrm>
            <a:off x="6592824" y="4279392"/>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Healthcare</a:t>
            </a:r>
            <a:endParaRPr lang="en-US" sz="1450" dirty="0"/>
          </a:p>
        </p:txBody>
      </p:sp>
      <p:sp>
        <p:nvSpPr>
          <p:cNvPr id="21" name="Text 18"/>
          <p:cNvSpPr/>
          <p:nvPr/>
        </p:nvSpPr>
        <p:spPr>
          <a:xfrm>
            <a:off x="6592824" y="4645152"/>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Patient device alerts</a:t>
            </a:r>
            <a:endParaRPr lang="en-US" sz="1050" dirty="0"/>
          </a:p>
        </p:txBody>
      </p:sp>
      <p:sp>
        <p:nvSpPr>
          <p:cNvPr id="22" name="Shape 19"/>
          <p:cNvSpPr/>
          <p:nvPr/>
        </p:nvSpPr>
        <p:spPr>
          <a:xfrm>
            <a:off x="8961120" y="4078224"/>
            <a:ext cx="2240280" cy="960120"/>
          </a:xfrm>
          <a:prstGeom prst="roundRect">
            <a:avLst>
              <a:gd name="adj" fmla="val 7619"/>
            </a:avLst>
          </a:prstGeom>
          <a:solidFill>
            <a:srgbClr val="FFEDD5"/>
          </a:solidFill>
          <a:ln w="12700">
            <a:solidFill>
              <a:srgbClr val="FFFFFF">
                <a:alpha val="12000"/>
              </a:srgbClr>
            </a:solidFill>
            <a:prstDash val="solid"/>
          </a:ln>
        </p:spPr>
      </p:sp>
      <p:sp>
        <p:nvSpPr>
          <p:cNvPr id="23" name="Text 20"/>
          <p:cNvSpPr/>
          <p:nvPr/>
        </p:nvSpPr>
        <p:spPr>
          <a:xfrm>
            <a:off x="9107424" y="4279392"/>
            <a:ext cx="1920240" cy="219456"/>
          </a:xfrm>
          <a:prstGeom prst="rect">
            <a:avLst/>
          </a:prstGeom>
          <a:noFill/>
          <a:ln/>
        </p:spPr>
        <p:txBody>
          <a:bodyPr wrap="square" lIns="0" tIns="0" rIns="0" bIns="0" rtlCol="0" anchor="ctr">
            <a:normAutofit/>
          </a:bodyPr>
          <a:lstStyle/>
          <a:p>
            <a:pPr marL="0" indent="0">
              <a:buNone/>
            </a:pPr>
            <a:r>
              <a:rPr lang="en-US" sz="1450" b="1" dirty="0">
                <a:solidFill>
                  <a:srgbClr val="172033"/>
                </a:solidFill>
              </a:rPr>
              <a:t>🛡️ Security</a:t>
            </a:r>
            <a:endParaRPr lang="en-US" sz="1450" dirty="0"/>
          </a:p>
        </p:txBody>
      </p:sp>
      <p:sp>
        <p:nvSpPr>
          <p:cNvPr id="24" name="Text 21"/>
          <p:cNvSpPr/>
          <p:nvPr/>
        </p:nvSpPr>
        <p:spPr>
          <a:xfrm>
            <a:off x="9107424" y="4645152"/>
            <a:ext cx="1920240" cy="182880"/>
          </a:xfrm>
          <a:prstGeom prst="rect">
            <a:avLst/>
          </a:prstGeom>
          <a:noFill/>
          <a:ln/>
        </p:spPr>
        <p:txBody>
          <a:bodyPr wrap="square" lIns="0" tIns="0" rIns="0" bIns="0" rtlCol="0" anchor="ctr">
            <a:normAutofit/>
          </a:bodyPr>
          <a:lstStyle/>
          <a:p>
            <a:pPr marL="0" indent="0">
              <a:buNone/>
            </a:pPr>
            <a:r>
              <a:rPr lang="en-US" sz="1050" dirty="0">
                <a:solidFill>
                  <a:srgbClr val="475569"/>
                </a:solidFill>
              </a:rPr>
              <a:t>Log anomaly detection</a:t>
            </a:r>
            <a:endParaRPr lang="en-US" sz="1050" dirty="0"/>
          </a:p>
        </p:txBody>
      </p:sp>
      <p:sp>
        <p:nvSpPr>
          <p:cNvPr id="26" name="Text 22"/>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11F"/>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Streaming challenges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Fast systems still need careful design</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sp>
        <p:nvSpPr>
          <p:cNvPr id="5" name="Shape 3"/>
          <p:cNvSpPr/>
          <p:nvPr/>
        </p:nvSpPr>
        <p:spPr>
          <a:xfrm>
            <a:off x="685800" y="1463040"/>
            <a:ext cx="3154680" cy="1234440"/>
          </a:xfrm>
          <a:prstGeom prst="roundRect">
            <a:avLst>
              <a:gd name="adj" fmla="val 5926"/>
            </a:avLst>
          </a:prstGeom>
          <a:solidFill>
            <a:srgbClr val="111B35"/>
          </a:solidFill>
          <a:ln w="12700">
            <a:solidFill>
              <a:srgbClr val="FFFFFF">
                <a:alpha val="12000"/>
              </a:srgbClr>
            </a:solidFill>
            <a:prstDash val="solid"/>
          </a:ln>
        </p:spPr>
      </p:sp>
      <p:sp>
        <p:nvSpPr>
          <p:cNvPr id="6" name="Text 4"/>
          <p:cNvSpPr/>
          <p:nvPr/>
        </p:nvSpPr>
        <p:spPr>
          <a:xfrm>
            <a:off x="886968" y="1719072"/>
            <a:ext cx="2651760" cy="228600"/>
          </a:xfrm>
          <a:prstGeom prst="rect">
            <a:avLst/>
          </a:prstGeom>
          <a:noFill/>
          <a:ln/>
        </p:spPr>
        <p:txBody>
          <a:bodyPr wrap="square" lIns="0" tIns="0" rIns="0" bIns="0" rtlCol="0" anchor="ctr"/>
          <a:lstStyle/>
          <a:p>
            <a:pPr marL="0" indent="0">
              <a:buNone/>
            </a:pPr>
            <a:r>
              <a:rPr lang="en-US" sz="1800" b="1" dirty="0">
                <a:solidFill>
                  <a:srgbClr val="FCA5A5"/>
                </a:solidFill>
              </a:rPr>
              <a:t>Late data</a:t>
            </a:r>
            <a:endParaRPr lang="en-US" sz="1800" dirty="0"/>
          </a:p>
        </p:txBody>
      </p:sp>
      <p:sp>
        <p:nvSpPr>
          <p:cNvPr id="7" name="Text 5"/>
          <p:cNvSpPr/>
          <p:nvPr/>
        </p:nvSpPr>
        <p:spPr>
          <a:xfrm>
            <a:off x="886968" y="213055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Network delays make events arrive late</a:t>
            </a:r>
            <a:endParaRPr lang="en-US" sz="1150" dirty="0"/>
          </a:p>
        </p:txBody>
      </p:sp>
      <p:sp>
        <p:nvSpPr>
          <p:cNvPr id="8" name="Shape 6"/>
          <p:cNvSpPr/>
          <p:nvPr/>
        </p:nvSpPr>
        <p:spPr>
          <a:xfrm>
            <a:off x="4389120" y="1463040"/>
            <a:ext cx="3154680" cy="1234440"/>
          </a:xfrm>
          <a:prstGeom prst="roundRect">
            <a:avLst>
              <a:gd name="adj" fmla="val 5926"/>
            </a:avLst>
          </a:prstGeom>
          <a:solidFill>
            <a:srgbClr val="111B35"/>
          </a:solidFill>
          <a:ln w="12700">
            <a:solidFill>
              <a:srgbClr val="FFFFFF">
                <a:alpha val="12000"/>
              </a:srgbClr>
            </a:solidFill>
            <a:prstDash val="solid"/>
          </a:ln>
        </p:spPr>
      </p:sp>
      <p:sp>
        <p:nvSpPr>
          <p:cNvPr id="9" name="Text 7"/>
          <p:cNvSpPr/>
          <p:nvPr/>
        </p:nvSpPr>
        <p:spPr>
          <a:xfrm>
            <a:off x="4590288" y="1719072"/>
            <a:ext cx="2651760" cy="228600"/>
          </a:xfrm>
          <a:prstGeom prst="rect">
            <a:avLst/>
          </a:prstGeom>
          <a:noFill/>
          <a:ln/>
        </p:spPr>
        <p:txBody>
          <a:bodyPr wrap="square" lIns="0" tIns="0" rIns="0" bIns="0" rtlCol="0" anchor="ctr"/>
          <a:lstStyle/>
          <a:p>
            <a:pPr marL="0" indent="0">
              <a:buNone/>
            </a:pPr>
            <a:r>
              <a:rPr lang="en-US" sz="1800" b="1" dirty="0">
                <a:solidFill>
                  <a:srgbClr val="FBBF24"/>
                </a:solidFill>
              </a:rPr>
              <a:t>Duplicates</a:t>
            </a:r>
            <a:endParaRPr lang="en-US" sz="1800" dirty="0"/>
          </a:p>
        </p:txBody>
      </p:sp>
      <p:sp>
        <p:nvSpPr>
          <p:cNvPr id="10" name="Text 8"/>
          <p:cNvSpPr/>
          <p:nvPr/>
        </p:nvSpPr>
        <p:spPr>
          <a:xfrm>
            <a:off x="4590288" y="213055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Retries can publish the same event again</a:t>
            </a:r>
            <a:endParaRPr lang="en-US" sz="1150" dirty="0"/>
          </a:p>
        </p:txBody>
      </p:sp>
      <p:sp>
        <p:nvSpPr>
          <p:cNvPr id="11" name="Shape 9"/>
          <p:cNvSpPr/>
          <p:nvPr/>
        </p:nvSpPr>
        <p:spPr>
          <a:xfrm>
            <a:off x="8092440" y="1463040"/>
            <a:ext cx="3154680" cy="1234440"/>
          </a:xfrm>
          <a:prstGeom prst="roundRect">
            <a:avLst>
              <a:gd name="adj" fmla="val 5926"/>
            </a:avLst>
          </a:prstGeom>
          <a:solidFill>
            <a:srgbClr val="111B35"/>
          </a:solidFill>
          <a:ln w="12700">
            <a:solidFill>
              <a:srgbClr val="FFFFFF">
                <a:alpha val="12000"/>
              </a:srgbClr>
            </a:solidFill>
            <a:prstDash val="solid"/>
          </a:ln>
        </p:spPr>
      </p:sp>
      <p:sp>
        <p:nvSpPr>
          <p:cNvPr id="12" name="Text 10"/>
          <p:cNvSpPr/>
          <p:nvPr/>
        </p:nvSpPr>
        <p:spPr>
          <a:xfrm>
            <a:off x="8293608" y="1719072"/>
            <a:ext cx="2651760" cy="228600"/>
          </a:xfrm>
          <a:prstGeom prst="rect">
            <a:avLst/>
          </a:prstGeom>
          <a:noFill/>
          <a:ln/>
        </p:spPr>
        <p:txBody>
          <a:bodyPr wrap="square" lIns="0" tIns="0" rIns="0" bIns="0" rtlCol="0" anchor="ctr"/>
          <a:lstStyle/>
          <a:p>
            <a:pPr marL="0" indent="0">
              <a:buNone/>
            </a:pPr>
            <a:r>
              <a:rPr lang="en-US" sz="1800" b="1" dirty="0">
                <a:solidFill>
                  <a:srgbClr val="93C5FD"/>
                </a:solidFill>
              </a:rPr>
              <a:t>Ordering</a:t>
            </a:r>
            <a:endParaRPr lang="en-US" sz="1800" dirty="0"/>
          </a:p>
        </p:txBody>
      </p:sp>
      <p:sp>
        <p:nvSpPr>
          <p:cNvPr id="13" name="Text 11"/>
          <p:cNvSpPr/>
          <p:nvPr/>
        </p:nvSpPr>
        <p:spPr>
          <a:xfrm>
            <a:off x="8293608" y="213055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Distributed systems may reorder events</a:t>
            </a:r>
            <a:endParaRPr lang="en-US" sz="1150" dirty="0"/>
          </a:p>
        </p:txBody>
      </p:sp>
      <p:sp>
        <p:nvSpPr>
          <p:cNvPr id="14" name="Shape 12"/>
          <p:cNvSpPr/>
          <p:nvPr/>
        </p:nvSpPr>
        <p:spPr>
          <a:xfrm>
            <a:off x="685800" y="3337560"/>
            <a:ext cx="3154680" cy="1234440"/>
          </a:xfrm>
          <a:prstGeom prst="roundRect">
            <a:avLst>
              <a:gd name="adj" fmla="val 5926"/>
            </a:avLst>
          </a:prstGeom>
          <a:solidFill>
            <a:srgbClr val="111B35"/>
          </a:solidFill>
          <a:ln w="12700">
            <a:solidFill>
              <a:srgbClr val="FFFFFF">
                <a:alpha val="12000"/>
              </a:srgbClr>
            </a:solidFill>
            <a:prstDash val="solid"/>
          </a:ln>
        </p:spPr>
      </p:sp>
      <p:sp>
        <p:nvSpPr>
          <p:cNvPr id="15" name="Text 13"/>
          <p:cNvSpPr/>
          <p:nvPr/>
        </p:nvSpPr>
        <p:spPr>
          <a:xfrm>
            <a:off x="886968" y="3593592"/>
            <a:ext cx="2651760" cy="228600"/>
          </a:xfrm>
          <a:prstGeom prst="rect">
            <a:avLst/>
          </a:prstGeom>
          <a:noFill/>
          <a:ln/>
        </p:spPr>
        <p:txBody>
          <a:bodyPr wrap="square" lIns="0" tIns="0" rIns="0" bIns="0" rtlCol="0" anchor="ctr"/>
          <a:lstStyle/>
          <a:p>
            <a:pPr marL="0" indent="0">
              <a:buNone/>
            </a:pPr>
            <a:r>
              <a:rPr lang="en-US" sz="1800" b="1" dirty="0">
                <a:solidFill>
                  <a:srgbClr val="A7F3D0"/>
                </a:solidFill>
              </a:rPr>
              <a:t>Backpressure</a:t>
            </a:r>
            <a:endParaRPr lang="en-US" sz="1800" dirty="0"/>
          </a:p>
        </p:txBody>
      </p:sp>
      <p:sp>
        <p:nvSpPr>
          <p:cNvPr id="16" name="Text 14"/>
          <p:cNvSpPr/>
          <p:nvPr/>
        </p:nvSpPr>
        <p:spPr>
          <a:xfrm>
            <a:off x="886968" y="400507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Input may exceed processing capacity</a:t>
            </a:r>
            <a:endParaRPr lang="en-US" sz="1150" dirty="0"/>
          </a:p>
        </p:txBody>
      </p:sp>
      <p:sp>
        <p:nvSpPr>
          <p:cNvPr id="17" name="Shape 15"/>
          <p:cNvSpPr/>
          <p:nvPr/>
        </p:nvSpPr>
        <p:spPr>
          <a:xfrm>
            <a:off x="4389120" y="3337560"/>
            <a:ext cx="3154680" cy="1234440"/>
          </a:xfrm>
          <a:prstGeom prst="roundRect">
            <a:avLst>
              <a:gd name="adj" fmla="val 5926"/>
            </a:avLst>
          </a:prstGeom>
          <a:solidFill>
            <a:srgbClr val="111B35"/>
          </a:solidFill>
          <a:ln w="12700">
            <a:solidFill>
              <a:srgbClr val="FFFFFF">
                <a:alpha val="12000"/>
              </a:srgbClr>
            </a:solidFill>
            <a:prstDash val="solid"/>
          </a:ln>
        </p:spPr>
      </p:sp>
      <p:sp>
        <p:nvSpPr>
          <p:cNvPr id="18" name="Text 16"/>
          <p:cNvSpPr/>
          <p:nvPr/>
        </p:nvSpPr>
        <p:spPr>
          <a:xfrm>
            <a:off x="4590288" y="3593592"/>
            <a:ext cx="2651760" cy="228600"/>
          </a:xfrm>
          <a:prstGeom prst="rect">
            <a:avLst/>
          </a:prstGeom>
          <a:noFill/>
          <a:ln/>
        </p:spPr>
        <p:txBody>
          <a:bodyPr wrap="square" lIns="0" tIns="0" rIns="0" bIns="0" rtlCol="0" anchor="ctr"/>
          <a:lstStyle/>
          <a:p>
            <a:pPr marL="0" indent="0">
              <a:buNone/>
            </a:pPr>
            <a:r>
              <a:rPr lang="en-US" sz="1800" b="1" dirty="0">
                <a:solidFill>
                  <a:srgbClr val="DDD6FE"/>
                </a:solidFill>
              </a:rPr>
              <a:t>Schema changes</a:t>
            </a:r>
            <a:endParaRPr lang="en-US" sz="1800" dirty="0"/>
          </a:p>
        </p:txBody>
      </p:sp>
      <p:sp>
        <p:nvSpPr>
          <p:cNvPr id="19" name="Text 17"/>
          <p:cNvSpPr/>
          <p:nvPr/>
        </p:nvSpPr>
        <p:spPr>
          <a:xfrm>
            <a:off x="4590288" y="400507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Producers evolve over time</a:t>
            </a:r>
            <a:endParaRPr lang="en-US" sz="1150" dirty="0"/>
          </a:p>
        </p:txBody>
      </p:sp>
      <p:sp>
        <p:nvSpPr>
          <p:cNvPr id="20" name="Shape 18"/>
          <p:cNvSpPr/>
          <p:nvPr/>
        </p:nvSpPr>
        <p:spPr>
          <a:xfrm>
            <a:off x="8092440" y="3337560"/>
            <a:ext cx="3154680" cy="1234440"/>
          </a:xfrm>
          <a:prstGeom prst="roundRect">
            <a:avLst>
              <a:gd name="adj" fmla="val 5926"/>
            </a:avLst>
          </a:prstGeom>
          <a:solidFill>
            <a:srgbClr val="111B35"/>
          </a:solidFill>
          <a:ln w="12700">
            <a:solidFill>
              <a:srgbClr val="FFFFFF">
                <a:alpha val="12000"/>
              </a:srgbClr>
            </a:solidFill>
            <a:prstDash val="solid"/>
          </a:ln>
        </p:spPr>
      </p:sp>
      <p:sp>
        <p:nvSpPr>
          <p:cNvPr id="21" name="Text 19"/>
          <p:cNvSpPr/>
          <p:nvPr/>
        </p:nvSpPr>
        <p:spPr>
          <a:xfrm>
            <a:off x="8293608" y="3593592"/>
            <a:ext cx="2651760" cy="228600"/>
          </a:xfrm>
          <a:prstGeom prst="rect">
            <a:avLst/>
          </a:prstGeom>
          <a:noFill/>
          <a:ln/>
        </p:spPr>
        <p:txBody>
          <a:bodyPr wrap="square" lIns="0" tIns="0" rIns="0" bIns="0" rtlCol="0" anchor="ctr"/>
          <a:lstStyle/>
          <a:p>
            <a:pPr marL="0" indent="0">
              <a:buNone/>
            </a:pPr>
            <a:r>
              <a:rPr lang="en-US" sz="1800" b="1" dirty="0">
                <a:solidFill>
                  <a:srgbClr val="FDBA74"/>
                </a:solidFill>
              </a:rPr>
              <a:t>Cost &amp; state</a:t>
            </a:r>
            <a:endParaRPr lang="en-US" sz="1800" dirty="0"/>
          </a:p>
        </p:txBody>
      </p:sp>
      <p:sp>
        <p:nvSpPr>
          <p:cNvPr id="22" name="Text 20"/>
          <p:cNvSpPr/>
          <p:nvPr/>
        </p:nvSpPr>
        <p:spPr>
          <a:xfrm>
            <a:off x="8293608" y="4005072"/>
            <a:ext cx="2697480" cy="274320"/>
          </a:xfrm>
          <a:prstGeom prst="rect">
            <a:avLst/>
          </a:prstGeom>
          <a:noFill/>
          <a:ln/>
        </p:spPr>
        <p:txBody>
          <a:bodyPr wrap="square" lIns="0" tIns="0" rIns="0" bIns="0" rtlCol="0" anchor="ctr">
            <a:normAutofit/>
          </a:bodyPr>
          <a:lstStyle/>
          <a:p>
            <a:pPr marL="0" indent="0">
              <a:buNone/>
            </a:pPr>
            <a:r>
              <a:rPr lang="en-US" sz="1150" dirty="0">
                <a:solidFill>
                  <a:srgbClr val="CBD5E1"/>
                </a:solidFill>
              </a:rPr>
              <a:t>Long windows retain more data</a:t>
            </a:r>
            <a:endParaRPr lang="en-US" sz="1150" dirty="0"/>
          </a:p>
        </p:txBody>
      </p:sp>
      <p:sp>
        <p:nvSpPr>
          <p:cNvPr id="24" name="Text 21"/>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Design checklist for streaming pipelines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Practical rules for data engineers</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sp>
        <p:nvSpPr>
          <p:cNvPr id="5" name="Shape 3"/>
          <p:cNvSpPr/>
          <p:nvPr/>
        </p:nvSpPr>
        <p:spPr>
          <a:xfrm>
            <a:off x="822960" y="1508760"/>
            <a:ext cx="4800600" cy="822960"/>
          </a:xfrm>
          <a:prstGeom prst="roundRect">
            <a:avLst>
              <a:gd name="adj" fmla="val 8889"/>
            </a:avLst>
          </a:prstGeom>
          <a:solidFill>
            <a:srgbClr val="DBEAFE"/>
          </a:solidFill>
          <a:ln w="12700">
            <a:solidFill>
              <a:srgbClr val="FFFFFF">
                <a:alpha val="12000"/>
              </a:srgbClr>
            </a:solidFill>
            <a:prstDash val="solid"/>
          </a:ln>
        </p:spPr>
      </p:sp>
      <p:sp>
        <p:nvSpPr>
          <p:cNvPr id="6" name="Text 4"/>
          <p:cNvSpPr/>
          <p:nvPr/>
        </p:nvSpPr>
        <p:spPr>
          <a:xfrm>
            <a:off x="987552" y="171907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7" name="Text 5"/>
          <p:cNvSpPr/>
          <p:nvPr/>
        </p:nvSpPr>
        <p:spPr>
          <a:xfrm>
            <a:off x="1417320" y="172821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Define event schema and version it</a:t>
            </a:r>
            <a:endParaRPr lang="en-US" sz="1600" dirty="0"/>
          </a:p>
        </p:txBody>
      </p:sp>
      <p:sp>
        <p:nvSpPr>
          <p:cNvPr id="8" name="Shape 6"/>
          <p:cNvSpPr/>
          <p:nvPr/>
        </p:nvSpPr>
        <p:spPr>
          <a:xfrm>
            <a:off x="6080760" y="1508760"/>
            <a:ext cx="4800600" cy="822960"/>
          </a:xfrm>
          <a:prstGeom prst="roundRect">
            <a:avLst>
              <a:gd name="adj" fmla="val 8889"/>
            </a:avLst>
          </a:prstGeom>
          <a:solidFill>
            <a:srgbClr val="EDE9FE"/>
          </a:solidFill>
          <a:ln w="12700">
            <a:solidFill>
              <a:srgbClr val="FFFFFF">
                <a:alpha val="12000"/>
              </a:srgbClr>
            </a:solidFill>
            <a:prstDash val="solid"/>
          </a:ln>
        </p:spPr>
      </p:sp>
      <p:sp>
        <p:nvSpPr>
          <p:cNvPr id="9" name="Text 7"/>
          <p:cNvSpPr/>
          <p:nvPr/>
        </p:nvSpPr>
        <p:spPr>
          <a:xfrm>
            <a:off x="6245352" y="171907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10" name="Text 8"/>
          <p:cNvSpPr/>
          <p:nvPr/>
        </p:nvSpPr>
        <p:spPr>
          <a:xfrm>
            <a:off x="6675120" y="172821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Include unique event_id and event_time</a:t>
            </a:r>
            <a:endParaRPr lang="en-US" sz="1600" dirty="0"/>
          </a:p>
        </p:txBody>
      </p:sp>
      <p:sp>
        <p:nvSpPr>
          <p:cNvPr id="11" name="Shape 9"/>
          <p:cNvSpPr/>
          <p:nvPr/>
        </p:nvSpPr>
        <p:spPr>
          <a:xfrm>
            <a:off x="822960" y="2834640"/>
            <a:ext cx="4800600" cy="822960"/>
          </a:xfrm>
          <a:prstGeom prst="roundRect">
            <a:avLst>
              <a:gd name="adj" fmla="val 8889"/>
            </a:avLst>
          </a:prstGeom>
          <a:solidFill>
            <a:srgbClr val="DCFCE7"/>
          </a:solidFill>
          <a:ln w="12700">
            <a:solidFill>
              <a:srgbClr val="FFFFFF">
                <a:alpha val="12000"/>
              </a:srgbClr>
            </a:solidFill>
            <a:prstDash val="solid"/>
          </a:ln>
        </p:spPr>
      </p:sp>
      <p:sp>
        <p:nvSpPr>
          <p:cNvPr id="12" name="Text 10"/>
          <p:cNvSpPr/>
          <p:nvPr/>
        </p:nvSpPr>
        <p:spPr>
          <a:xfrm>
            <a:off x="987552" y="304495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13" name="Text 11"/>
          <p:cNvSpPr/>
          <p:nvPr/>
        </p:nvSpPr>
        <p:spPr>
          <a:xfrm>
            <a:off x="1417320" y="305409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Use a reliable broker for buffering</a:t>
            </a:r>
            <a:endParaRPr lang="en-US" sz="1600" dirty="0"/>
          </a:p>
        </p:txBody>
      </p:sp>
      <p:sp>
        <p:nvSpPr>
          <p:cNvPr id="14" name="Shape 12"/>
          <p:cNvSpPr/>
          <p:nvPr/>
        </p:nvSpPr>
        <p:spPr>
          <a:xfrm>
            <a:off x="6080760" y="2834640"/>
            <a:ext cx="4800600" cy="822960"/>
          </a:xfrm>
          <a:prstGeom prst="roundRect">
            <a:avLst>
              <a:gd name="adj" fmla="val 8889"/>
            </a:avLst>
          </a:prstGeom>
          <a:solidFill>
            <a:srgbClr val="FEF3C7"/>
          </a:solidFill>
          <a:ln w="12700">
            <a:solidFill>
              <a:srgbClr val="FFFFFF">
                <a:alpha val="12000"/>
              </a:srgbClr>
            </a:solidFill>
            <a:prstDash val="solid"/>
          </a:ln>
        </p:spPr>
      </p:sp>
      <p:sp>
        <p:nvSpPr>
          <p:cNvPr id="15" name="Text 13"/>
          <p:cNvSpPr/>
          <p:nvPr/>
        </p:nvSpPr>
        <p:spPr>
          <a:xfrm>
            <a:off x="6245352" y="304495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16" name="Text 14"/>
          <p:cNvSpPr/>
          <p:nvPr/>
        </p:nvSpPr>
        <p:spPr>
          <a:xfrm>
            <a:off x="6675120" y="305409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Checkpoint state and progress</a:t>
            </a:r>
            <a:endParaRPr lang="en-US" sz="1600" dirty="0"/>
          </a:p>
        </p:txBody>
      </p:sp>
      <p:sp>
        <p:nvSpPr>
          <p:cNvPr id="17" name="Shape 15"/>
          <p:cNvSpPr/>
          <p:nvPr/>
        </p:nvSpPr>
        <p:spPr>
          <a:xfrm>
            <a:off x="822960" y="4160520"/>
            <a:ext cx="4800600" cy="822960"/>
          </a:xfrm>
          <a:prstGeom prst="roundRect">
            <a:avLst>
              <a:gd name="adj" fmla="val 8889"/>
            </a:avLst>
          </a:prstGeom>
          <a:solidFill>
            <a:srgbClr val="FCE7F3"/>
          </a:solidFill>
          <a:ln w="12700">
            <a:solidFill>
              <a:srgbClr val="FFFFFF">
                <a:alpha val="12000"/>
              </a:srgbClr>
            </a:solidFill>
            <a:prstDash val="solid"/>
          </a:ln>
        </p:spPr>
      </p:sp>
      <p:sp>
        <p:nvSpPr>
          <p:cNvPr id="18" name="Text 16"/>
          <p:cNvSpPr/>
          <p:nvPr/>
        </p:nvSpPr>
        <p:spPr>
          <a:xfrm>
            <a:off x="987552" y="437083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19" name="Text 17"/>
          <p:cNvSpPr/>
          <p:nvPr/>
        </p:nvSpPr>
        <p:spPr>
          <a:xfrm>
            <a:off x="1417320" y="437997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Handle duplicates and bad records</a:t>
            </a:r>
            <a:endParaRPr lang="en-US" sz="1600" dirty="0"/>
          </a:p>
        </p:txBody>
      </p:sp>
      <p:sp>
        <p:nvSpPr>
          <p:cNvPr id="20" name="Shape 18"/>
          <p:cNvSpPr/>
          <p:nvPr/>
        </p:nvSpPr>
        <p:spPr>
          <a:xfrm>
            <a:off x="6080760" y="4160520"/>
            <a:ext cx="4800600" cy="822960"/>
          </a:xfrm>
          <a:prstGeom prst="roundRect">
            <a:avLst>
              <a:gd name="adj" fmla="val 8889"/>
            </a:avLst>
          </a:prstGeom>
          <a:solidFill>
            <a:srgbClr val="FFEDD5"/>
          </a:solidFill>
          <a:ln w="12700">
            <a:solidFill>
              <a:srgbClr val="FFFFFF">
                <a:alpha val="12000"/>
              </a:srgbClr>
            </a:solidFill>
            <a:prstDash val="solid"/>
          </a:ln>
        </p:spPr>
      </p:sp>
      <p:sp>
        <p:nvSpPr>
          <p:cNvPr id="21" name="Text 19"/>
          <p:cNvSpPr/>
          <p:nvPr/>
        </p:nvSpPr>
        <p:spPr>
          <a:xfrm>
            <a:off x="6245352" y="4370832"/>
            <a:ext cx="320040" cy="274320"/>
          </a:xfrm>
          <a:prstGeom prst="rect">
            <a:avLst/>
          </a:prstGeom>
          <a:noFill/>
          <a:ln/>
        </p:spPr>
        <p:txBody>
          <a:bodyPr wrap="square" lIns="0" tIns="0" rIns="0" bIns="0" rtlCol="0" anchor="ctr"/>
          <a:lstStyle/>
          <a:p>
            <a:pPr marL="0" indent="0">
              <a:buNone/>
            </a:pPr>
            <a:r>
              <a:rPr lang="en-US" sz="1800" b="1" dirty="0">
                <a:solidFill>
                  <a:srgbClr val="22C55E"/>
                </a:solidFill>
              </a:rPr>
              <a:t>✓</a:t>
            </a:r>
            <a:endParaRPr lang="en-US" sz="1800" dirty="0"/>
          </a:p>
        </p:txBody>
      </p:sp>
      <p:sp>
        <p:nvSpPr>
          <p:cNvPr id="22" name="Text 20"/>
          <p:cNvSpPr/>
          <p:nvPr/>
        </p:nvSpPr>
        <p:spPr>
          <a:xfrm>
            <a:off x="6675120" y="4379976"/>
            <a:ext cx="3977640" cy="228600"/>
          </a:xfrm>
          <a:prstGeom prst="rect">
            <a:avLst/>
          </a:prstGeom>
          <a:noFill/>
          <a:ln/>
        </p:spPr>
        <p:txBody>
          <a:bodyPr wrap="square" lIns="0" tIns="0" rIns="0" bIns="0" rtlCol="0" anchor="ctr">
            <a:normAutofit/>
          </a:bodyPr>
          <a:lstStyle/>
          <a:p>
            <a:pPr marL="0" indent="0">
              <a:buNone/>
            </a:pPr>
            <a:r>
              <a:rPr lang="en-US" sz="1600" b="1" dirty="0">
                <a:solidFill>
                  <a:srgbClr val="172033"/>
                </a:solidFill>
              </a:rPr>
              <a:t>Monitor lag, latency, failures, cost</a:t>
            </a:r>
            <a:endParaRPr lang="en-US" sz="1600" dirty="0"/>
          </a:p>
        </p:txBody>
      </p:sp>
      <p:sp>
        <p:nvSpPr>
          <p:cNvPr id="24" name="Text 21"/>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1224"/>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PySpark Structured Streaming: key commands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Students see the flow; presenter explains code</a:t>
            </a:r>
            <a:endParaRPr lang="en-US" sz="1250" dirty="0"/>
          </a:p>
        </p:txBody>
      </p:sp>
      <p:sp>
        <p:nvSpPr>
          <p:cNvPr id="4" name="Shape 2"/>
          <p:cNvSpPr/>
          <p:nvPr/>
        </p:nvSpPr>
        <p:spPr>
          <a:xfrm>
            <a:off x="548640" y="1234440"/>
            <a:ext cx="1920240" cy="0"/>
          </a:xfrm>
          <a:prstGeom prst="line">
            <a:avLst/>
          </a:prstGeom>
          <a:noFill/>
          <a:ln w="25400">
            <a:solidFill>
              <a:srgbClr val="06B6D4"/>
            </a:solidFill>
            <a:prstDash val="solid"/>
          </a:ln>
        </p:spPr>
      </p:sp>
      <p:sp>
        <p:nvSpPr>
          <p:cNvPr id="5" name="Shape 3"/>
          <p:cNvSpPr/>
          <p:nvPr/>
        </p:nvSpPr>
        <p:spPr>
          <a:xfrm>
            <a:off x="822960" y="1417320"/>
            <a:ext cx="10561320" cy="594360"/>
          </a:xfrm>
          <a:prstGeom prst="roundRect">
            <a:avLst>
              <a:gd name="adj" fmla="val 12308"/>
            </a:avLst>
          </a:prstGeom>
          <a:solidFill>
            <a:srgbClr val="111827"/>
          </a:solidFill>
          <a:ln w="12700">
            <a:solidFill>
              <a:srgbClr val="FFFFFF">
                <a:alpha val="12000"/>
              </a:srgbClr>
            </a:solidFill>
            <a:prstDash val="solid"/>
          </a:ln>
        </p:spPr>
      </p:sp>
      <p:sp>
        <p:nvSpPr>
          <p:cNvPr id="6" name="Text 4"/>
          <p:cNvSpPr/>
          <p:nvPr/>
        </p:nvSpPr>
        <p:spPr>
          <a:xfrm>
            <a:off x="1097280" y="1581912"/>
            <a:ext cx="2103120" cy="201168"/>
          </a:xfrm>
          <a:prstGeom prst="rect">
            <a:avLst/>
          </a:prstGeom>
          <a:noFill/>
          <a:ln/>
        </p:spPr>
        <p:txBody>
          <a:bodyPr wrap="square" lIns="0" tIns="0" rIns="0" bIns="0" rtlCol="0" anchor="ctr"/>
          <a:lstStyle/>
          <a:p>
            <a:pPr marL="0" indent="0">
              <a:buNone/>
            </a:pPr>
            <a:r>
              <a:rPr lang="en-US" sz="1700" b="1" dirty="0">
                <a:solidFill>
                  <a:srgbClr val="67E8F9"/>
                </a:solidFill>
              </a:rPr>
              <a:t>readStream</a:t>
            </a:r>
            <a:endParaRPr lang="en-US" sz="1700" dirty="0"/>
          </a:p>
        </p:txBody>
      </p:sp>
      <p:sp>
        <p:nvSpPr>
          <p:cNvPr id="7" name="Text 5"/>
          <p:cNvSpPr/>
          <p:nvPr/>
        </p:nvSpPr>
        <p:spPr>
          <a:xfrm>
            <a:off x="3429000" y="1581912"/>
            <a:ext cx="7223760" cy="201168"/>
          </a:xfrm>
          <a:prstGeom prst="rect">
            <a:avLst/>
          </a:prstGeom>
          <a:noFill/>
          <a:ln/>
        </p:spPr>
        <p:txBody>
          <a:bodyPr wrap="square" lIns="0" tIns="0" rIns="0" bIns="0" rtlCol="0" anchor="ctr">
            <a:normAutofit/>
          </a:bodyPr>
          <a:lstStyle/>
          <a:p>
            <a:pPr marL="0" indent="0">
              <a:buNone/>
            </a:pPr>
            <a:r>
              <a:rPr lang="en-US" sz="1400" dirty="0">
                <a:solidFill>
                  <a:srgbClr val="FFFFFF"/>
                </a:solidFill>
              </a:rPr>
              <a:t>Create streaming input DataFrame</a:t>
            </a:r>
            <a:endParaRPr lang="en-US" sz="1400" dirty="0"/>
          </a:p>
        </p:txBody>
      </p:sp>
      <p:sp>
        <p:nvSpPr>
          <p:cNvPr id="8" name="Shape 6"/>
          <p:cNvSpPr/>
          <p:nvPr/>
        </p:nvSpPr>
        <p:spPr>
          <a:xfrm>
            <a:off x="822960" y="2286000"/>
            <a:ext cx="10561320" cy="594360"/>
          </a:xfrm>
          <a:prstGeom prst="roundRect">
            <a:avLst>
              <a:gd name="adj" fmla="val 12308"/>
            </a:avLst>
          </a:prstGeom>
          <a:solidFill>
            <a:srgbClr val="111827"/>
          </a:solidFill>
          <a:ln w="12700">
            <a:solidFill>
              <a:srgbClr val="FFFFFF">
                <a:alpha val="12000"/>
              </a:srgbClr>
            </a:solidFill>
            <a:prstDash val="solid"/>
          </a:ln>
        </p:spPr>
      </p:sp>
      <p:sp>
        <p:nvSpPr>
          <p:cNvPr id="9" name="Text 7"/>
          <p:cNvSpPr/>
          <p:nvPr/>
        </p:nvSpPr>
        <p:spPr>
          <a:xfrm>
            <a:off x="1097280" y="2450592"/>
            <a:ext cx="2103120" cy="201168"/>
          </a:xfrm>
          <a:prstGeom prst="rect">
            <a:avLst/>
          </a:prstGeom>
          <a:noFill/>
          <a:ln/>
        </p:spPr>
        <p:txBody>
          <a:bodyPr wrap="square" lIns="0" tIns="0" rIns="0" bIns="0" rtlCol="0" anchor="ctr"/>
          <a:lstStyle/>
          <a:p>
            <a:pPr marL="0" indent="0">
              <a:buNone/>
            </a:pPr>
            <a:r>
              <a:rPr lang="en-US" sz="1700" b="1" dirty="0">
                <a:solidFill>
                  <a:srgbClr val="67E8F9"/>
                </a:solidFill>
              </a:rPr>
              <a:t>transform</a:t>
            </a:r>
            <a:endParaRPr lang="en-US" sz="1700" dirty="0"/>
          </a:p>
        </p:txBody>
      </p:sp>
      <p:sp>
        <p:nvSpPr>
          <p:cNvPr id="10" name="Text 8"/>
          <p:cNvSpPr/>
          <p:nvPr/>
        </p:nvSpPr>
        <p:spPr>
          <a:xfrm>
            <a:off x="3429000" y="2450592"/>
            <a:ext cx="7223760" cy="201168"/>
          </a:xfrm>
          <a:prstGeom prst="rect">
            <a:avLst/>
          </a:prstGeom>
          <a:noFill/>
          <a:ln/>
        </p:spPr>
        <p:txBody>
          <a:bodyPr wrap="square" lIns="0" tIns="0" rIns="0" bIns="0" rtlCol="0" anchor="ctr">
            <a:normAutofit/>
          </a:bodyPr>
          <a:lstStyle/>
          <a:p>
            <a:pPr marL="0" indent="0">
              <a:buNone/>
            </a:pPr>
            <a:r>
              <a:rPr lang="en-US" sz="1400" dirty="0">
                <a:solidFill>
                  <a:srgbClr val="FFFFFF"/>
                </a:solidFill>
              </a:rPr>
              <a:t>filter / select / groupBy / window</a:t>
            </a:r>
            <a:endParaRPr lang="en-US" sz="1400" dirty="0"/>
          </a:p>
        </p:txBody>
      </p:sp>
      <p:sp>
        <p:nvSpPr>
          <p:cNvPr id="11" name="Shape 9"/>
          <p:cNvSpPr/>
          <p:nvPr/>
        </p:nvSpPr>
        <p:spPr>
          <a:xfrm>
            <a:off x="822960" y="3154680"/>
            <a:ext cx="10561320" cy="594360"/>
          </a:xfrm>
          <a:prstGeom prst="roundRect">
            <a:avLst>
              <a:gd name="adj" fmla="val 12308"/>
            </a:avLst>
          </a:prstGeom>
          <a:solidFill>
            <a:srgbClr val="111827"/>
          </a:solidFill>
          <a:ln w="12700">
            <a:solidFill>
              <a:srgbClr val="FFFFFF">
                <a:alpha val="12000"/>
              </a:srgbClr>
            </a:solidFill>
            <a:prstDash val="solid"/>
          </a:ln>
        </p:spPr>
      </p:sp>
      <p:sp>
        <p:nvSpPr>
          <p:cNvPr id="12" name="Text 10"/>
          <p:cNvSpPr/>
          <p:nvPr/>
        </p:nvSpPr>
        <p:spPr>
          <a:xfrm>
            <a:off x="1097280" y="3319272"/>
            <a:ext cx="2103120" cy="201168"/>
          </a:xfrm>
          <a:prstGeom prst="rect">
            <a:avLst/>
          </a:prstGeom>
          <a:noFill/>
          <a:ln/>
        </p:spPr>
        <p:txBody>
          <a:bodyPr wrap="square" lIns="0" tIns="0" rIns="0" bIns="0" rtlCol="0" anchor="ctr"/>
          <a:lstStyle/>
          <a:p>
            <a:pPr marL="0" indent="0">
              <a:buNone/>
            </a:pPr>
            <a:r>
              <a:rPr lang="en-US" sz="1700" b="1" dirty="0">
                <a:solidFill>
                  <a:srgbClr val="67E8F9"/>
                </a:solidFill>
              </a:rPr>
              <a:t>writeStream</a:t>
            </a:r>
            <a:endParaRPr lang="en-US" sz="1700" dirty="0"/>
          </a:p>
        </p:txBody>
      </p:sp>
      <p:sp>
        <p:nvSpPr>
          <p:cNvPr id="13" name="Text 11"/>
          <p:cNvSpPr/>
          <p:nvPr/>
        </p:nvSpPr>
        <p:spPr>
          <a:xfrm>
            <a:off x="3429000" y="3319272"/>
            <a:ext cx="7223760" cy="201168"/>
          </a:xfrm>
          <a:prstGeom prst="rect">
            <a:avLst/>
          </a:prstGeom>
          <a:noFill/>
          <a:ln/>
        </p:spPr>
        <p:txBody>
          <a:bodyPr wrap="square" lIns="0" tIns="0" rIns="0" bIns="0" rtlCol="0" anchor="ctr">
            <a:normAutofit/>
          </a:bodyPr>
          <a:lstStyle/>
          <a:p>
            <a:pPr marL="0" indent="0">
              <a:buNone/>
            </a:pPr>
            <a:r>
              <a:rPr lang="en-US" sz="1400" dirty="0">
                <a:solidFill>
                  <a:srgbClr val="FFFFFF"/>
                </a:solidFill>
              </a:rPr>
              <a:t>Send output to sink</a:t>
            </a:r>
            <a:endParaRPr lang="en-US" sz="1400" dirty="0"/>
          </a:p>
        </p:txBody>
      </p:sp>
      <p:sp>
        <p:nvSpPr>
          <p:cNvPr id="14" name="Shape 12"/>
          <p:cNvSpPr/>
          <p:nvPr/>
        </p:nvSpPr>
        <p:spPr>
          <a:xfrm>
            <a:off x="822960" y="4023360"/>
            <a:ext cx="10561320" cy="594360"/>
          </a:xfrm>
          <a:prstGeom prst="roundRect">
            <a:avLst>
              <a:gd name="adj" fmla="val 12308"/>
            </a:avLst>
          </a:prstGeom>
          <a:solidFill>
            <a:srgbClr val="111827"/>
          </a:solidFill>
          <a:ln w="12700">
            <a:solidFill>
              <a:srgbClr val="FFFFFF">
                <a:alpha val="12000"/>
              </a:srgbClr>
            </a:solidFill>
            <a:prstDash val="solid"/>
          </a:ln>
        </p:spPr>
      </p:sp>
      <p:sp>
        <p:nvSpPr>
          <p:cNvPr id="15" name="Text 13"/>
          <p:cNvSpPr/>
          <p:nvPr/>
        </p:nvSpPr>
        <p:spPr>
          <a:xfrm>
            <a:off x="1097280" y="4187952"/>
            <a:ext cx="2103120" cy="201168"/>
          </a:xfrm>
          <a:prstGeom prst="rect">
            <a:avLst/>
          </a:prstGeom>
          <a:noFill/>
          <a:ln/>
        </p:spPr>
        <p:txBody>
          <a:bodyPr wrap="square" lIns="0" tIns="0" rIns="0" bIns="0" rtlCol="0" anchor="ctr"/>
          <a:lstStyle/>
          <a:p>
            <a:pPr marL="0" indent="0">
              <a:buNone/>
            </a:pPr>
            <a:r>
              <a:rPr lang="en-US" sz="1700" b="1" dirty="0">
                <a:solidFill>
                  <a:srgbClr val="67E8F9"/>
                </a:solidFill>
              </a:rPr>
              <a:t>checkpoint</a:t>
            </a:r>
            <a:endParaRPr lang="en-US" sz="1700" dirty="0"/>
          </a:p>
        </p:txBody>
      </p:sp>
      <p:sp>
        <p:nvSpPr>
          <p:cNvPr id="16" name="Text 14"/>
          <p:cNvSpPr/>
          <p:nvPr/>
        </p:nvSpPr>
        <p:spPr>
          <a:xfrm>
            <a:off x="3429000" y="4187952"/>
            <a:ext cx="7223760" cy="201168"/>
          </a:xfrm>
          <a:prstGeom prst="rect">
            <a:avLst/>
          </a:prstGeom>
          <a:noFill/>
          <a:ln/>
        </p:spPr>
        <p:txBody>
          <a:bodyPr wrap="square" lIns="0" tIns="0" rIns="0" bIns="0" rtlCol="0" anchor="ctr">
            <a:normAutofit/>
          </a:bodyPr>
          <a:lstStyle/>
          <a:p>
            <a:pPr marL="0" indent="0">
              <a:buNone/>
            </a:pPr>
            <a:r>
              <a:rPr lang="en-US" sz="1400" dirty="0">
                <a:solidFill>
                  <a:srgbClr val="FFFFFF"/>
                </a:solidFill>
              </a:rPr>
              <a:t>Save progress for recovery</a:t>
            </a:r>
            <a:endParaRPr lang="en-US" sz="1400" dirty="0"/>
          </a:p>
        </p:txBody>
      </p:sp>
      <p:sp>
        <p:nvSpPr>
          <p:cNvPr id="17" name="Shape 15"/>
          <p:cNvSpPr/>
          <p:nvPr/>
        </p:nvSpPr>
        <p:spPr>
          <a:xfrm>
            <a:off x="822960" y="4892040"/>
            <a:ext cx="10561320" cy="594360"/>
          </a:xfrm>
          <a:prstGeom prst="roundRect">
            <a:avLst>
              <a:gd name="adj" fmla="val 12308"/>
            </a:avLst>
          </a:prstGeom>
          <a:solidFill>
            <a:srgbClr val="111827"/>
          </a:solidFill>
          <a:ln w="12700">
            <a:solidFill>
              <a:srgbClr val="FFFFFF">
                <a:alpha val="12000"/>
              </a:srgbClr>
            </a:solidFill>
            <a:prstDash val="solid"/>
          </a:ln>
        </p:spPr>
      </p:sp>
      <p:sp>
        <p:nvSpPr>
          <p:cNvPr id="18" name="Text 16"/>
          <p:cNvSpPr/>
          <p:nvPr/>
        </p:nvSpPr>
        <p:spPr>
          <a:xfrm>
            <a:off x="1097280" y="5056632"/>
            <a:ext cx="2103120" cy="201168"/>
          </a:xfrm>
          <a:prstGeom prst="rect">
            <a:avLst/>
          </a:prstGeom>
          <a:noFill/>
          <a:ln/>
        </p:spPr>
        <p:txBody>
          <a:bodyPr wrap="square" lIns="0" tIns="0" rIns="0" bIns="0" rtlCol="0" anchor="ctr"/>
          <a:lstStyle/>
          <a:p>
            <a:pPr marL="0" indent="0">
              <a:buNone/>
            </a:pPr>
            <a:r>
              <a:rPr lang="en-US" sz="1700" b="1" dirty="0">
                <a:solidFill>
                  <a:srgbClr val="67E8F9"/>
                </a:solidFill>
              </a:rPr>
              <a:t>awaitTermination</a:t>
            </a:r>
            <a:endParaRPr lang="en-US" sz="1700" dirty="0"/>
          </a:p>
        </p:txBody>
      </p:sp>
      <p:sp>
        <p:nvSpPr>
          <p:cNvPr id="19" name="Text 17"/>
          <p:cNvSpPr/>
          <p:nvPr/>
        </p:nvSpPr>
        <p:spPr>
          <a:xfrm>
            <a:off x="3429000" y="5056632"/>
            <a:ext cx="7223760" cy="201168"/>
          </a:xfrm>
          <a:prstGeom prst="rect">
            <a:avLst/>
          </a:prstGeom>
          <a:noFill/>
          <a:ln/>
        </p:spPr>
        <p:txBody>
          <a:bodyPr wrap="square" lIns="0" tIns="0" rIns="0" bIns="0" rtlCol="0" anchor="ctr">
            <a:normAutofit/>
          </a:bodyPr>
          <a:lstStyle/>
          <a:p>
            <a:pPr marL="0" indent="0">
              <a:buNone/>
            </a:pPr>
            <a:r>
              <a:rPr lang="en-US" sz="1400" dirty="0">
                <a:solidFill>
                  <a:srgbClr val="FFFFFF"/>
                </a:solidFill>
              </a:rPr>
              <a:t>Keep query running</a:t>
            </a:r>
            <a:endParaRPr lang="en-US" sz="1400" dirty="0"/>
          </a:p>
        </p:txBody>
      </p:sp>
      <p:sp>
        <p:nvSpPr>
          <p:cNvPr id="20" name="Text 18"/>
          <p:cNvSpPr/>
          <p:nvPr/>
        </p:nvSpPr>
        <p:spPr>
          <a:xfrm>
            <a:off x="914400" y="6080760"/>
            <a:ext cx="10241280" cy="256032"/>
          </a:xfrm>
          <a:prstGeom prst="rect">
            <a:avLst/>
          </a:prstGeom>
          <a:noFill/>
          <a:ln/>
        </p:spPr>
        <p:txBody>
          <a:bodyPr wrap="square" lIns="0" tIns="0" rIns="0" bIns="0" rtlCol="0" anchor="ctr"/>
          <a:lstStyle/>
          <a:p>
            <a:pPr marL="0" indent="0" algn="ctr">
              <a:buNone/>
            </a:pPr>
            <a:r>
              <a:rPr lang="en-US" sz="1800" b="1" dirty="0">
                <a:solidFill>
                  <a:srgbClr val="FDE68A"/>
                </a:solidFill>
              </a:rPr>
              <a:t>Structured Streaming uses familiar DataFrame operations for continuous data.</a:t>
            </a:r>
            <a:endParaRPr lang="en-US" sz="1800" dirty="0"/>
          </a:p>
        </p:txBody>
      </p:sp>
      <p:sp>
        <p:nvSpPr>
          <p:cNvPr id="22" name="Text 19"/>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19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mnt/data/a_vibrant_high_detail_colorful_illustration_3d_v.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End-to-end food delivery pipeline</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From event creation to business action</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777240" y="4617720"/>
            <a:ext cx="1874520" cy="960120"/>
          </a:xfrm>
          <a:prstGeom prst="roundRect">
            <a:avLst>
              <a:gd name="adj" fmla="val 7619"/>
            </a:avLst>
          </a:prstGeom>
          <a:solidFill>
            <a:srgbClr val="081224">
              <a:alpha val="95000"/>
            </a:srgbClr>
          </a:solidFill>
          <a:ln w="12700">
            <a:solidFill>
              <a:srgbClr val="FFFFFF">
                <a:alpha val="12000"/>
              </a:srgbClr>
            </a:solidFill>
            <a:prstDash val="solid"/>
          </a:ln>
        </p:spPr>
      </p:sp>
      <p:sp>
        <p:nvSpPr>
          <p:cNvPr id="7" name="Text 4"/>
          <p:cNvSpPr/>
          <p:nvPr/>
        </p:nvSpPr>
        <p:spPr>
          <a:xfrm>
            <a:off x="886968" y="4910328"/>
            <a:ext cx="320040" cy="228600"/>
          </a:xfrm>
          <a:prstGeom prst="rect">
            <a:avLst/>
          </a:prstGeom>
          <a:noFill/>
          <a:ln/>
        </p:spPr>
        <p:txBody>
          <a:bodyPr wrap="square" lIns="0" tIns="0" rIns="0" bIns="0" rtlCol="0" anchor="ctr"/>
          <a:lstStyle/>
          <a:p>
            <a:pPr marL="0" indent="0" algn="ctr">
              <a:buNone/>
            </a:pPr>
            <a:r>
              <a:rPr lang="en-US" sz="1600" b="1" dirty="0">
                <a:solidFill>
                  <a:srgbClr val="FBBF24"/>
                </a:solidFill>
              </a:rPr>
              <a:t>1</a:t>
            </a:r>
            <a:endParaRPr lang="en-US" sz="1600" dirty="0"/>
          </a:p>
        </p:txBody>
      </p:sp>
      <p:sp>
        <p:nvSpPr>
          <p:cNvPr id="8" name="Text 5"/>
          <p:cNvSpPr/>
          <p:nvPr/>
        </p:nvSpPr>
        <p:spPr>
          <a:xfrm>
            <a:off x="1252728" y="4782312"/>
            <a:ext cx="1143000" cy="402336"/>
          </a:xfrm>
          <a:prstGeom prst="rect">
            <a:avLst/>
          </a:prstGeom>
          <a:noFill/>
          <a:ln/>
        </p:spPr>
        <p:txBody>
          <a:bodyPr wrap="square" lIns="0" tIns="0" rIns="0" bIns="0" rtlCol="0" anchor="ctr">
            <a:normAutofit/>
          </a:bodyPr>
          <a:lstStyle/>
          <a:p>
            <a:pPr marL="0" indent="0">
              <a:buNone/>
            </a:pPr>
            <a:r>
              <a:rPr lang="en-US" sz="1040" b="1" dirty="0">
                <a:solidFill>
                  <a:srgbClr val="FFFFFF"/>
                </a:solidFill>
              </a:rPr>
              <a:t>Customer app emits ORDER_CREATED</a:t>
            </a:r>
            <a:endParaRPr lang="en-US" sz="1040" dirty="0"/>
          </a:p>
        </p:txBody>
      </p:sp>
      <p:sp>
        <p:nvSpPr>
          <p:cNvPr id="9" name="Shape 6"/>
          <p:cNvSpPr/>
          <p:nvPr/>
        </p:nvSpPr>
        <p:spPr>
          <a:xfrm>
            <a:off x="3017520" y="4617720"/>
            <a:ext cx="1874520" cy="960120"/>
          </a:xfrm>
          <a:prstGeom prst="roundRect">
            <a:avLst>
              <a:gd name="adj" fmla="val 7619"/>
            </a:avLst>
          </a:prstGeom>
          <a:solidFill>
            <a:srgbClr val="081224">
              <a:alpha val="95000"/>
            </a:srgbClr>
          </a:solidFill>
          <a:ln w="12700">
            <a:solidFill>
              <a:srgbClr val="FFFFFF">
                <a:alpha val="12000"/>
              </a:srgbClr>
            </a:solidFill>
            <a:prstDash val="solid"/>
          </a:ln>
        </p:spPr>
      </p:sp>
      <p:sp>
        <p:nvSpPr>
          <p:cNvPr id="10" name="Text 7"/>
          <p:cNvSpPr/>
          <p:nvPr/>
        </p:nvSpPr>
        <p:spPr>
          <a:xfrm>
            <a:off x="3127248" y="4910328"/>
            <a:ext cx="320040" cy="228600"/>
          </a:xfrm>
          <a:prstGeom prst="rect">
            <a:avLst/>
          </a:prstGeom>
          <a:noFill/>
          <a:ln/>
        </p:spPr>
        <p:txBody>
          <a:bodyPr wrap="square" lIns="0" tIns="0" rIns="0" bIns="0" rtlCol="0" anchor="ctr"/>
          <a:lstStyle/>
          <a:p>
            <a:pPr marL="0" indent="0" algn="ctr">
              <a:buNone/>
            </a:pPr>
            <a:r>
              <a:rPr lang="en-US" sz="1600" b="1" dirty="0">
                <a:solidFill>
                  <a:srgbClr val="FBBF24"/>
                </a:solidFill>
              </a:rPr>
              <a:t>2</a:t>
            </a:r>
            <a:endParaRPr lang="en-US" sz="1600" dirty="0"/>
          </a:p>
        </p:txBody>
      </p:sp>
      <p:sp>
        <p:nvSpPr>
          <p:cNvPr id="11" name="Text 8"/>
          <p:cNvSpPr/>
          <p:nvPr/>
        </p:nvSpPr>
        <p:spPr>
          <a:xfrm>
            <a:off x="3493008" y="4782312"/>
            <a:ext cx="1143000" cy="402336"/>
          </a:xfrm>
          <a:prstGeom prst="rect">
            <a:avLst/>
          </a:prstGeom>
          <a:noFill/>
          <a:ln/>
        </p:spPr>
        <p:txBody>
          <a:bodyPr wrap="square" lIns="0" tIns="0" rIns="0" bIns="0" rtlCol="0" anchor="ctr">
            <a:normAutofit/>
          </a:bodyPr>
          <a:lstStyle/>
          <a:p>
            <a:pPr marL="0" indent="0">
              <a:buNone/>
            </a:pPr>
            <a:r>
              <a:rPr lang="en-US" sz="1040" b="1" dirty="0">
                <a:solidFill>
                  <a:srgbClr val="FFFFFF"/>
                </a:solidFill>
              </a:rPr>
              <a:t>Kafka stores event safely</a:t>
            </a:r>
            <a:endParaRPr lang="en-US" sz="1040" dirty="0"/>
          </a:p>
        </p:txBody>
      </p:sp>
      <p:sp>
        <p:nvSpPr>
          <p:cNvPr id="12" name="Shape 9"/>
          <p:cNvSpPr/>
          <p:nvPr/>
        </p:nvSpPr>
        <p:spPr>
          <a:xfrm>
            <a:off x="5257800" y="4617720"/>
            <a:ext cx="1874520" cy="960120"/>
          </a:xfrm>
          <a:prstGeom prst="roundRect">
            <a:avLst>
              <a:gd name="adj" fmla="val 7619"/>
            </a:avLst>
          </a:prstGeom>
          <a:solidFill>
            <a:srgbClr val="081224">
              <a:alpha val="95000"/>
            </a:srgbClr>
          </a:solidFill>
          <a:ln w="12700">
            <a:solidFill>
              <a:srgbClr val="FFFFFF">
                <a:alpha val="12000"/>
              </a:srgbClr>
            </a:solidFill>
            <a:prstDash val="solid"/>
          </a:ln>
        </p:spPr>
      </p:sp>
      <p:sp>
        <p:nvSpPr>
          <p:cNvPr id="13" name="Text 10"/>
          <p:cNvSpPr/>
          <p:nvPr/>
        </p:nvSpPr>
        <p:spPr>
          <a:xfrm>
            <a:off x="5367528" y="4910328"/>
            <a:ext cx="320040" cy="228600"/>
          </a:xfrm>
          <a:prstGeom prst="rect">
            <a:avLst/>
          </a:prstGeom>
          <a:noFill/>
          <a:ln/>
        </p:spPr>
        <p:txBody>
          <a:bodyPr wrap="square" lIns="0" tIns="0" rIns="0" bIns="0" rtlCol="0" anchor="ctr"/>
          <a:lstStyle/>
          <a:p>
            <a:pPr marL="0" indent="0" algn="ctr">
              <a:buNone/>
            </a:pPr>
            <a:r>
              <a:rPr lang="en-US" sz="1600" b="1" dirty="0">
                <a:solidFill>
                  <a:srgbClr val="FBBF24"/>
                </a:solidFill>
              </a:rPr>
              <a:t>3</a:t>
            </a:r>
            <a:endParaRPr lang="en-US" sz="1600" dirty="0"/>
          </a:p>
        </p:txBody>
      </p:sp>
      <p:sp>
        <p:nvSpPr>
          <p:cNvPr id="14" name="Text 11"/>
          <p:cNvSpPr/>
          <p:nvPr/>
        </p:nvSpPr>
        <p:spPr>
          <a:xfrm>
            <a:off x="5733288" y="4782312"/>
            <a:ext cx="1143000" cy="402336"/>
          </a:xfrm>
          <a:prstGeom prst="rect">
            <a:avLst/>
          </a:prstGeom>
          <a:noFill/>
          <a:ln/>
        </p:spPr>
        <p:txBody>
          <a:bodyPr wrap="square" lIns="0" tIns="0" rIns="0" bIns="0" rtlCol="0" anchor="ctr">
            <a:normAutofit/>
          </a:bodyPr>
          <a:lstStyle/>
          <a:p>
            <a:pPr marL="0" indent="0">
              <a:buNone/>
            </a:pPr>
            <a:r>
              <a:rPr lang="en-US" sz="1040" b="1" dirty="0">
                <a:solidFill>
                  <a:srgbClr val="FFFFFF"/>
                </a:solidFill>
              </a:rPr>
              <a:t>Spark validates and aggregates</a:t>
            </a:r>
            <a:endParaRPr lang="en-US" sz="1040" dirty="0"/>
          </a:p>
        </p:txBody>
      </p:sp>
      <p:sp>
        <p:nvSpPr>
          <p:cNvPr id="15" name="Shape 12"/>
          <p:cNvSpPr/>
          <p:nvPr/>
        </p:nvSpPr>
        <p:spPr>
          <a:xfrm>
            <a:off x="7498080" y="4617720"/>
            <a:ext cx="1874520" cy="960120"/>
          </a:xfrm>
          <a:prstGeom prst="roundRect">
            <a:avLst>
              <a:gd name="adj" fmla="val 7619"/>
            </a:avLst>
          </a:prstGeom>
          <a:solidFill>
            <a:srgbClr val="081224">
              <a:alpha val="95000"/>
            </a:srgbClr>
          </a:solidFill>
          <a:ln w="12700">
            <a:solidFill>
              <a:srgbClr val="FFFFFF">
                <a:alpha val="12000"/>
              </a:srgbClr>
            </a:solidFill>
            <a:prstDash val="solid"/>
          </a:ln>
        </p:spPr>
      </p:sp>
      <p:sp>
        <p:nvSpPr>
          <p:cNvPr id="16" name="Text 13"/>
          <p:cNvSpPr/>
          <p:nvPr/>
        </p:nvSpPr>
        <p:spPr>
          <a:xfrm>
            <a:off x="7607808" y="4910328"/>
            <a:ext cx="320040" cy="228600"/>
          </a:xfrm>
          <a:prstGeom prst="rect">
            <a:avLst/>
          </a:prstGeom>
          <a:noFill/>
          <a:ln/>
        </p:spPr>
        <p:txBody>
          <a:bodyPr wrap="square" lIns="0" tIns="0" rIns="0" bIns="0" rtlCol="0" anchor="ctr"/>
          <a:lstStyle/>
          <a:p>
            <a:pPr marL="0" indent="0" algn="ctr">
              <a:buNone/>
            </a:pPr>
            <a:r>
              <a:rPr lang="en-US" sz="1600" b="1" dirty="0">
                <a:solidFill>
                  <a:srgbClr val="FBBF24"/>
                </a:solidFill>
              </a:rPr>
              <a:t>4</a:t>
            </a:r>
            <a:endParaRPr lang="en-US" sz="1600" dirty="0"/>
          </a:p>
        </p:txBody>
      </p:sp>
      <p:sp>
        <p:nvSpPr>
          <p:cNvPr id="17" name="Text 14"/>
          <p:cNvSpPr/>
          <p:nvPr/>
        </p:nvSpPr>
        <p:spPr>
          <a:xfrm>
            <a:off x="7973568" y="4782312"/>
            <a:ext cx="1143000" cy="402336"/>
          </a:xfrm>
          <a:prstGeom prst="rect">
            <a:avLst/>
          </a:prstGeom>
          <a:noFill/>
          <a:ln/>
        </p:spPr>
        <p:txBody>
          <a:bodyPr wrap="square" lIns="0" tIns="0" rIns="0" bIns="0" rtlCol="0" anchor="ctr">
            <a:normAutofit/>
          </a:bodyPr>
          <a:lstStyle/>
          <a:p>
            <a:pPr marL="0" indent="0">
              <a:buNone/>
            </a:pPr>
            <a:r>
              <a:rPr lang="en-US" sz="1040" b="1" dirty="0">
                <a:solidFill>
                  <a:srgbClr val="FFFFFF"/>
                </a:solidFill>
              </a:rPr>
              <a:t>Dashboard updates live metrics</a:t>
            </a:r>
            <a:endParaRPr lang="en-US" sz="1040" dirty="0"/>
          </a:p>
        </p:txBody>
      </p:sp>
      <p:sp>
        <p:nvSpPr>
          <p:cNvPr id="18" name="Shape 15"/>
          <p:cNvSpPr/>
          <p:nvPr/>
        </p:nvSpPr>
        <p:spPr>
          <a:xfrm>
            <a:off x="9738360" y="4617720"/>
            <a:ext cx="1874520" cy="960120"/>
          </a:xfrm>
          <a:prstGeom prst="roundRect">
            <a:avLst>
              <a:gd name="adj" fmla="val 7619"/>
            </a:avLst>
          </a:prstGeom>
          <a:solidFill>
            <a:srgbClr val="081224">
              <a:alpha val="95000"/>
            </a:srgbClr>
          </a:solidFill>
          <a:ln w="12700">
            <a:solidFill>
              <a:srgbClr val="FFFFFF">
                <a:alpha val="12000"/>
              </a:srgbClr>
            </a:solidFill>
            <a:prstDash val="solid"/>
          </a:ln>
        </p:spPr>
      </p:sp>
      <p:sp>
        <p:nvSpPr>
          <p:cNvPr id="19" name="Text 16"/>
          <p:cNvSpPr/>
          <p:nvPr/>
        </p:nvSpPr>
        <p:spPr>
          <a:xfrm>
            <a:off x="9848088" y="4910328"/>
            <a:ext cx="320040" cy="228600"/>
          </a:xfrm>
          <a:prstGeom prst="rect">
            <a:avLst/>
          </a:prstGeom>
          <a:noFill/>
          <a:ln/>
        </p:spPr>
        <p:txBody>
          <a:bodyPr wrap="square" lIns="0" tIns="0" rIns="0" bIns="0" rtlCol="0" anchor="ctr"/>
          <a:lstStyle/>
          <a:p>
            <a:pPr marL="0" indent="0" algn="ctr">
              <a:buNone/>
            </a:pPr>
            <a:r>
              <a:rPr lang="en-US" sz="1600" b="1" dirty="0">
                <a:solidFill>
                  <a:srgbClr val="FBBF24"/>
                </a:solidFill>
              </a:rPr>
              <a:t>5</a:t>
            </a:r>
            <a:endParaRPr lang="en-US" sz="1600" dirty="0"/>
          </a:p>
        </p:txBody>
      </p:sp>
      <p:sp>
        <p:nvSpPr>
          <p:cNvPr id="20" name="Text 17"/>
          <p:cNvSpPr/>
          <p:nvPr/>
        </p:nvSpPr>
        <p:spPr>
          <a:xfrm>
            <a:off x="10213848" y="4782312"/>
            <a:ext cx="1143000" cy="402336"/>
          </a:xfrm>
          <a:prstGeom prst="rect">
            <a:avLst/>
          </a:prstGeom>
          <a:noFill/>
          <a:ln/>
        </p:spPr>
        <p:txBody>
          <a:bodyPr wrap="square" lIns="0" tIns="0" rIns="0" bIns="0" rtlCol="0" anchor="ctr">
            <a:normAutofit/>
          </a:bodyPr>
          <a:lstStyle/>
          <a:p>
            <a:pPr marL="0" indent="0">
              <a:buNone/>
            </a:pPr>
            <a:r>
              <a:rPr lang="en-US" sz="1040" b="1" dirty="0">
                <a:solidFill>
                  <a:srgbClr val="FFFFFF"/>
                </a:solidFill>
              </a:rPr>
              <a:t>Alert service notifies operations</a:t>
            </a:r>
            <a:endParaRPr lang="en-US" sz="1040" dirty="0"/>
          </a:p>
        </p:txBody>
      </p:sp>
      <p:sp>
        <p:nvSpPr>
          <p:cNvPr id="21" name="Shape 18"/>
          <p:cNvSpPr/>
          <p:nvPr/>
        </p:nvSpPr>
        <p:spPr>
          <a:xfrm>
            <a:off x="731520" y="1417320"/>
            <a:ext cx="4206240" cy="1078992"/>
          </a:xfrm>
          <a:prstGeom prst="roundRect">
            <a:avLst>
              <a:gd name="adj" fmla="val 6780"/>
            </a:avLst>
          </a:prstGeom>
          <a:solidFill>
            <a:srgbClr val="081224">
              <a:alpha val="96000"/>
            </a:srgbClr>
          </a:solidFill>
          <a:ln w="12700">
            <a:solidFill>
              <a:srgbClr val="FFFFFF">
                <a:alpha val="12000"/>
              </a:srgbClr>
            </a:solidFill>
            <a:prstDash val="solid"/>
          </a:ln>
        </p:spPr>
      </p:sp>
      <p:sp>
        <p:nvSpPr>
          <p:cNvPr id="22" name="Text 19"/>
          <p:cNvSpPr/>
          <p:nvPr/>
        </p:nvSpPr>
        <p:spPr>
          <a:xfrm>
            <a:off x="987552" y="1719072"/>
            <a:ext cx="3703320" cy="329184"/>
          </a:xfrm>
          <a:prstGeom prst="rect">
            <a:avLst/>
          </a:prstGeom>
          <a:noFill/>
          <a:ln/>
        </p:spPr>
        <p:txBody>
          <a:bodyPr wrap="square" lIns="0" tIns="0" rIns="0" bIns="0" rtlCol="0" anchor="ctr">
            <a:normAutofit/>
          </a:bodyPr>
          <a:lstStyle/>
          <a:p>
            <a:pPr marL="0" indent="0">
              <a:buNone/>
            </a:pPr>
            <a:r>
              <a:rPr lang="en-US" sz="1900" b="1" dirty="0">
                <a:solidFill>
                  <a:srgbClr val="FFFFFF"/>
                </a:solidFill>
              </a:rPr>
              <a:t>The value is not only collecting data. The value is reacting to it.</a:t>
            </a:r>
            <a:endParaRPr lang="en-US" sz="1900" dirty="0"/>
          </a:p>
        </p:txBody>
      </p:sp>
      <p:sp>
        <p:nvSpPr>
          <p:cNvPr id="24" name="Text 20"/>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20</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Key takeaways</a:t>
            </a:r>
            <a:endParaRPr lang="en-US" sz="3100" dirty="0"/>
          </a:p>
        </p:txBody>
      </p:sp>
      <p:sp>
        <p:nvSpPr>
          <p:cNvPr id="3"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64748B"/>
                </a:solidFill>
              </a:rPr>
              <a:t>What learners should remember</a:t>
            </a:r>
            <a:endParaRPr lang="en-US" sz="1250" dirty="0"/>
          </a:p>
        </p:txBody>
      </p:sp>
      <p:sp>
        <p:nvSpPr>
          <p:cNvPr id="4" name="Shape 2"/>
          <p:cNvSpPr/>
          <p:nvPr/>
        </p:nvSpPr>
        <p:spPr>
          <a:xfrm>
            <a:off x="548640" y="1234440"/>
            <a:ext cx="1920240" cy="0"/>
          </a:xfrm>
          <a:prstGeom prst="line">
            <a:avLst/>
          </a:prstGeom>
          <a:noFill/>
          <a:ln w="25400">
            <a:solidFill>
              <a:srgbClr val="2563EB"/>
            </a:solidFill>
            <a:prstDash val="solid"/>
          </a:ln>
        </p:spPr>
      </p:sp>
      <p:sp>
        <p:nvSpPr>
          <p:cNvPr id="5" name="Shape 3"/>
          <p:cNvSpPr/>
          <p:nvPr/>
        </p:nvSpPr>
        <p:spPr>
          <a:xfrm>
            <a:off x="685800" y="1417320"/>
            <a:ext cx="2377440" cy="1143000"/>
          </a:xfrm>
          <a:prstGeom prst="roundRect">
            <a:avLst>
              <a:gd name="adj" fmla="val 6400"/>
            </a:avLst>
          </a:prstGeom>
          <a:solidFill>
            <a:srgbClr val="DBEAFE"/>
          </a:solidFill>
          <a:ln w="12700">
            <a:solidFill>
              <a:srgbClr val="FFFFFF">
                <a:alpha val="12000"/>
              </a:srgbClr>
            </a:solidFill>
            <a:prstDash val="solid"/>
          </a:ln>
        </p:spPr>
      </p:sp>
      <p:sp>
        <p:nvSpPr>
          <p:cNvPr id="6" name="Text 4"/>
          <p:cNvSpPr/>
          <p:nvPr/>
        </p:nvSpPr>
        <p:spPr>
          <a:xfrm>
            <a:off x="832104" y="162763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Streaming</a:t>
            </a:r>
            <a:endParaRPr lang="en-US" sz="1600" dirty="0"/>
          </a:p>
        </p:txBody>
      </p:sp>
      <p:sp>
        <p:nvSpPr>
          <p:cNvPr id="7" name="Text 5"/>
          <p:cNvSpPr/>
          <p:nvPr/>
        </p:nvSpPr>
        <p:spPr>
          <a:xfrm>
            <a:off x="850392" y="201168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process data while it arrives</a:t>
            </a:r>
            <a:endParaRPr lang="en-US" sz="1050" dirty="0"/>
          </a:p>
        </p:txBody>
      </p:sp>
      <p:sp>
        <p:nvSpPr>
          <p:cNvPr id="8" name="Shape 6"/>
          <p:cNvSpPr/>
          <p:nvPr/>
        </p:nvSpPr>
        <p:spPr>
          <a:xfrm>
            <a:off x="3520440" y="1417320"/>
            <a:ext cx="2377440" cy="1143000"/>
          </a:xfrm>
          <a:prstGeom prst="roundRect">
            <a:avLst>
              <a:gd name="adj" fmla="val 6400"/>
            </a:avLst>
          </a:prstGeom>
          <a:solidFill>
            <a:srgbClr val="EDE9FE"/>
          </a:solidFill>
          <a:ln w="12700">
            <a:solidFill>
              <a:srgbClr val="FFFFFF">
                <a:alpha val="12000"/>
              </a:srgbClr>
            </a:solidFill>
            <a:prstDash val="solid"/>
          </a:ln>
        </p:spPr>
      </p:sp>
      <p:sp>
        <p:nvSpPr>
          <p:cNvPr id="9" name="Text 7"/>
          <p:cNvSpPr/>
          <p:nvPr/>
        </p:nvSpPr>
        <p:spPr>
          <a:xfrm>
            <a:off x="3666744" y="162763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Events</a:t>
            </a:r>
            <a:endParaRPr lang="en-US" sz="1600" dirty="0"/>
          </a:p>
        </p:txBody>
      </p:sp>
      <p:sp>
        <p:nvSpPr>
          <p:cNvPr id="10" name="Text 8"/>
          <p:cNvSpPr/>
          <p:nvPr/>
        </p:nvSpPr>
        <p:spPr>
          <a:xfrm>
            <a:off x="3685032" y="201168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small records of what happened</a:t>
            </a:r>
            <a:endParaRPr lang="en-US" sz="1050" dirty="0"/>
          </a:p>
        </p:txBody>
      </p:sp>
      <p:sp>
        <p:nvSpPr>
          <p:cNvPr id="11" name="Shape 9"/>
          <p:cNvSpPr/>
          <p:nvPr/>
        </p:nvSpPr>
        <p:spPr>
          <a:xfrm>
            <a:off x="6355080" y="1417320"/>
            <a:ext cx="2377440" cy="1143000"/>
          </a:xfrm>
          <a:prstGeom prst="roundRect">
            <a:avLst>
              <a:gd name="adj" fmla="val 6400"/>
            </a:avLst>
          </a:prstGeom>
          <a:solidFill>
            <a:srgbClr val="DCFCE7"/>
          </a:solidFill>
          <a:ln w="12700">
            <a:solidFill>
              <a:srgbClr val="FFFFFF">
                <a:alpha val="12000"/>
              </a:srgbClr>
            </a:solidFill>
            <a:prstDash val="solid"/>
          </a:ln>
        </p:spPr>
      </p:sp>
      <p:sp>
        <p:nvSpPr>
          <p:cNvPr id="12" name="Text 10"/>
          <p:cNvSpPr/>
          <p:nvPr/>
        </p:nvSpPr>
        <p:spPr>
          <a:xfrm>
            <a:off x="6501384" y="162763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Broker</a:t>
            </a:r>
            <a:endParaRPr lang="en-US" sz="1600" dirty="0"/>
          </a:p>
        </p:txBody>
      </p:sp>
      <p:sp>
        <p:nvSpPr>
          <p:cNvPr id="13" name="Text 11"/>
          <p:cNvSpPr/>
          <p:nvPr/>
        </p:nvSpPr>
        <p:spPr>
          <a:xfrm>
            <a:off x="6519672" y="201168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decouples producers and consumers</a:t>
            </a:r>
            <a:endParaRPr lang="en-US" sz="1050" dirty="0"/>
          </a:p>
        </p:txBody>
      </p:sp>
      <p:sp>
        <p:nvSpPr>
          <p:cNvPr id="14" name="Shape 12"/>
          <p:cNvSpPr/>
          <p:nvPr/>
        </p:nvSpPr>
        <p:spPr>
          <a:xfrm>
            <a:off x="9189720" y="1417320"/>
            <a:ext cx="2377440" cy="1143000"/>
          </a:xfrm>
          <a:prstGeom prst="roundRect">
            <a:avLst>
              <a:gd name="adj" fmla="val 6400"/>
            </a:avLst>
          </a:prstGeom>
          <a:solidFill>
            <a:srgbClr val="FEF3C7"/>
          </a:solidFill>
          <a:ln w="12700">
            <a:solidFill>
              <a:srgbClr val="FFFFFF">
                <a:alpha val="12000"/>
              </a:srgbClr>
            </a:solidFill>
            <a:prstDash val="solid"/>
          </a:ln>
        </p:spPr>
      </p:sp>
      <p:sp>
        <p:nvSpPr>
          <p:cNvPr id="15" name="Text 13"/>
          <p:cNvSpPr/>
          <p:nvPr/>
        </p:nvSpPr>
        <p:spPr>
          <a:xfrm>
            <a:off x="9336024" y="162763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Processor</a:t>
            </a:r>
            <a:endParaRPr lang="en-US" sz="1600" dirty="0"/>
          </a:p>
        </p:txBody>
      </p:sp>
      <p:sp>
        <p:nvSpPr>
          <p:cNvPr id="16" name="Text 14"/>
          <p:cNvSpPr/>
          <p:nvPr/>
        </p:nvSpPr>
        <p:spPr>
          <a:xfrm>
            <a:off x="9354312" y="201168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applies validation and analytics</a:t>
            </a:r>
            <a:endParaRPr lang="en-US" sz="1050" dirty="0"/>
          </a:p>
        </p:txBody>
      </p:sp>
      <p:sp>
        <p:nvSpPr>
          <p:cNvPr id="17" name="Shape 15"/>
          <p:cNvSpPr/>
          <p:nvPr/>
        </p:nvSpPr>
        <p:spPr>
          <a:xfrm>
            <a:off x="685800" y="3291840"/>
            <a:ext cx="2377440" cy="1143000"/>
          </a:xfrm>
          <a:prstGeom prst="roundRect">
            <a:avLst>
              <a:gd name="adj" fmla="val 6400"/>
            </a:avLst>
          </a:prstGeom>
          <a:solidFill>
            <a:srgbClr val="FCE7F3"/>
          </a:solidFill>
          <a:ln w="12700">
            <a:solidFill>
              <a:srgbClr val="FFFFFF">
                <a:alpha val="12000"/>
              </a:srgbClr>
            </a:solidFill>
            <a:prstDash val="solid"/>
          </a:ln>
        </p:spPr>
      </p:sp>
      <p:sp>
        <p:nvSpPr>
          <p:cNvPr id="18" name="Text 16"/>
          <p:cNvSpPr/>
          <p:nvPr/>
        </p:nvSpPr>
        <p:spPr>
          <a:xfrm>
            <a:off x="832104" y="350215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Windows</a:t>
            </a:r>
            <a:endParaRPr lang="en-US" sz="1600" dirty="0"/>
          </a:p>
        </p:txBody>
      </p:sp>
      <p:sp>
        <p:nvSpPr>
          <p:cNvPr id="19" name="Text 17"/>
          <p:cNvSpPr/>
          <p:nvPr/>
        </p:nvSpPr>
        <p:spPr>
          <a:xfrm>
            <a:off x="850392" y="388620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group events by time</a:t>
            </a:r>
            <a:endParaRPr lang="en-US" sz="1050" dirty="0"/>
          </a:p>
        </p:txBody>
      </p:sp>
      <p:sp>
        <p:nvSpPr>
          <p:cNvPr id="20" name="Shape 18"/>
          <p:cNvSpPr/>
          <p:nvPr/>
        </p:nvSpPr>
        <p:spPr>
          <a:xfrm>
            <a:off x="3520440" y="3291840"/>
            <a:ext cx="2377440" cy="1143000"/>
          </a:xfrm>
          <a:prstGeom prst="roundRect">
            <a:avLst>
              <a:gd name="adj" fmla="val 6400"/>
            </a:avLst>
          </a:prstGeom>
          <a:solidFill>
            <a:srgbClr val="FFEDD5"/>
          </a:solidFill>
          <a:ln w="12700">
            <a:solidFill>
              <a:srgbClr val="FFFFFF">
                <a:alpha val="12000"/>
              </a:srgbClr>
            </a:solidFill>
            <a:prstDash val="solid"/>
          </a:ln>
        </p:spPr>
      </p:sp>
      <p:sp>
        <p:nvSpPr>
          <p:cNvPr id="21" name="Text 19"/>
          <p:cNvSpPr/>
          <p:nvPr/>
        </p:nvSpPr>
        <p:spPr>
          <a:xfrm>
            <a:off x="3666744" y="350215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Watermarks</a:t>
            </a:r>
            <a:endParaRPr lang="en-US" sz="1600" dirty="0"/>
          </a:p>
        </p:txBody>
      </p:sp>
      <p:sp>
        <p:nvSpPr>
          <p:cNvPr id="22" name="Text 20"/>
          <p:cNvSpPr/>
          <p:nvPr/>
        </p:nvSpPr>
        <p:spPr>
          <a:xfrm>
            <a:off x="3685032" y="388620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handle late arrivals</a:t>
            </a:r>
            <a:endParaRPr lang="en-US" sz="1050" dirty="0"/>
          </a:p>
        </p:txBody>
      </p:sp>
      <p:sp>
        <p:nvSpPr>
          <p:cNvPr id="23" name="Shape 21"/>
          <p:cNvSpPr/>
          <p:nvPr/>
        </p:nvSpPr>
        <p:spPr>
          <a:xfrm>
            <a:off x="6355080" y="3291840"/>
            <a:ext cx="2377440" cy="1143000"/>
          </a:xfrm>
          <a:prstGeom prst="roundRect">
            <a:avLst>
              <a:gd name="adj" fmla="val 6400"/>
            </a:avLst>
          </a:prstGeom>
          <a:solidFill>
            <a:srgbClr val="E0F2FE"/>
          </a:solidFill>
          <a:ln w="12700">
            <a:solidFill>
              <a:srgbClr val="FFFFFF">
                <a:alpha val="12000"/>
              </a:srgbClr>
            </a:solidFill>
            <a:prstDash val="solid"/>
          </a:ln>
        </p:spPr>
      </p:sp>
      <p:sp>
        <p:nvSpPr>
          <p:cNvPr id="24" name="Text 22"/>
          <p:cNvSpPr/>
          <p:nvPr/>
        </p:nvSpPr>
        <p:spPr>
          <a:xfrm>
            <a:off x="6501384" y="350215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Checkpoint</a:t>
            </a:r>
            <a:endParaRPr lang="en-US" sz="1600" dirty="0"/>
          </a:p>
        </p:txBody>
      </p:sp>
      <p:sp>
        <p:nvSpPr>
          <p:cNvPr id="25" name="Text 23"/>
          <p:cNvSpPr/>
          <p:nvPr/>
        </p:nvSpPr>
        <p:spPr>
          <a:xfrm>
            <a:off x="6519672" y="388620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enables recovery</a:t>
            </a:r>
            <a:endParaRPr lang="en-US" sz="1050" dirty="0"/>
          </a:p>
        </p:txBody>
      </p:sp>
      <p:sp>
        <p:nvSpPr>
          <p:cNvPr id="26" name="Shape 24"/>
          <p:cNvSpPr/>
          <p:nvPr/>
        </p:nvSpPr>
        <p:spPr>
          <a:xfrm>
            <a:off x="9189720" y="3291840"/>
            <a:ext cx="2377440" cy="1143000"/>
          </a:xfrm>
          <a:prstGeom prst="roundRect">
            <a:avLst>
              <a:gd name="adj" fmla="val 6400"/>
            </a:avLst>
          </a:prstGeom>
          <a:solidFill>
            <a:srgbClr val="ECFDF5"/>
          </a:solidFill>
          <a:ln w="12700">
            <a:solidFill>
              <a:srgbClr val="FFFFFF">
                <a:alpha val="12000"/>
              </a:srgbClr>
            </a:solidFill>
            <a:prstDash val="solid"/>
          </a:ln>
        </p:spPr>
      </p:sp>
      <p:sp>
        <p:nvSpPr>
          <p:cNvPr id="27" name="Text 25"/>
          <p:cNvSpPr/>
          <p:nvPr/>
        </p:nvSpPr>
        <p:spPr>
          <a:xfrm>
            <a:off x="9336024" y="3502152"/>
            <a:ext cx="2057400" cy="219456"/>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rPr>
              <a:t>Monitoring</a:t>
            </a:r>
            <a:endParaRPr lang="en-US" sz="1600" dirty="0"/>
          </a:p>
        </p:txBody>
      </p:sp>
      <p:sp>
        <p:nvSpPr>
          <p:cNvPr id="28" name="Text 26"/>
          <p:cNvSpPr/>
          <p:nvPr/>
        </p:nvSpPr>
        <p:spPr>
          <a:xfrm>
            <a:off x="9354312" y="3886200"/>
            <a:ext cx="2011680" cy="219456"/>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keeps always-on jobs healthy</a:t>
            </a:r>
            <a:endParaRPr lang="en-US" sz="1050" dirty="0"/>
          </a:p>
        </p:txBody>
      </p:sp>
      <p:sp>
        <p:nvSpPr>
          <p:cNvPr id="30" name="Text 27"/>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21</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mnt/data/a_wide_futuristic_dark_themed_analytics_dashboard.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548640" y="320040"/>
            <a:ext cx="5394960" cy="4572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Discussion / Q&amp;A</a:t>
            </a:r>
            <a:endParaRPr lang="en-US" sz="3100" dirty="0"/>
          </a:p>
        </p:txBody>
      </p:sp>
      <p:sp>
        <p:nvSpPr>
          <p:cNvPr id="4" name="Text 1"/>
          <p:cNvSpPr/>
          <p:nvPr/>
        </p:nvSpPr>
        <p:spPr>
          <a:xfrm>
            <a:off x="594360" y="868680"/>
            <a:ext cx="5212080" cy="292608"/>
          </a:xfrm>
          <a:prstGeom prst="rect">
            <a:avLst/>
          </a:prstGeom>
          <a:noFill/>
          <a:ln/>
        </p:spPr>
        <p:txBody>
          <a:bodyPr wrap="square" lIns="0" tIns="0" rIns="0" bIns="0" rtlCol="0" anchor="ctr">
            <a:normAutofit/>
          </a:bodyPr>
          <a:lstStyle/>
          <a:p>
            <a:pPr marL="0" indent="0">
              <a:buNone/>
            </a:pPr>
            <a:r>
              <a:rPr lang="en-US" sz="1250" dirty="0">
                <a:solidFill>
                  <a:srgbClr val="C7D2FE"/>
                </a:solidFill>
              </a:rPr>
              <a:t>Use these prompts to check understanding</a:t>
            </a:r>
            <a:endParaRPr lang="en-US" sz="1250" dirty="0"/>
          </a:p>
        </p:txBody>
      </p:sp>
      <p:sp>
        <p:nvSpPr>
          <p:cNvPr id="5" name="Shape 2"/>
          <p:cNvSpPr/>
          <p:nvPr/>
        </p:nvSpPr>
        <p:spPr>
          <a:xfrm>
            <a:off x="548640" y="1234440"/>
            <a:ext cx="1920240" cy="0"/>
          </a:xfrm>
          <a:prstGeom prst="line">
            <a:avLst/>
          </a:prstGeom>
          <a:noFill/>
          <a:ln w="25400">
            <a:solidFill>
              <a:srgbClr val="06B6D4"/>
            </a:solidFill>
            <a:prstDash val="solid"/>
          </a:ln>
        </p:spPr>
      </p:sp>
      <p:sp>
        <p:nvSpPr>
          <p:cNvPr id="6" name="Shape 3"/>
          <p:cNvSpPr/>
          <p:nvPr/>
        </p:nvSpPr>
        <p:spPr>
          <a:xfrm>
            <a:off x="868680" y="1508760"/>
            <a:ext cx="5166360" cy="4251960"/>
          </a:xfrm>
          <a:prstGeom prst="roundRect">
            <a:avLst>
              <a:gd name="adj" fmla="val 1720"/>
            </a:avLst>
          </a:prstGeom>
          <a:solidFill>
            <a:srgbClr val="081224">
              <a:alpha val="95000"/>
            </a:srgbClr>
          </a:solidFill>
          <a:ln w="12700">
            <a:solidFill>
              <a:srgbClr val="FFFFFF">
                <a:alpha val="12000"/>
              </a:srgbClr>
            </a:solidFill>
            <a:prstDash val="solid"/>
          </a:ln>
        </p:spPr>
      </p:sp>
      <p:sp>
        <p:nvSpPr>
          <p:cNvPr id="7" name="Text 4"/>
          <p:cNvSpPr/>
          <p:nvPr/>
        </p:nvSpPr>
        <p:spPr>
          <a:xfrm>
            <a:off x="1143000" y="1874520"/>
            <a:ext cx="4480560" cy="320040"/>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1. Where is streaming needed in your current project?</a:t>
            </a:r>
            <a:endParaRPr lang="en-US" sz="1800" dirty="0"/>
          </a:p>
        </p:txBody>
      </p:sp>
      <p:sp>
        <p:nvSpPr>
          <p:cNvPr id="8" name="Text 5"/>
          <p:cNvSpPr/>
          <p:nvPr/>
        </p:nvSpPr>
        <p:spPr>
          <a:xfrm>
            <a:off x="1143000" y="2560320"/>
            <a:ext cx="4480560" cy="320040"/>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2. What event would your system publish?</a:t>
            </a:r>
            <a:endParaRPr lang="en-US" sz="1800" dirty="0"/>
          </a:p>
        </p:txBody>
      </p:sp>
      <p:sp>
        <p:nvSpPr>
          <p:cNvPr id="9" name="Text 6"/>
          <p:cNvSpPr/>
          <p:nvPr/>
        </p:nvSpPr>
        <p:spPr>
          <a:xfrm>
            <a:off x="1143000" y="3246120"/>
            <a:ext cx="4480560" cy="320040"/>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3. What needs to be shown in real time?</a:t>
            </a:r>
            <a:endParaRPr lang="en-US" sz="1800" dirty="0"/>
          </a:p>
        </p:txBody>
      </p:sp>
      <p:sp>
        <p:nvSpPr>
          <p:cNvPr id="10" name="Text 7"/>
          <p:cNvSpPr/>
          <p:nvPr/>
        </p:nvSpPr>
        <p:spPr>
          <a:xfrm>
            <a:off x="1143000" y="3931920"/>
            <a:ext cx="4480560" cy="320040"/>
          </a:xfrm>
          <a:prstGeom prst="rect">
            <a:avLst/>
          </a:prstGeom>
          <a:noFill/>
          <a:ln/>
        </p:spPr>
        <p:txBody>
          <a:bodyPr wrap="square" lIns="635" tIns="635" rIns="635" bIns="635" rtlCol="0" anchor="ctr">
            <a:normAutofit/>
          </a:bodyPr>
          <a:lstStyle/>
          <a:p>
            <a:pPr marL="0" indent="0">
              <a:buNone/>
            </a:pPr>
            <a:r>
              <a:rPr lang="en-US" sz="1800" dirty="0">
                <a:solidFill>
                  <a:srgbClr val="FFFFFF"/>
                </a:solidFill>
              </a:rPr>
              <a:t>4. What could still remain batch?</a:t>
            </a:r>
            <a:endParaRPr lang="en-US" sz="1800" dirty="0"/>
          </a:p>
        </p:txBody>
      </p:sp>
      <p:sp>
        <p:nvSpPr>
          <p:cNvPr id="12" name="Text 8"/>
          <p:cNvSpPr/>
          <p:nvPr/>
        </p:nvSpPr>
        <p:spPr>
          <a:xfrm>
            <a:off x="9875520" y="6492240"/>
            <a:ext cx="1737360" cy="164592"/>
          </a:xfrm>
          <a:prstGeom prst="rect">
            <a:avLst/>
          </a:prstGeom>
          <a:noFill/>
          <a:ln/>
        </p:spPr>
        <p:txBody>
          <a:bodyPr wrap="square" lIns="0" tIns="0" rIns="0" bIns="0" rtlCol="0" anchor="ctr"/>
          <a:lstStyle/>
          <a:p>
            <a:pPr marL="0" indent="0" algn="r">
              <a:buNone/>
            </a:pPr>
            <a:r>
              <a:rPr lang="en-US" sz="750" dirty="0">
                <a:solidFill>
                  <a:srgbClr val="9CA3AF"/>
                </a:solidFill>
              </a:rPr>
              <a:t>Introduction to Streaming • 22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4977</Words>
  <Application>Microsoft Office PowerPoint</Application>
  <PresentationFormat>Widescreen</PresentationFormat>
  <Paragraphs>491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Streaming — Data Engineering Trainer Deck</dc:title>
  <dc:subject>Introduction to Streaming</dc:subject>
  <dc:creator>OpenAI</dc:creator>
  <cp:lastModifiedBy>Geetha eswaramurthi</cp:lastModifiedBy>
  <cp:revision>9</cp:revision>
  <dcterms:created xsi:type="dcterms:W3CDTF">2026-07-27T14:52:30Z</dcterms:created>
  <dcterms:modified xsi:type="dcterms:W3CDTF">2026-07-27T18:55:10Z</dcterms:modified>
</cp:coreProperties>
</file>