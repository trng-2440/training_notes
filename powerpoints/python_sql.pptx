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417" r:id="rId4"/>
    <p:sldId id="376" r:id="rId5"/>
    <p:sldId id="447" r:id="rId6"/>
    <p:sldId id="450" r:id="rId7"/>
    <p:sldId id="449" r:id="rId8"/>
    <p:sldId id="451" r:id="rId9"/>
    <p:sldId id="453" r:id="rId10"/>
    <p:sldId id="452" r:id="rId11"/>
    <p:sldId id="448" r:id="rId12"/>
    <p:sldId id="454" r:id="rId13"/>
    <p:sldId id="455" r:id="rId14"/>
    <p:sldId id="456" r:id="rId15"/>
    <p:sldId id="457" r:id="rId16"/>
    <p:sldId id="458" r:id="rId17"/>
    <p:sldId id="459" r:id="rId18"/>
    <p:sldId id="461" r:id="rId19"/>
    <p:sldId id="462" r:id="rId20"/>
    <p:sldId id="399" r:id="rId2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914" autoAdjust="0"/>
  </p:normalViewPr>
  <p:slideViewPr>
    <p:cSldViewPr snapToGrid="0">
      <p:cViewPr varScale="1">
        <p:scale>
          <a:sx n="56" d="100"/>
          <a:sy n="56" d="100"/>
        </p:scale>
        <p:origin x="84" y="144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7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249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Connecting Python to SQL Databases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Psycopg3 and the DB-API 2.0 Standard</a:t>
            </a:r>
          </a:p>
          <a:p>
            <a:r>
              <a:rPr lang="en-US" dirty="0"/>
              <a:t>Creating and Managing Database Connections</a:t>
            </a:r>
          </a:p>
          <a:p>
            <a:r>
              <a:rPr lang="en-US" dirty="0"/>
              <a:t>Context Managers &amp; Resource Management</a:t>
            </a:r>
          </a:p>
          <a:p>
            <a:r>
              <a:rPr lang="en-US" dirty="0"/>
              <a:t>Cursors &amp; Result Sets</a:t>
            </a:r>
          </a:p>
          <a:p>
            <a:r>
              <a:rPr lang="en-US" dirty="0"/>
              <a:t>SQL Injection &amp; Prevention</a:t>
            </a:r>
          </a:p>
          <a:p>
            <a:r>
              <a:rPr lang="en-US" dirty="0"/>
              <a:t>Database Design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9028-2C23-ED49-E175-7A4FE616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92847-91AE-1670-404D-7238C3C870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119F13B-88C2-2199-3A3C-E94E720AC22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Psycopg3 &amp; DB-API 2.0 Standard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2B45E-371E-40C8-19F0-F60DD1FE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0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03AA-9B40-E9E6-E376-08872099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090F-0000-CAF1-BAD2-80E68CB9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E6BB5-26FA-464E-D057-CCAFAB30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Psycopg3 is a Python library that enables Python application to connect to and interact with PostgreSQL databases.</a:t>
            </a:r>
          </a:p>
          <a:p>
            <a:pPr lvl="1"/>
            <a:r>
              <a:rPr lang="en-US" dirty="0"/>
              <a:t>Note: Python has a built-in sqlite3 module that provides a DB-API 2.0 interface with SQLite databases without requiring addition installations</a:t>
            </a:r>
          </a:p>
          <a:p>
            <a:r>
              <a:rPr lang="en-US" dirty="0">
                <a:hlinkClick r:id="rId2"/>
              </a:rPr>
              <a:t>PEP 249 DB-API 2.0</a:t>
            </a:r>
            <a:r>
              <a:rPr lang="en-US" dirty="0"/>
              <a:t> Standard is a specification that defines a consistent interface for database interaction across different database systems</a:t>
            </a:r>
          </a:p>
          <a:p>
            <a:r>
              <a:rPr lang="en-US" dirty="0"/>
              <a:t>Installed via: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psycopg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[binary]</a:t>
            </a:r>
          </a:p>
          <a:p>
            <a:r>
              <a:rPr lang="en-US" dirty="0"/>
              <a:t>There are three primary objects in this library: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dirty="0"/>
              <a:t>: represents an active connection to the database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dirty="0"/>
              <a:t>: used to execute SQL queries and retrieve results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/>
              <a:t>: represents a single record returns from a query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9DFD3A-CFA6-51A0-2F6D-C09872DA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SQL with Python</a:t>
            </a:r>
          </a:p>
        </p:txBody>
      </p:sp>
    </p:spTree>
    <p:extLst>
      <p:ext uri="{BB962C8B-B14F-4D97-AF65-F5344CB8AC3E}">
        <p14:creationId xmlns:p14="http://schemas.microsoft.com/office/powerpoint/2010/main" val="25461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821A-7C8F-9123-1189-BF74F1C6A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8916CC-2904-3796-CBA1-FEDB92D2AA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D67B5E7-CBD5-579D-32A0-80ABF02072D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Creating and Managing Database Connections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6863F1-F3C9-DCE6-6363-42BCA6EB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3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E2EE9-4329-7047-8DC7-6AA8445C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FEE2F-E546-77B3-95CE-265C0B3794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1D9F3-3470-1E68-D2A9-C321386E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connection is established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psycopg.connect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which accepts either a connection string or keyword arguments.</a:t>
            </a:r>
          </a:p>
          <a:p>
            <a:r>
              <a:rPr lang="en-US" dirty="0"/>
              <a:t>A connection string follows the format: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host=…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=… user=… password=… port=…</a:t>
            </a:r>
            <a:r>
              <a:rPr lang="en-US" dirty="0"/>
              <a:t>”</a:t>
            </a:r>
          </a:p>
          <a:p>
            <a:r>
              <a:rPr lang="en-US" dirty="0"/>
              <a:t>You should </a:t>
            </a:r>
            <a:r>
              <a:rPr lang="en-US" b="1" u="sng" dirty="0"/>
              <a:t>never hardcode credentials directly in your source code</a:t>
            </a:r>
            <a:r>
              <a:rPr lang="en-US" dirty="0"/>
              <a:t>, it is a security risk, particularly when code is shared or version-controlled.</a:t>
            </a:r>
          </a:p>
          <a:p>
            <a:r>
              <a:rPr lang="en-US" dirty="0"/>
              <a:t>Instead, credentials should be stored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.env</a:t>
            </a:r>
            <a:r>
              <a:rPr lang="en-US" dirty="0"/>
              <a:t> file and loaded at runtime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dotenv</a:t>
            </a:r>
            <a:r>
              <a:rPr lang="en-US" dirty="0"/>
              <a:t> library.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.env</a:t>
            </a:r>
            <a:r>
              <a:rPr lang="en-US" dirty="0"/>
              <a:t> file should always be added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gitignore</a:t>
            </a:r>
            <a:r>
              <a:rPr lang="en-US" dirty="0"/>
              <a:t> to prevent it from being committed to version control.</a:t>
            </a:r>
          </a:p>
          <a:p>
            <a:pPr lvl="1"/>
            <a:r>
              <a:rPr lang="en-US" dirty="0"/>
              <a:t>Note: Environment variables can also be set at the OS level and accessed via Python’s built-in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-US" dirty="0"/>
              <a:t> module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8D7583-AB08-2E9B-E13D-D8B74A1C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SQL with Python</a:t>
            </a:r>
          </a:p>
        </p:txBody>
      </p:sp>
    </p:spTree>
    <p:extLst>
      <p:ext uri="{BB962C8B-B14F-4D97-AF65-F5344CB8AC3E}">
        <p14:creationId xmlns:p14="http://schemas.microsoft.com/office/powerpoint/2010/main" val="98618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3F56-509F-13F5-415D-95767A71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FBADF6-6311-FA5E-B689-E840A7411EC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339B49C-F0C2-6858-C2A3-3FB51588700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Context Managers &amp; Resource Management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A327A-CA52-C80C-12CA-84D33A3C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85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A0FC-92C9-9F5C-464B-BF62EDC4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13A2D-1CC4-DC8F-25C2-C6E7B2577E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B56E5-E804-256E-6341-D0AB72D75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[Recap] A context manager is a Python object that defines setup and teardown behavior.</a:t>
            </a:r>
          </a:p>
          <a:p>
            <a:pPr lvl="1"/>
            <a:r>
              <a:rPr lang="en-US" dirty="0"/>
              <a:t>A context manager implements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__enter__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__exit__</a:t>
            </a:r>
            <a:r>
              <a:rPr lang="en-US" dirty="0"/>
              <a:t> methods)</a:t>
            </a:r>
          </a:p>
          <a:p>
            <a:r>
              <a:rPr lang="en-US" dirty="0"/>
              <a:t>Context managers are used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 in python</a:t>
            </a:r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ensures resources are automatically released when the block exits</a:t>
            </a:r>
          </a:p>
          <a:p>
            <a:pPr lvl="1"/>
            <a:r>
              <a:rPr lang="en-US" dirty="0"/>
              <a:t>This occurs when the block is exited normally or due to an exception.</a:t>
            </a:r>
          </a:p>
          <a:p>
            <a:r>
              <a:rPr lang="en-US" dirty="0"/>
              <a:t>Psycopg3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dirty="0"/>
              <a:t> objects both implement the context manager protocol meaning they can both be used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 block</a:t>
            </a:r>
          </a:p>
          <a:p>
            <a:r>
              <a:rPr lang="en-US" dirty="0"/>
              <a:t>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on both objects is a preferred pattern, and you will see it quite often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F80067-2525-16F8-5E32-051A5837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SQL with Python</a:t>
            </a:r>
          </a:p>
        </p:txBody>
      </p:sp>
    </p:spTree>
    <p:extLst>
      <p:ext uri="{BB962C8B-B14F-4D97-AF65-F5344CB8AC3E}">
        <p14:creationId xmlns:p14="http://schemas.microsoft.com/office/powerpoint/2010/main" val="299871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BB6F-A67E-E736-AFCB-E3092BAB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59DA-8133-281A-23B3-0085F15315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A544D-D4E0-C88E-47AA-35FCAC54F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Wrapping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dirty="0"/>
              <a:t>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block automatically closes the cursor when the block exits</a:t>
            </a:r>
          </a:p>
          <a:p>
            <a:pPr lvl="1"/>
            <a:r>
              <a:rPr lang="en-US" dirty="0"/>
              <a:t>This is similar functionality that we’ve seen with other resources</a:t>
            </a:r>
          </a:p>
          <a:p>
            <a:r>
              <a:rPr lang="en-US" dirty="0"/>
              <a:t>When wrapping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dirty="0"/>
              <a:t>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block, the implementation in psycopg3 goes a step further.</a:t>
            </a:r>
          </a:p>
          <a:p>
            <a:pPr lvl="1"/>
            <a:r>
              <a:rPr lang="en-US" dirty="0"/>
              <a:t>If the block completed without error the transaction is automatically committed</a:t>
            </a:r>
          </a:p>
          <a:p>
            <a:pPr lvl="1"/>
            <a:r>
              <a:rPr lang="en-US" dirty="0"/>
              <a:t>If the block raised an exception, the transaction is rolled back</a:t>
            </a:r>
          </a:p>
          <a:p>
            <a:pPr lvl="1"/>
            <a:r>
              <a:rPr lang="en-US" dirty="0"/>
              <a:t>In either scenario, when the block exits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dirty="0"/>
              <a:t> resource is automatically closed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CC5A17-E957-61B0-CA22-D7BFC20D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SQL with Python</a:t>
            </a:r>
          </a:p>
        </p:txBody>
      </p:sp>
    </p:spTree>
    <p:extLst>
      <p:ext uri="{BB962C8B-B14F-4D97-AF65-F5344CB8AC3E}">
        <p14:creationId xmlns:p14="http://schemas.microsoft.com/office/powerpoint/2010/main" val="200055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9D23-D285-ECEB-AF0B-EE6FFE60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285F4-1031-5D0A-C75F-B9D1B20B60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59A1530-E404-2216-E307-1C7D9E223E1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Cursors &amp; Result 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F620E-647F-0BAC-EB52-A19DAC41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25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49DF-794E-DFC6-D553-E38936CA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FDFE7-A01F-3F52-0D3B-0D4659CFA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A22B0-D223-8615-3C78-080164D2D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cursor is the object used to execute SQL statements and retrieve results from the database</a:t>
            </a:r>
          </a:p>
          <a:p>
            <a:r>
              <a:rPr lang="en-US" dirty="0"/>
              <a:t>Created from an active connection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conn.cursor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SQL statements are executed by passing a query string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execute()</a:t>
            </a:r>
            <a:r>
              <a:rPr lang="en-US" dirty="0"/>
              <a:t> method of cursor objects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(“query-string-goes-here”)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dirty="0"/>
              <a:t> objects have a commit and rollback methods which can be used to apply a transaction, or discard all uncommitted changes; however, these are not required to be used when your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lang="en-US" dirty="0"/>
              <a:t> object is used as a Context Manager: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conn.commit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# after executing a statement to apply transaction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conn.rollback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# discard all uncommitted changes if something goes wrong.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B64FBE-B96C-102F-9BA0-F0593B5C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Cursors</a:t>
            </a:r>
          </a:p>
        </p:txBody>
      </p:sp>
    </p:spTree>
    <p:extLst>
      <p:ext uri="{BB962C8B-B14F-4D97-AF65-F5344CB8AC3E}">
        <p14:creationId xmlns:p14="http://schemas.microsoft.com/office/powerpoint/2010/main" val="370929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FF6CD-8777-25D3-3A15-6CD1F1A2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EB38-4BC4-765D-19BE-B51707758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F5453-340E-F3A5-0F8B-CC31CB73D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After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query is used to retrieve results from a database, the results don’t all come back at once into your python code</a:t>
            </a:r>
          </a:p>
          <a:p>
            <a:r>
              <a:rPr lang="en-US" dirty="0"/>
              <a:t>Results are held by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cursor</a:t>
            </a:r>
            <a:r>
              <a:rPr lang="en-US" dirty="0"/>
              <a:t> and retrieved on demand.</a:t>
            </a:r>
          </a:p>
          <a:p>
            <a:r>
              <a:rPr lang="en-US" dirty="0"/>
              <a:t>Psycopg3 provides three (3) methods for fetching those results: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returns a single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/>
              <a:t> object,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dirty="0"/>
              <a:t> if no results remain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returns all remaining rows as a list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/>
              <a:t> objects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fetchmany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r>
              <a:rPr lang="en-US" dirty="0"/>
              <a:t>: returns the next n rows as a list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/>
              <a:t> object. If invoked with an argument which is higher than the remaining rows, simply returns the remaining.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FF6173-2CEC-EA9F-2837-2138942C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205786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8FF0-97EF-1F26-5A82-F5A90D31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22A0DB-C141-B2DE-BBD3-5D5A1649C6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9ECBF89-967D-7C58-8313-82B5C67DF3C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Injection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EA8BC-19D2-9C1B-7A58-AD5F0FDAE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42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9B7B-C068-4F2D-F98A-79B8ACA84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CD378-5EF0-AD7A-D6BC-AB0D968D7F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2554F-B290-8761-31E5-BEAE7C1B1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SQL Injection is a security vulnerability wherein malicious SQL statements are inserted into an SQL query, altering it’s intended behavior</a:t>
            </a:r>
          </a:p>
          <a:p>
            <a:r>
              <a:rPr lang="en-US" dirty="0"/>
              <a:t>SQL injection can allow an attacker to bypass authentication, access unauthorized data, modify or delete records, or drop entire tables</a:t>
            </a:r>
          </a:p>
          <a:p>
            <a:r>
              <a:rPr lang="en-US" dirty="0"/>
              <a:t>The root cause of SQL injection is the use of simple string concatenation or otherwise directly inserting user input into a SQL string.</a:t>
            </a:r>
          </a:p>
          <a:p>
            <a:pPr lvl="1"/>
            <a:r>
              <a:rPr lang="en-US" dirty="0"/>
              <a:t>i.e.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“SELECT * FROM employees WHERE id={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}”</a:t>
            </a:r>
          </a:p>
          <a:p>
            <a:pPr lvl="1"/>
            <a:r>
              <a:rPr lang="en-US" dirty="0"/>
              <a:t>Here, a hacker may pass other malicious queries as the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Ex: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user_input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“; DROP TABLE employees;”</a:t>
            </a:r>
          </a:p>
          <a:p>
            <a:r>
              <a:rPr lang="en-US" dirty="0"/>
              <a:t>You should never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f-string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.format()</a:t>
            </a:r>
            <a:r>
              <a:rPr lang="en-US" dirty="0"/>
              <a:t> or string concatenation to build SQL queries with user-supplied values.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1716FD-2128-BB63-53F9-4FEBA515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</a:t>
            </a:r>
          </a:p>
        </p:txBody>
      </p:sp>
    </p:spTree>
    <p:extLst>
      <p:ext uri="{BB962C8B-B14F-4D97-AF65-F5344CB8AC3E}">
        <p14:creationId xmlns:p14="http://schemas.microsoft.com/office/powerpoint/2010/main" val="286043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400F-017B-A3F6-1D5D-A707E929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56622-5F52-27EB-3C57-88E10DACB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44DA7-F064-1085-361B-A95E7A99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Parameterized queries</a:t>
            </a:r>
            <a:r>
              <a:rPr lang="en-US" dirty="0"/>
              <a:t> are the standard prevention method used to prevent SQL injection.</a:t>
            </a:r>
          </a:p>
          <a:p>
            <a:r>
              <a:rPr lang="en-US" dirty="0"/>
              <a:t>User input is passed separately from SQL string, never interpreted as pure SQL.</a:t>
            </a:r>
          </a:p>
          <a:p>
            <a:r>
              <a:rPr lang="en-US" dirty="0"/>
              <a:t>Psycopg3 supports parameterized queries by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</a:t>
            </a:r>
            <a:r>
              <a:rPr lang="en-US" dirty="0"/>
              <a:t> placeholders in the query string and passing values as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dirty="0"/>
              <a:t>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cursor.execute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Pyscopg3 handles the escape characters and other sanitization of parameter values automatically.</a:t>
            </a:r>
          </a:p>
          <a:p>
            <a:r>
              <a:rPr lang="en-US" dirty="0"/>
              <a:t>Parameterized queries are not just a security measure. They also improve readability and query reusability.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E034E9-CB64-E73D-421B-749583A5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SQL Injection</a:t>
            </a:r>
          </a:p>
        </p:txBody>
      </p:sp>
    </p:spTree>
    <p:extLst>
      <p:ext uri="{BB962C8B-B14F-4D97-AF65-F5344CB8AC3E}">
        <p14:creationId xmlns:p14="http://schemas.microsoft.com/office/powerpoint/2010/main" val="207275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45011-4B28-0B97-EAEC-D908D7FB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63D55-0043-382A-A05A-C88DC48F0B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26E24DA-E113-7CA4-D6C9-810235AE383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Design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106DA5-A0B7-4509-B18F-F63B76A2B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46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1DC50-834A-45F2-3ADF-80F8304D1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409F-9233-3F89-4684-46F314D734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AF6BD-CCBC-D82C-54E7-E74511CE4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 Model class is a Python class that represents a single row from a database table, as a Python object</a:t>
            </a:r>
          </a:p>
          <a:p>
            <a:r>
              <a:rPr lang="en-US" dirty="0"/>
              <a:t>Model classes provide a structured, readable way to work with database records, rather than raw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n-US" dirty="0"/>
              <a:t> objects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tuples</a:t>
            </a:r>
            <a:r>
              <a:rPr lang="en-US" dirty="0"/>
              <a:t>.</a:t>
            </a:r>
          </a:p>
          <a:p>
            <a:r>
              <a:rPr lang="en-US" dirty="0"/>
              <a:t>Python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dataclasses</a:t>
            </a:r>
            <a:r>
              <a:rPr lang="en-US" dirty="0"/>
              <a:t> are a clean, concise way to define model classes.</a:t>
            </a:r>
          </a:p>
          <a:p>
            <a:r>
              <a:rPr lang="en-US" dirty="0"/>
              <a:t>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@dataclass</a:t>
            </a:r>
            <a:r>
              <a:rPr lang="en-US" dirty="0"/>
              <a:t> decorator automatically generates a standard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/>
              <a:t> and other boilerplate methods based on convention.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B0CC11-3EED-B91E-451D-0C038AEA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Classes</a:t>
            </a:r>
          </a:p>
        </p:txBody>
      </p:sp>
    </p:spTree>
    <p:extLst>
      <p:ext uri="{BB962C8B-B14F-4D97-AF65-F5344CB8AC3E}">
        <p14:creationId xmlns:p14="http://schemas.microsoft.com/office/powerpoint/2010/main" val="251776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A32C0-6555-DE41-C513-4115F20C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69789-5161-6571-3AAC-29238029C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F367B-3EA5-6A6A-8C59-B426BD38C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 Access Object</a:t>
            </a:r>
            <a:r>
              <a:rPr lang="en-US" dirty="0"/>
              <a:t> (DAO) is a design pattern in which a class is designed to encapsulate all database logic for a specific table or entity</a:t>
            </a:r>
          </a:p>
          <a:p>
            <a:r>
              <a:rPr lang="en-US" dirty="0"/>
              <a:t>The DAO pattern separates database concerns from business logic</a:t>
            </a:r>
          </a:p>
          <a:p>
            <a:pPr lvl="1"/>
            <a:r>
              <a:rPr lang="en-US" dirty="0"/>
              <a:t>The rest of your application works with Python objects, not SQL, so we create the DAO as an intermediary</a:t>
            </a:r>
          </a:p>
          <a:p>
            <a:r>
              <a:rPr lang="en-US" dirty="0"/>
              <a:t>A DAO typically provides methods that map to CRUD operations: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get_by_id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create(), update(), delete()</a:t>
            </a:r>
          </a:p>
          <a:p>
            <a:r>
              <a:rPr lang="en-US" dirty="0"/>
              <a:t>Together, Model classes and DAOs make database code more organized, reusable, and testable.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84C319-50BB-7639-94DB-39D16BF8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Access Object (DAO)</a:t>
            </a:r>
          </a:p>
        </p:txBody>
      </p:sp>
    </p:spTree>
    <p:extLst>
      <p:ext uri="{BB962C8B-B14F-4D97-AF65-F5344CB8AC3E}">
        <p14:creationId xmlns:p14="http://schemas.microsoft.com/office/powerpoint/2010/main" val="401008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5846-87AB-4A36-4AB8-B3A89FE8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53A2-2764-2632-AF86-23465BBD4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ECEB0-2DF9-93E8-9B67-D41C7311A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62975"/>
            <a:ext cx="8383980" cy="53658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Both </a:t>
            </a:r>
            <a:r>
              <a:rPr lang="en-US" b="1" dirty="0" err="1"/>
              <a:t>Pydantic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@dataclass</a:t>
            </a:r>
            <a:r>
              <a:rPr lang="en-US" dirty="0"/>
              <a:t> can represent structured data as Python objects, but they serve different purposes and suit different layers of an application</a:t>
            </a:r>
          </a:p>
          <a:p>
            <a:r>
              <a:rPr lang="en-US" dirty="0" err="1"/>
              <a:t>Pydantic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en-US" dirty="0"/>
              <a:t> is best suited for the API Layer.</a:t>
            </a:r>
          </a:p>
          <a:p>
            <a:pPr lvl="1"/>
            <a:r>
              <a:rPr lang="en-US" dirty="0"/>
              <a:t>Provides runtime type validation, coercion, and serialization which is ideal for handling untrusted external data.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@dataclass</a:t>
            </a:r>
            <a:r>
              <a:rPr lang="en-US" dirty="0"/>
              <a:t> is best suited for the database layer</a:t>
            </a:r>
          </a:p>
          <a:p>
            <a:pPr lvl="1"/>
            <a:r>
              <a:rPr lang="en-US" dirty="0"/>
              <a:t>Lightweight, has no external dependences, and works well when data integrity is already enforced by your database.</a:t>
            </a:r>
          </a:p>
          <a:p>
            <a:r>
              <a:rPr lang="en-US" dirty="0"/>
              <a:t>In a Production application, these two layers may be owned by different teams (API/Web Server Team vs Data Engineering Team)</a:t>
            </a:r>
          </a:p>
          <a:p>
            <a:r>
              <a:rPr lang="en-US" dirty="0"/>
              <a:t>The DAO acts as the boundary between the two layers.</a:t>
            </a:r>
          </a:p>
          <a:p>
            <a:r>
              <a:rPr lang="en-US" dirty="0"/>
              <a:t>The DAO can accept and return database model objects with no specific knowledge of the API layer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model_dump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on </a:t>
            </a:r>
            <a:r>
              <a:rPr lang="en-US" dirty="0" err="1"/>
              <a:t>Pydantic</a:t>
            </a:r>
            <a:r>
              <a:rPr lang="en-US" dirty="0"/>
              <a:t> models can convert the model to a Python dictionary, providing a clean handoff to the database layer.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0BE9E8-292D-09DA-3B13-B8500F43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Pydantic</a:t>
            </a:r>
            <a:r>
              <a:rPr lang="en-US" dirty="0"/>
              <a:t> vs @dataclass</a:t>
            </a:r>
          </a:p>
        </p:txBody>
      </p:sp>
    </p:spTree>
    <p:extLst>
      <p:ext uri="{BB962C8B-B14F-4D97-AF65-F5344CB8AC3E}">
        <p14:creationId xmlns:p14="http://schemas.microsoft.com/office/powerpoint/2010/main" val="185773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AA7B-C117-1993-505B-CDA1CD3C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50A31-3313-4EC4-541A-38F706EFE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71AAD-E9BB-4BEB-A20E-B51ADDEB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AA948C-0A4D-B104-675E-43DFE760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19574</TotalTime>
  <Words>1308</Words>
  <Application>Microsoft Office PowerPoint</Application>
  <PresentationFormat>On-screen Show (4:3)</PresentationFormat>
  <Paragraphs>116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2_Custom Design</vt:lpstr>
      <vt:lpstr>Connecting Python to SQL Databases</vt:lpstr>
      <vt:lpstr>Outline</vt:lpstr>
      <vt:lpstr>PowerPoint Presentation</vt:lpstr>
      <vt:lpstr>Connecting to SQL with Python</vt:lpstr>
      <vt:lpstr>PowerPoint Presentation</vt:lpstr>
      <vt:lpstr>Connecting to SQL with Python</vt:lpstr>
      <vt:lpstr>PowerPoint Presentation</vt:lpstr>
      <vt:lpstr>Connecting to SQL with Python</vt:lpstr>
      <vt:lpstr>Connecting to SQL with Python</vt:lpstr>
      <vt:lpstr>PowerPoint Presentation</vt:lpstr>
      <vt:lpstr>Cursors</vt:lpstr>
      <vt:lpstr>Results</vt:lpstr>
      <vt:lpstr>PowerPoint Presentation</vt:lpstr>
      <vt:lpstr>SQL Injection</vt:lpstr>
      <vt:lpstr>Preventing SQL Injection</vt:lpstr>
      <vt:lpstr>PowerPoint Presentation</vt:lpstr>
      <vt:lpstr>Model Classes</vt:lpstr>
      <vt:lpstr>Data Access Object (DAO)</vt:lpstr>
      <vt:lpstr>Pydantic vs @dataclass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27</cp:revision>
  <cp:lastPrinted>2016-06-20T20:58:50Z</cp:lastPrinted>
  <dcterms:created xsi:type="dcterms:W3CDTF">2016-11-09T18:19:08Z</dcterms:created>
  <dcterms:modified xsi:type="dcterms:W3CDTF">2026-06-24T01:22:33Z</dcterms:modified>
</cp:coreProperties>
</file>